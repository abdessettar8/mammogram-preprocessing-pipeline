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Glacial Indifference Bold" charset="1" panose="00000800000000000000"/>
      <p:regular r:id="rId27"/>
    </p:embeddedFont>
    <p:embeddedFont>
      <p:font typeface="Glacial Indifference" charset="1" panose="000000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20.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32285" y="-369196"/>
            <a:ext cx="19181330" cy="1397896"/>
            <a:chOff x="0" y="0"/>
            <a:chExt cx="5051873" cy="368170"/>
          </a:xfrm>
        </p:grpSpPr>
        <p:sp>
          <p:nvSpPr>
            <p:cNvPr name="Freeform 4" id="4"/>
            <p:cNvSpPr/>
            <p:nvPr/>
          </p:nvSpPr>
          <p:spPr>
            <a:xfrm flipH="false" flipV="false" rot="0">
              <a:off x="0" y="0"/>
              <a:ext cx="5051873" cy="368170"/>
            </a:xfrm>
            <a:custGeom>
              <a:avLst/>
              <a:gdLst/>
              <a:ahLst/>
              <a:cxnLst/>
              <a:rect r="r" b="b" t="t" l="l"/>
              <a:pathLst>
                <a:path h="368170" w="5051873">
                  <a:moveTo>
                    <a:pt x="0" y="0"/>
                  </a:moveTo>
                  <a:lnTo>
                    <a:pt x="5051873" y="0"/>
                  </a:lnTo>
                  <a:lnTo>
                    <a:pt x="5051873" y="368170"/>
                  </a:lnTo>
                  <a:lnTo>
                    <a:pt x="0" y="368170"/>
                  </a:lnTo>
                  <a:close/>
                </a:path>
              </a:pathLst>
            </a:custGeom>
            <a:solidFill>
              <a:srgbClr val="FFFFFF"/>
            </a:solidFill>
          </p:spPr>
        </p:sp>
        <p:sp>
          <p:nvSpPr>
            <p:cNvPr name="TextBox 5" id="5"/>
            <p:cNvSpPr txBox="true"/>
            <p:nvPr/>
          </p:nvSpPr>
          <p:spPr>
            <a:xfrm>
              <a:off x="0" y="-47625"/>
              <a:ext cx="5051873" cy="415795"/>
            </a:xfrm>
            <a:prstGeom prst="rect">
              <a:avLst/>
            </a:prstGeom>
          </p:spPr>
          <p:txBody>
            <a:bodyPr anchor="ctr" rtlCol="false" tIns="50800" lIns="50800" bIns="50800" rIns="50800"/>
            <a:lstStyle/>
            <a:p>
              <a:pPr algn="ctr">
                <a:lnSpc>
                  <a:spcPts val="3255"/>
                </a:lnSpc>
              </a:pPr>
            </a:p>
          </p:txBody>
        </p:sp>
      </p:grpSp>
      <p:sp>
        <p:nvSpPr>
          <p:cNvPr name="AutoShape 6" id="6"/>
          <p:cNvSpPr/>
          <p:nvPr/>
        </p:nvSpPr>
        <p:spPr>
          <a:xfrm flipV="true">
            <a:off x="2919630" y="743262"/>
            <a:ext cx="12008426" cy="0"/>
          </a:xfrm>
          <a:prstGeom prst="line">
            <a:avLst/>
          </a:prstGeom>
          <a:ln cap="flat" w="9525">
            <a:solidFill>
              <a:srgbClr val="12354D"/>
            </a:solidFill>
            <a:prstDash val="solid"/>
            <a:headEnd type="none" len="sm" w="sm"/>
            <a:tailEnd type="none" len="sm" w="sm"/>
          </a:ln>
        </p:spPr>
      </p:sp>
      <p:sp>
        <p:nvSpPr>
          <p:cNvPr name="AutoShape 7" id="7"/>
          <p:cNvSpPr/>
          <p:nvPr/>
        </p:nvSpPr>
        <p:spPr>
          <a:xfrm>
            <a:off x="1628015" y="6244588"/>
            <a:ext cx="7745806" cy="0"/>
          </a:xfrm>
          <a:prstGeom prst="line">
            <a:avLst/>
          </a:prstGeom>
          <a:ln cap="flat" w="9525">
            <a:solidFill>
              <a:srgbClr val="FFFFFF"/>
            </a:solidFill>
            <a:prstDash val="solid"/>
            <a:headEnd type="none" len="sm" w="sm"/>
            <a:tailEnd type="none" len="sm" w="sm"/>
          </a:ln>
        </p:spPr>
      </p:sp>
      <p:sp>
        <p:nvSpPr>
          <p:cNvPr name="Freeform 8" id="8"/>
          <p:cNvSpPr/>
          <p:nvPr/>
        </p:nvSpPr>
        <p:spPr>
          <a:xfrm flipH="false" flipV="false" rot="0">
            <a:off x="10537906" y="2714666"/>
            <a:ext cx="6466371" cy="5965227"/>
          </a:xfrm>
          <a:custGeom>
            <a:avLst/>
            <a:gdLst/>
            <a:ahLst/>
            <a:cxnLst/>
            <a:rect r="r" b="b" t="t" l="l"/>
            <a:pathLst>
              <a:path h="5965227" w="6466371">
                <a:moveTo>
                  <a:pt x="0" y="0"/>
                </a:moveTo>
                <a:lnTo>
                  <a:pt x="6466371" y="0"/>
                </a:lnTo>
                <a:lnTo>
                  <a:pt x="6466371" y="5965228"/>
                </a:lnTo>
                <a:lnTo>
                  <a:pt x="0" y="59652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846358" y="326041"/>
            <a:ext cx="2073272" cy="398171"/>
          </a:xfrm>
          <a:prstGeom prst="rect">
            <a:avLst/>
          </a:prstGeom>
        </p:spPr>
        <p:txBody>
          <a:bodyPr anchor="t" rtlCol="false" tIns="0" lIns="0" bIns="0" rIns="0">
            <a:spAutoFit/>
          </a:bodyPr>
          <a:lstStyle/>
          <a:p>
            <a:pPr algn="l">
              <a:lnSpc>
                <a:spcPts val="3255"/>
              </a:lnSpc>
              <a:spcBef>
                <a:spcPct val="0"/>
              </a:spcBef>
            </a:pPr>
            <a:r>
              <a:rPr lang="en-US" sz="2325" b="true">
                <a:solidFill>
                  <a:srgbClr val="12354D"/>
                </a:solidFill>
                <a:latin typeface="Glacial Indifference Bold"/>
                <a:ea typeface="Glacial Indifference Bold"/>
                <a:cs typeface="Glacial Indifference Bold"/>
                <a:sym typeface="Glacial Indifference Bold"/>
              </a:rPr>
              <a:t>Presented by:</a:t>
            </a:r>
          </a:p>
        </p:txBody>
      </p:sp>
      <p:sp>
        <p:nvSpPr>
          <p:cNvPr name="TextBox 10" id="10"/>
          <p:cNvSpPr txBox="true"/>
          <p:nvPr/>
        </p:nvSpPr>
        <p:spPr>
          <a:xfrm rot="0">
            <a:off x="1531538" y="2236371"/>
            <a:ext cx="9006368" cy="3244169"/>
          </a:xfrm>
          <a:prstGeom prst="rect">
            <a:avLst/>
          </a:prstGeom>
        </p:spPr>
        <p:txBody>
          <a:bodyPr anchor="t" rtlCol="false" tIns="0" lIns="0" bIns="0" rIns="0">
            <a:spAutoFit/>
          </a:bodyPr>
          <a:lstStyle/>
          <a:p>
            <a:pPr algn="l">
              <a:lnSpc>
                <a:spcPts val="8684"/>
              </a:lnSpc>
              <a:spcBef>
                <a:spcPct val="0"/>
              </a:spcBef>
            </a:pPr>
            <a:r>
              <a:rPr lang="en-US" sz="6203" b="true">
                <a:solidFill>
                  <a:srgbClr val="FFFFFF"/>
                </a:solidFill>
                <a:latin typeface="Glacial Indifference Bold"/>
                <a:ea typeface="Glacial Indifference Bold"/>
                <a:cs typeface="Glacial Indifference Bold"/>
                <a:sym typeface="Glacial Indifference Bold"/>
              </a:rPr>
              <a:t>Mammogram Image Preprocessing for CAD Systems</a:t>
            </a:r>
          </a:p>
        </p:txBody>
      </p:sp>
      <p:sp>
        <p:nvSpPr>
          <p:cNvPr name="TextBox 11" id="11"/>
          <p:cNvSpPr txBox="true"/>
          <p:nvPr/>
        </p:nvSpPr>
        <p:spPr>
          <a:xfrm rot="0">
            <a:off x="1628015" y="6407768"/>
            <a:ext cx="7156185" cy="1188846"/>
          </a:xfrm>
          <a:prstGeom prst="rect">
            <a:avLst/>
          </a:prstGeom>
        </p:spPr>
        <p:txBody>
          <a:bodyPr anchor="t" rtlCol="false" tIns="0" lIns="0" bIns="0" rIns="0">
            <a:spAutoFit/>
          </a:bodyPr>
          <a:lstStyle/>
          <a:p>
            <a:pPr algn="l">
              <a:lnSpc>
                <a:spcPts val="4784"/>
              </a:lnSpc>
            </a:pPr>
            <a:r>
              <a:rPr lang="en-US" sz="3417">
                <a:solidFill>
                  <a:srgbClr val="FFFFFF"/>
                </a:solidFill>
                <a:latin typeface="Glacial Indifference"/>
                <a:ea typeface="Glacial Indifference"/>
                <a:cs typeface="Glacial Indifference"/>
                <a:sym typeface="Glacial Indifference"/>
              </a:rPr>
              <a:t>The Role of Artificial Intelligence in</a:t>
            </a:r>
          </a:p>
          <a:p>
            <a:pPr algn="l">
              <a:lnSpc>
                <a:spcPts val="4784"/>
              </a:lnSpc>
            </a:pPr>
            <a:r>
              <a:rPr lang="en-US" sz="3417">
                <a:solidFill>
                  <a:srgbClr val="FFFFFF"/>
                </a:solidFill>
                <a:latin typeface="Glacial Indifference"/>
                <a:ea typeface="Glacial Indifference"/>
                <a:cs typeface="Glacial Indifference"/>
                <a:sym typeface="Glacial Indifference"/>
              </a:rPr>
              <a:t>Modern Medicine Image Suggestion</a:t>
            </a:r>
          </a:p>
        </p:txBody>
      </p:sp>
      <p:sp>
        <p:nvSpPr>
          <p:cNvPr name="Freeform 12" id="12"/>
          <p:cNvSpPr/>
          <p:nvPr/>
        </p:nvSpPr>
        <p:spPr>
          <a:xfrm flipH="false" flipV="false" rot="0">
            <a:off x="16009217" y="8745228"/>
            <a:ext cx="1990120" cy="1204264"/>
          </a:xfrm>
          <a:custGeom>
            <a:avLst/>
            <a:gdLst/>
            <a:ahLst/>
            <a:cxnLst/>
            <a:rect r="r" b="b" t="t" l="l"/>
            <a:pathLst>
              <a:path h="1204264" w="1990120">
                <a:moveTo>
                  <a:pt x="0" y="0"/>
                </a:moveTo>
                <a:lnTo>
                  <a:pt x="1990120" y="0"/>
                </a:lnTo>
                <a:lnTo>
                  <a:pt x="1990120" y="1204264"/>
                </a:lnTo>
                <a:lnTo>
                  <a:pt x="0" y="1204264"/>
                </a:lnTo>
                <a:lnTo>
                  <a:pt x="0" y="0"/>
                </a:lnTo>
                <a:close/>
              </a:path>
            </a:pathLst>
          </a:custGeom>
          <a:blipFill>
            <a:blip r:embed="rId5">
              <a:extLst>
                <a:ext uri="{96DAC541-7B7A-43D3-8B79-37D633B846F1}">
                  <asvg:svgBlip xmlns:asvg="http://schemas.microsoft.com/office/drawing/2016/SVG/main" r:embed="rId6"/>
                </a:ext>
              </a:extLst>
            </a:blip>
            <a:stretch>
              <a:fillRect l="0" t="-97320" r="0" b="0"/>
            </a:stretch>
          </a:blipFill>
        </p:spPr>
      </p:sp>
      <p:sp>
        <p:nvSpPr>
          <p:cNvPr name="TextBox 13" id="13"/>
          <p:cNvSpPr txBox="true"/>
          <p:nvPr/>
        </p:nvSpPr>
        <p:spPr>
          <a:xfrm rot="0">
            <a:off x="2919630" y="-114300"/>
            <a:ext cx="11712092" cy="991737"/>
          </a:xfrm>
          <a:prstGeom prst="rect">
            <a:avLst/>
          </a:prstGeom>
        </p:spPr>
        <p:txBody>
          <a:bodyPr anchor="t" rtlCol="false" tIns="0" lIns="0" bIns="0" rIns="0">
            <a:spAutoFit/>
          </a:bodyPr>
          <a:lstStyle/>
          <a:p>
            <a:pPr algn="l">
              <a:lnSpc>
                <a:spcPts val="8149"/>
              </a:lnSpc>
              <a:spcBef>
                <a:spcPct val="0"/>
              </a:spcBef>
            </a:pPr>
            <a:r>
              <a:rPr lang="en-US" sz="5820" b="true">
                <a:solidFill>
                  <a:srgbClr val="003586"/>
                </a:solidFill>
                <a:latin typeface="Glacial Indifference Bold"/>
                <a:ea typeface="Glacial Indifference Bold"/>
                <a:cs typeface="Glacial Indifference Bold"/>
                <a:sym typeface="Glacial Indifference Bold"/>
              </a:rPr>
              <a:t>Allali Mohammed Abdessettar</a:t>
            </a:r>
          </a:p>
        </p:txBody>
      </p:sp>
      <p:sp>
        <p:nvSpPr>
          <p:cNvPr name="TextBox 14" id="14"/>
          <p:cNvSpPr txBox="true"/>
          <p:nvPr/>
        </p:nvSpPr>
        <p:spPr>
          <a:xfrm rot="0">
            <a:off x="1628015" y="7894563"/>
            <a:ext cx="10487671" cy="523875"/>
          </a:xfrm>
          <a:prstGeom prst="rect">
            <a:avLst/>
          </a:prstGeom>
        </p:spPr>
        <p:txBody>
          <a:bodyPr anchor="t" rtlCol="false" tIns="0" lIns="0" bIns="0" rIns="0">
            <a:spAutoFit/>
          </a:bodyPr>
          <a:lstStyle/>
          <a:p>
            <a:pPr algn="l">
              <a:lnSpc>
                <a:spcPts val="4200"/>
              </a:lnSpc>
            </a:pPr>
            <a:r>
              <a:rPr lang="en-US" sz="3000">
                <a:solidFill>
                  <a:srgbClr val="FFFFFF"/>
                </a:solidFill>
                <a:latin typeface="Glacial Indifference"/>
                <a:ea typeface="Glacial Indifference"/>
                <a:cs typeface="Glacial Indifference"/>
                <a:sym typeface="Glacial Indifference"/>
              </a:rPr>
              <a:t>Inspired by the methodology of Dr. Benshessin Nacer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32285" y="-369196"/>
            <a:ext cx="19181330" cy="1397896"/>
            <a:chOff x="0" y="0"/>
            <a:chExt cx="5051873" cy="368170"/>
          </a:xfrm>
        </p:grpSpPr>
        <p:sp>
          <p:nvSpPr>
            <p:cNvPr name="Freeform 4" id="4"/>
            <p:cNvSpPr/>
            <p:nvPr/>
          </p:nvSpPr>
          <p:spPr>
            <a:xfrm flipH="false" flipV="false" rot="0">
              <a:off x="0" y="0"/>
              <a:ext cx="5051873" cy="368170"/>
            </a:xfrm>
            <a:custGeom>
              <a:avLst/>
              <a:gdLst/>
              <a:ahLst/>
              <a:cxnLst/>
              <a:rect r="r" b="b" t="t" l="l"/>
              <a:pathLst>
                <a:path h="368170" w="5051873">
                  <a:moveTo>
                    <a:pt x="0" y="0"/>
                  </a:moveTo>
                  <a:lnTo>
                    <a:pt x="5051873" y="0"/>
                  </a:lnTo>
                  <a:lnTo>
                    <a:pt x="5051873" y="368170"/>
                  </a:lnTo>
                  <a:lnTo>
                    <a:pt x="0" y="368170"/>
                  </a:lnTo>
                  <a:close/>
                </a:path>
              </a:pathLst>
            </a:custGeom>
            <a:solidFill>
              <a:srgbClr val="FFFFFF"/>
            </a:solidFill>
          </p:spPr>
        </p:sp>
        <p:sp>
          <p:nvSpPr>
            <p:cNvPr name="TextBox 5" id="5"/>
            <p:cNvSpPr txBox="true"/>
            <p:nvPr/>
          </p:nvSpPr>
          <p:spPr>
            <a:xfrm>
              <a:off x="0" y="-47625"/>
              <a:ext cx="5051873" cy="415795"/>
            </a:xfrm>
            <a:prstGeom prst="rect">
              <a:avLst/>
            </a:prstGeom>
          </p:spPr>
          <p:txBody>
            <a:bodyPr anchor="ctr" rtlCol="false" tIns="50800" lIns="50800" bIns="50800" rIns="50800"/>
            <a:lstStyle/>
            <a:p>
              <a:pPr algn="ctr">
                <a:lnSpc>
                  <a:spcPts val="3255"/>
                </a:lnSpc>
              </a:pPr>
            </a:p>
          </p:txBody>
        </p:sp>
      </p:grpSp>
      <p:sp>
        <p:nvSpPr>
          <p:cNvPr name="AutoShape 6" id="6"/>
          <p:cNvSpPr/>
          <p:nvPr/>
        </p:nvSpPr>
        <p:spPr>
          <a:xfrm flipV="true">
            <a:off x="2919630" y="743262"/>
            <a:ext cx="12008426" cy="0"/>
          </a:xfrm>
          <a:prstGeom prst="line">
            <a:avLst/>
          </a:prstGeom>
          <a:ln cap="flat" w="9525">
            <a:solidFill>
              <a:srgbClr val="12354D"/>
            </a:solidFill>
            <a:prstDash val="solid"/>
            <a:headEnd type="none" len="sm" w="sm"/>
            <a:tailEnd type="none" len="sm" w="sm"/>
          </a:ln>
        </p:spPr>
      </p:sp>
      <p:sp>
        <p:nvSpPr>
          <p:cNvPr name="AutoShape 7" id="7"/>
          <p:cNvSpPr/>
          <p:nvPr/>
        </p:nvSpPr>
        <p:spPr>
          <a:xfrm>
            <a:off x="277642" y="5692518"/>
            <a:ext cx="9929509" cy="0"/>
          </a:xfrm>
          <a:prstGeom prst="line">
            <a:avLst/>
          </a:prstGeom>
          <a:ln cap="flat" w="9525">
            <a:solidFill>
              <a:srgbClr val="FFFFFF"/>
            </a:solidFill>
            <a:prstDash val="solid"/>
            <a:headEnd type="none" len="sm" w="sm"/>
            <a:tailEnd type="none" len="sm" w="sm"/>
          </a:ln>
        </p:spPr>
      </p:sp>
      <p:sp>
        <p:nvSpPr>
          <p:cNvPr name="Freeform 8" id="8"/>
          <p:cNvSpPr/>
          <p:nvPr/>
        </p:nvSpPr>
        <p:spPr>
          <a:xfrm flipH="false" flipV="false" rot="0">
            <a:off x="10537906" y="2714666"/>
            <a:ext cx="6466371" cy="5965227"/>
          </a:xfrm>
          <a:custGeom>
            <a:avLst/>
            <a:gdLst/>
            <a:ahLst/>
            <a:cxnLst/>
            <a:rect r="r" b="b" t="t" l="l"/>
            <a:pathLst>
              <a:path h="5965227" w="6466371">
                <a:moveTo>
                  <a:pt x="0" y="0"/>
                </a:moveTo>
                <a:lnTo>
                  <a:pt x="6466371" y="0"/>
                </a:lnTo>
                <a:lnTo>
                  <a:pt x="6466371" y="5965228"/>
                </a:lnTo>
                <a:lnTo>
                  <a:pt x="0" y="59652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846358" y="326041"/>
            <a:ext cx="2073272" cy="398171"/>
          </a:xfrm>
          <a:prstGeom prst="rect">
            <a:avLst/>
          </a:prstGeom>
        </p:spPr>
        <p:txBody>
          <a:bodyPr anchor="t" rtlCol="false" tIns="0" lIns="0" bIns="0" rIns="0">
            <a:spAutoFit/>
          </a:bodyPr>
          <a:lstStyle/>
          <a:p>
            <a:pPr algn="l">
              <a:lnSpc>
                <a:spcPts val="3255"/>
              </a:lnSpc>
              <a:spcBef>
                <a:spcPct val="0"/>
              </a:spcBef>
            </a:pPr>
            <a:r>
              <a:rPr lang="en-US" sz="2325" b="true">
                <a:solidFill>
                  <a:srgbClr val="12354D"/>
                </a:solidFill>
                <a:latin typeface="Glacial Indifference Bold"/>
                <a:ea typeface="Glacial Indifference Bold"/>
                <a:cs typeface="Glacial Indifference Bold"/>
                <a:sym typeface="Glacial Indifference Bold"/>
              </a:rPr>
              <a:t>Presented by:</a:t>
            </a:r>
          </a:p>
        </p:txBody>
      </p:sp>
      <p:sp>
        <p:nvSpPr>
          <p:cNvPr name="TextBox 10" id="10"/>
          <p:cNvSpPr txBox="true"/>
          <p:nvPr/>
        </p:nvSpPr>
        <p:spPr>
          <a:xfrm rot="0">
            <a:off x="428546" y="1899331"/>
            <a:ext cx="8916328" cy="3244169"/>
          </a:xfrm>
          <a:prstGeom prst="rect">
            <a:avLst/>
          </a:prstGeom>
        </p:spPr>
        <p:txBody>
          <a:bodyPr anchor="t" rtlCol="false" tIns="0" lIns="0" bIns="0" rIns="0">
            <a:spAutoFit/>
          </a:bodyPr>
          <a:lstStyle/>
          <a:p>
            <a:pPr algn="l">
              <a:lnSpc>
                <a:spcPts val="8684"/>
              </a:lnSpc>
              <a:spcBef>
                <a:spcPct val="0"/>
              </a:spcBef>
            </a:pPr>
            <a:r>
              <a:rPr lang="en-US" sz="6203" b="true">
                <a:solidFill>
                  <a:srgbClr val="FFFFFF"/>
                </a:solidFill>
                <a:latin typeface="Glacial Indifference Bold"/>
                <a:ea typeface="Glacial Indifference Bold"/>
                <a:cs typeface="Glacial Indifference Bold"/>
                <a:sym typeface="Glacial Indifference Bold"/>
              </a:rPr>
              <a:t>Mammogram Image Preprocessing for CAD Systems</a:t>
            </a:r>
          </a:p>
        </p:txBody>
      </p:sp>
      <p:sp>
        <p:nvSpPr>
          <p:cNvPr name="TextBox 11" id="11"/>
          <p:cNvSpPr txBox="true"/>
          <p:nvPr/>
        </p:nvSpPr>
        <p:spPr>
          <a:xfrm rot="0">
            <a:off x="277642" y="6154480"/>
            <a:ext cx="9967863" cy="1553826"/>
          </a:xfrm>
          <a:prstGeom prst="rect">
            <a:avLst/>
          </a:prstGeom>
        </p:spPr>
        <p:txBody>
          <a:bodyPr anchor="t" rtlCol="false" tIns="0" lIns="0" bIns="0" rIns="0">
            <a:spAutoFit/>
          </a:bodyPr>
          <a:lstStyle/>
          <a:p>
            <a:pPr algn="l">
              <a:lnSpc>
                <a:spcPts val="6231"/>
              </a:lnSpc>
            </a:pPr>
            <a:r>
              <a:rPr lang="en-US" sz="4450" b="true">
                <a:solidFill>
                  <a:srgbClr val="FFFFFF"/>
                </a:solidFill>
                <a:latin typeface="Glacial Indifference Bold"/>
                <a:ea typeface="Glacial Indifference Bold"/>
                <a:cs typeface="Glacial Indifference Bold"/>
                <a:sym typeface="Glacial Indifference Bold"/>
              </a:rPr>
              <a:t>Topic</a:t>
            </a:r>
            <a:r>
              <a:rPr lang="en-US" sz="4450">
                <a:solidFill>
                  <a:srgbClr val="FFFFFF"/>
                </a:solidFill>
                <a:latin typeface="Glacial Indifference"/>
                <a:ea typeface="Glacial Indifference"/>
                <a:cs typeface="Glacial Indifference"/>
                <a:sym typeface="Glacial Indifference"/>
              </a:rPr>
              <a:t>: Medical Image Preprocessing</a:t>
            </a:r>
          </a:p>
          <a:p>
            <a:pPr algn="l">
              <a:lnSpc>
                <a:spcPts val="6231"/>
              </a:lnSpc>
            </a:pPr>
            <a:r>
              <a:rPr lang="en-US" sz="4450" b="true">
                <a:solidFill>
                  <a:srgbClr val="FFFFFF"/>
                </a:solidFill>
                <a:latin typeface="Glacial Indifference Bold"/>
                <a:ea typeface="Glacial Indifference Bold"/>
                <a:cs typeface="Glacial Indifference Bold"/>
                <a:sym typeface="Glacial Indifference Bold"/>
              </a:rPr>
              <a:t>Application</a:t>
            </a:r>
            <a:r>
              <a:rPr lang="en-US" sz="4450">
                <a:solidFill>
                  <a:srgbClr val="FFFFFF"/>
                </a:solidFill>
                <a:latin typeface="Glacial Indifference"/>
                <a:ea typeface="Glacial Indifference"/>
                <a:cs typeface="Glacial Indifference"/>
                <a:sym typeface="Glacial Indifference"/>
              </a:rPr>
              <a:t>: Breast Cancer Detection</a:t>
            </a:r>
          </a:p>
        </p:txBody>
      </p:sp>
      <p:sp>
        <p:nvSpPr>
          <p:cNvPr name="Freeform 12" id="12"/>
          <p:cNvSpPr/>
          <p:nvPr/>
        </p:nvSpPr>
        <p:spPr>
          <a:xfrm flipH="false" flipV="false" rot="0">
            <a:off x="16009217" y="8745228"/>
            <a:ext cx="1990120" cy="1204264"/>
          </a:xfrm>
          <a:custGeom>
            <a:avLst/>
            <a:gdLst/>
            <a:ahLst/>
            <a:cxnLst/>
            <a:rect r="r" b="b" t="t" l="l"/>
            <a:pathLst>
              <a:path h="1204264" w="1990120">
                <a:moveTo>
                  <a:pt x="0" y="0"/>
                </a:moveTo>
                <a:lnTo>
                  <a:pt x="1990120" y="0"/>
                </a:lnTo>
                <a:lnTo>
                  <a:pt x="1990120" y="1204264"/>
                </a:lnTo>
                <a:lnTo>
                  <a:pt x="0" y="1204264"/>
                </a:lnTo>
                <a:lnTo>
                  <a:pt x="0" y="0"/>
                </a:lnTo>
                <a:close/>
              </a:path>
            </a:pathLst>
          </a:custGeom>
          <a:blipFill>
            <a:blip r:embed="rId5">
              <a:extLst>
                <a:ext uri="{96DAC541-7B7A-43D3-8B79-37D633B846F1}">
                  <asvg:svgBlip xmlns:asvg="http://schemas.microsoft.com/office/drawing/2016/SVG/main" r:embed="rId6"/>
                </a:ext>
              </a:extLst>
            </a:blip>
            <a:stretch>
              <a:fillRect l="0" t="-97320" r="0" b="0"/>
            </a:stretch>
          </a:blipFill>
        </p:spPr>
      </p:sp>
      <p:sp>
        <p:nvSpPr>
          <p:cNvPr name="TextBox 13" id="13"/>
          <p:cNvSpPr txBox="true"/>
          <p:nvPr/>
        </p:nvSpPr>
        <p:spPr>
          <a:xfrm rot="0">
            <a:off x="2919630" y="-114300"/>
            <a:ext cx="11712092" cy="991737"/>
          </a:xfrm>
          <a:prstGeom prst="rect">
            <a:avLst/>
          </a:prstGeom>
        </p:spPr>
        <p:txBody>
          <a:bodyPr anchor="t" rtlCol="false" tIns="0" lIns="0" bIns="0" rIns="0">
            <a:spAutoFit/>
          </a:bodyPr>
          <a:lstStyle/>
          <a:p>
            <a:pPr algn="l">
              <a:lnSpc>
                <a:spcPts val="8149"/>
              </a:lnSpc>
              <a:spcBef>
                <a:spcPct val="0"/>
              </a:spcBef>
            </a:pPr>
            <a:r>
              <a:rPr lang="en-US" sz="5820" b="true">
                <a:solidFill>
                  <a:srgbClr val="003586"/>
                </a:solidFill>
                <a:latin typeface="Glacial Indifference Bold"/>
                <a:ea typeface="Glacial Indifference Bold"/>
                <a:cs typeface="Glacial Indifference Bold"/>
                <a:sym typeface="Glacial Indifference Bold"/>
              </a:rPr>
              <a:t>Allali Mohammed Abdessettar</a:t>
            </a:r>
          </a:p>
        </p:txBody>
      </p:sp>
    </p:spTree>
  </p:cSld>
  <p:clrMapOvr>
    <a:masterClrMapping/>
  </p:clrMapOvr>
  <p:transition spd="slow">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grpSp>
        <p:nvGrpSpPr>
          <p:cNvPr name="Group 3" id="3"/>
          <p:cNvGrpSpPr/>
          <p:nvPr/>
        </p:nvGrpSpPr>
        <p:grpSpPr>
          <a:xfrm rot="0">
            <a:off x="7848409" y="-514350"/>
            <a:ext cx="10757658" cy="11316371"/>
            <a:chOff x="0" y="0"/>
            <a:chExt cx="2833293" cy="2980443"/>
          </a:xfrm>
        </p:grpSpPr>
        <p:sp>
          <p:nvSpPr>
            <p:cNvPr name="Freeform 4" id="4"/>
            <p:cNvSpPr/>
            <p:nvPr/>
          </p:nvSpPr>
          <p:spPr>
            <a:xfrm flipH="false" flipV="false" rot="0">
              <a:off x="0" y="0"/>
              <a:ext cx="2833293" cy="2980443"/>
            </a:xfrm>
            <a:custGeom>
              <a:avLst/>
              <a:gdLst/>
              <a:ahLst/>
              <a:cxnLst/>
              <a:rect r="r" b="b" t="t" l="l"/>
              <a:pathLst>
                <a:path h="2980443" w="2833293">
                  <a:moveTo>
                    <a:pt x="0" y="0"/>
                  </a:moveTo>
                  <a:lnTo>
                    <a:pt x="2833293" y="0"/>
                  </a:lnTo>
                  <a:lnTo>
                    <a:pt x="2833293" y="2980443"/>
                  </a:lnTo>
                  <a:lnTo>
                    <a:pt x="0" y="2980443"/>
                  </a:lnTo>
                  <a:close/>
                </a:path>
              </a:pathLst>
            </a:custGeom>
            <a:solidFill>
              <a:srgbClr val="FFFFFF"/>
            </a:solidFill>
          </p:spPr>
        </p:sp>
        <p:sp>
          <p:nvSpPr>
            <p:cNvPr name="TextBox 5" id="5"/>
            <p:cNvSpPr txBox="true"/>
            <p:nvPr/>
          </p:nvSpPr>
          <p:spPr>
            <a:xfrm>
              <a:off x="0" y="-47625"/>
              <a:ext cx="2833293" cy="3028068"/>
            </a:xfrm>
            <a:prstGeom prst="rect">
              <a:avLst/>
            </a:prstGeom>
          </p:spPr>
          <p:txBody>
            <a:bodyPr anchor="ctr" rtlCol="false" tIns="50800" lIns="50800" bIns="50800" rIns="50800"/>
            <a:lstStyle/>
            <a:p>
              <a:pPr algn="ctr">
                <a:lnSpc>
                  <a:spcPts val="3255"/>
                </a:lnSpc>
              </a:pPr>
            </a:p>
          </p:txBody>
        </p:sp>
      </p:grpSp>
      <p:sp>
        <p:nvSpPr>
          <p:cNvPr name="AutoShape 6" id="6"/>
          <p:cNvSpPr/>
          <p:nvPr/>
        </p:nvSpPr>
        <p:spPr>
          <a:xfrm>
            <a:off x="9144000" y="2625707"/>
            <a:ext cx="7745806" cy="0"/>
          </a:xfrm>
          <a:prstGeom prst="line">
            <a:avLst/>
          </a:prstGeom>
          <a:ln cap="flat" w="9525">
            <a:solidFill>
              <a:srgbClr val="12354D"/>
            </a:solidFill>
            <a:prstDash val="solid"/>
            <a:headEnd type="none" len="sm" w="sm"/>
            <a:tailEnd type="none" len="sm" w="sm"/>
          </a:ln>
        </p:spPr>
      </p:sp>
      <p:sp>
        <p:nvSpPr>
          <p:cNvPr name="Freeform 7" id="7"/>
          <p:cNvSpPr/>
          <p:nvPr/>
        </p:nvSpPr>
        <p:spPr>
          <a:xfrm flipH="false" flipV="false" rot="0">
            <a:off x="8124659" y="3836373"/>
            <a:ext cx="311254" cy="311254"/>
          </a:xfrm>
          <a:custGeom>
            <a:avLst/>
            <a:gdLst/>
            <a:ahLst/>
            <a:cxnLst/>
            <a:rect r="r" b="b" t="t" l="l"/>
            <a:pathLst>
              <a:path h="311254" w="311254">
                <a:moveTo>
                  <a:pt x="0" y="0"/>
                </a:moveTo>
                <a:lnTo>
                  <a:pt x="311255" y="0"/>
                </a:lnTo>
                <a:lnTo>
                  <a:pt x="311255" y="311255"/>
                </a:lnTo>
                <a:lnTo>
                  <a:pt x="0" y="3112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5462293" y="164104"/>
            <a:ext cx="3086100" cy="958693"/>
            <a:chOff x="0" y="0"/>
            <a:chExt cx="812800" cy="252495"/>
          </a:xfrm>
        </p:grpSpPr>
        <p:sp>
          <p:nvSpPr>
            <p:cNvPr name="Freeform 9" id="9"/>
            <p:cNvSpPr/>
            <p:nvPr/>
          </p:nvSpPr>
          <p:spPr>
            <a:xfrm flipH="false" flipV="false" rot="0">
              <a:off x="0" y="0"/>
              <a:ext cx="812800" cy="252495"/>
            </a:xfrm>
            <a:custGeom>
              <a:avLst/>
              <a:gdLst/>
              <a:ahLst/>
              <a:cxnLst/>
              <a:rect r="r" b="b" t="t" l="l"/>
              <a:pathLst>
                <a:path h="252495" w="812800">
                  <a:moveTo>
                    <a:pt x="126248" y="0"/>
                  </a:moveTo>
                  <a:lnTo>
                    <a:pt x="686552" y="0"/>
                  </a:lnTo>
                  <a:cubicBezTo>
                    <a:pt x="756277" y="0"/>
                    <a:pt x="812800" y="56523"/>
                    <a:pt x="812800" y="126248"/>
                  </a:cubicBezTo>
                  <a:lnTo>
                    <a:pt x="812800" y="126248"/>
                  </a:lnTo>
                  <a:cubicBezTo>
                    <a:pt x="812800" y="159731"/>
                    <a:pt x="799499" y="191842"/>
                    <a:pt x="775823" y="215518"/>
                  </a:cubicBezTo>
                  <a:cubicBezTo>
                    <a:pt x="752147" y="239194"/>
                    <a:pt x="720035" y="252495"/>
                    <a:pt x="686552" y="252495"/>
                  </a:cubicBezTo>
                  <a:lnTo>
                    <a:pt x="126248" y="252495"/>
                  </a:lnTo>
                  <a:cubicBezTo>
                    <a:pt x="56523" y="252495"/>
                    <a:pt x="0" y="195972"/>
                    <a:pt x="0" y="126248"/>
                  </a:cubicBezTo>
                  <a:lnTo>
                    <a:pt x="0" y="126248"/>
                  </a:lnTo>
                  <a:cubicBezTo>
                    <a:pt x="0" y="56523"/>
                    <a:pt x="56523" y="0"/>
                    <a:pt x="126248" y="0"/>
                  </a:cubicBezTo>
                  <a:close/>
                </a:path>
              </a:pathLst>
            </a:custGeom>
            <a:solidFill>
              <a:srgbClr val="00CCFF"/>
            </a:solidFill>
          </p:spPr>
        </p:sp>
        <p:sp>
          <p:nvSpPr>
            <p:cNvPr name="TextBox 10" id="10"/>
            <p:cNvSpPr txBox="true"/>
            <p:nvPr/>
          </p:nvSpPr>
          <p:spPr>
            <a:xfrm>
              <a:off x="0" y="-47625"/>
              <a:ext cx="812800" cy="300120"/>
            </a:xfrm>
            <a:prstGeom prst="rect">
              <a:avLst/>
            </a:prstGeom>
          </p:spPr>
          <p:txBody>
            <a:bodyPr anchor="ctr" rtlCol="false" tIns="50800" lIns="50800" bIns="50800" rIns="50800"/>
            <a:lstStyle/>
            <a:p>
              <a:pPr algn="ctr">
                <a:lnSpc>
                  <a:spcPts val="3255"/>
                </a:lnSpc>
              </a:pPr>
            </a:p>
          </p:txBody>
        </p:sp>
      </p:grpSp>
      <p:grpSp>
        <p:nvGrpSpPr>
          <p:cNvPr name="Group 11" id="11"/>
          <p:cNvGrpSpPr/>
          <p:nvPr/>
        </p:nvGrpSpPr>
        <p:grpSpPr>
          <a:xfrm rot="0">
            <a:off x="7600950" y="303782"/>
            <a:ext cx="679337" cy="67933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255"/>
                </a:lnSpc>
              </a:pPr>
            </a:p>
          </p:txBody>
        </p:sp>
      </p:grpSp>
      <p:sp>
        <p:nvSpPr>
          <p:cNvPr name="Freeform 14" id="14"/>
          <p:cNvSpPr/>
          <p:nvPr/>
        </p:nvSpPr>
        <p:spPr>
          <a:xfrm flipH="false" flipV="false" rot="0">
            <a:off x="16525457" y="164104"/>
            <a:ext cx="1990120" cy="1204264"/>
          </a:xfrm>
          <a:custGeom>
            <a:avLst/>
            <a:gdLst/>
            <a:ahLst/>
            <a:cxnLst/>
            <a:rect r="r" b="b" t="t" l="l"/>
            <a:pathLst>
              <a:path h="1204264" w="1990120">
                <a:moveTo>
                  <a:pt x="0" y="0"/>
                </a:moveTo>
                <a:lnTo>
                  <a:pt x="1990120" y="0"/>
                </a:lnTo>
                <a:lnTo>
                  <a:pt x="1990120" y="1204264"/>
                </a:lnTo>
                <a:lnTo>
                  <a:pt x="0" y="1204264"/>
                </a:lnTo>
                <a:lnTo>
                  <a:pt x="0" y="0"/>
                </a:lnTo>
                <a:close/>
              </a:path>
            </a:pathLst>
          </a:custGeom>
          <a:blipFill>
            <a:blip r:embed="rId5">
              <a:extLst>
                <a:ext uri="{96DAC541-7B7A-43D3-8B79-37D633B846F1}">
                  <asvg:svgBlip xmlns:asvg="http://schemas.microsoft.com/office/drawing/2016/SVG/main" r:embed="rId6"/>
                </a:ext>
              </a:extLst>
            </a:blip>
            <a:stretch>
              <a:fillRect l="0" t="-97320" r="0" b="0"/>
            </a:stretch>
          </a:blipFill>
        </p:spPr>
      </p:sp>
      <p:sp>
        <p:nvSpPr>
          <p:cNvPr name="Freeform 15" id="15"/>
          <p:cNvSpPr/>
          <p:nvPr/>
        </p:nvSpPr>
        <p:spPr>
          <a:xfrm flipH="false" flipV="false" rot="0">
            <a:off x="8124659" y="6514582"/>
            <a:ext cx="311254" cy="311254"/>
          </a:xfrm>
          <a:custGeom>
            <a:avLst/>
            <a:gdLst/>
            <a:ahLst/>
            <a:cxnLst/>
            <a:rect r="r" b="b" t="t" l="l"/>
            <a:pathLst>
              <a:path h="311254" w="311254">
                <a:moveTo>
                  <a:pt x="0" y="0"/>
                </a:moveTo>
                <a:lnTo>
                  <a:pt x="311255" y="0"/>
                </a:lnTo>
                <a:lnTo>
                  <a:pt x="311255" y="311254"/>
                </a:lnTo>
                <a:lnTo>
                  <a:pt x="0" y="3112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8280287" y="8434161"/>
            <a:ext cx="311254" cy="311254"/>
          </a:xfrm>
          <a:custGeom>
            <a:avLst/>
            <a:gdLst/>
            <a:ahLst/>
            <a:cxnLst/>
            <a:rect r="r" b="b" t="t" l="l"/>
            <a:pathLst>
              <a:path h="311254" w="311254">
                <a:moveTo>
                  <a:pt x="0" y="0"/>
                </a:moveTo>
                <a:lnTo>
                  <a:pt x="311254" y="0"/>
                </a:lnTo>
                <a:lnTo>
                  <a:pt x="311254" y="311254"/>
                </a:lnTo>
                <a:lnTo>
                  <a:pt x="0" y="3112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498648" y="2507519"/>
            <a:ext cx="6930661" cy="5860667"/>
          </a:xfrm>
          <a:custGeom>
            <a:avLst/>
            <a:gdLst/>
            <a:ahLst/>
            <a:cxnLst/>
            <a:rect r="r" b="b" t="t" l="l"/>
            <a:pathLst>
              <a:path h="5860667" w="6930661">
                <a:moveTo>
                  <a:pt x="0" y="0"/>
                </a:moveTo>
                <a:lnTo>
                  <a:pt x="6930661" y="0"/>
                </a:lnTo>
                <a:lnTo>
                  <a:pt x="6930661" y="5860667"/>
                </a:lnTo>
                <a:lnTo>
                  <a:pt x="0" y="5860667"/>
                </a:lnTo>
                <a:lnTo>
                  <a:pt x="0" y="0"/>
                </a:lnTo>
                <a:close/>
              </a:path>
            </a:pathLst>
          </a:custGeom>
          <a:blipFill>
            <a:blip r:embed="rId7"/>
            <a:stretch>
              <a:fillRect l="-31878" t="0" r="-28427" b="0"/>
            </a:stretch>
          </a:blipFill>
        </p:spPr>
      </p:sp>
      <p:sp>
        <p:nvSpPr>
          <p:cNvPr name="TextBox 18" id="18"/>
          <p:cNvSpPr txBox="true"/>
          <p:nvPr/>
        </p:nvSpPr>
        <p:spPr>
          <a:xfrm rot="0">
            <a:off x="9804711" y="1303772"/>
            <a:ext cx="6565119" cy="1317172"/>
          </a:xfrm>
          <a:prstGeom prst="rect">
            <a:avLst/>
          </a:prstGeom>
        </p:spPr>
        <p:txBody>
          <a:bodyPr anchor="t" rtlCol="false" tIns="0" lIns="0" bIns="0" rIns="0">
            <a:spAutoFit/>
          </a:bodyPr>
          <a:lstStyle/>
          <a:p>
            <a:pPr algn="just">
              <a:lnSpc>
                <a:spcPts val="9857"/>
              </a:lnSpc>
            </a:pPr>
            <a:r>
              <a:rPr lang="en-US" sz="9857" b="true">
                <a:solidFill>
                  <a:srgbClr val="12354D"/>
                </a:solidFill>
                <a:latin typeface="Glacial Indifference Bold"/>
                <a:ea typeface="Glacial Indifference Bold"/>
                <a:cs typeface="Glacial Indifference Bold"/>
                <a:sym typeface="Glacial Indifference Bold"/>
              </a:rPr>
              <a:t>Motivation</a:t>
            </a:r>
          </a:p>
        </p:txBody>
      </p:sp>
      <p:sp>
        <p:nvSpPr>
          <p:cNvPr name="TextBox 19" id="19"/>
          <p:cNvSpPr txBox="true"/>
          <p:nvPr/>
        </p:nvSpPr>
        <p:spPr>
          <a:xfrm rot="0">
            <a:off x="8548393" y="3713248"/>
            <a:ext cx="5101629" cy="481304"/>
          </a:xfrm>
          <a:prstGeom prst="rect">
            <a:avLst/>
          </a:prstGeom>
        </p:spPr>
        <p:txBody>
          <a:bodyPr anchor="t" rtlCol="false" tIns="0" lIns="0" bIns="0" rIns="0">
            <a:spAutoFit/>
          </a:bodyPr>
          <a:lstStyle/>
          <a:p>
            <a:pPr algn="l">
              <a:lnSpc>
                <a:spcPts val="3921"/>
              </a:lnSpc>
            </a:pPr>
            <a:r>
              <a:rPr lang="en-US" sz="2801" b="true">
                <a:solidFill>
                  <a:srgbClr val="12354D"/>
                </a:solidFill>
                <a:latin typeface="Glacial Indifference Bold"/>
                <a:ea typeface="Glacial Indifference Bold"/>
                <a:cs typeface="Glacial Indifference Bold"/>
                <a:sym typeface="Glacial Indifference Bold"/>
              </a:rPr>
              <a:t>Raw mammograms contain:</a:t>
            </a:r>
          </a:p>
        </p:txBody>
      </p:sp>
      <p:sp>
        <p:nvSpPr>
          <p:cNvPr name="TextBox 20" id="20"/>
          <p:cNvSpPr txBox="true"/>
          <p:nvPr/>
        </p:nvSpPr>
        <p:spPr>
          <a:xfrm rot="0">
            <a:off x="8851576" y="4280278"/>
            <a:ext cx="3932511" cy="2462504"/>
          </a:xfrm>
          <a:prstGeom prst="rect">
            <a:avLst/>
          </a:prstGeom>
        </p:spPr>
        <p:txBody>
          <a:bodyPr anchor="t" rtlCol="false" tIns="0" lIns="0" bIns="0" rIns="0">
            <a:spAutoFit/>
          </a:bodyPr>
          <a:lstStyle/>
          <a:p>
            <a:pPr algn="l" marL="604740" indent="-302370" lvl="1">
              <a:lnSpc>
                <a:spcPts val="3921"/>
              </a:lnSpc>
              <a:buFont typeface="Arial"/>
              <a:buChar char="•"/>
            </a:pPr>
            <a:r>
              <a:rPr lang="en-US" sz="2801">
                <a:solidFill>
                  <a:srgbClr val="12354D"/>
                </a:solidFill>
                <a:latin typeface="Glacial Indifference"/>
                <a:ea typeface="Glacial Indifference"/>
                <a:cs typeface="Glacial Indifference"/>
                <a:sym typeface="Glacial Indifference"/>
              </a:rPr>
              <a:t>Noise</a:t>
            </a:r>
          </a:p>
          <a:p>
            <a:pPr algn="l" marL="604740" indent="-302370" lvl="1">
              <a:lnSpc>
                <a:spcPts val="3921"/>
              </a:lnSpc>
              <a:buFont typeface="Arial"/>
              <a:buChar char="•"/>
            </a:pPr>
            <a:r>
              <a:rPr lang="en-US" sz="2801">
                <a:solidFill>
                  <a:srgbClr val="12354D"/>
                </a:solidFill>
                <a:latin typeface="Glacial Indifference"/>
                <a:ea typeface="Glacial Indifference"/>
                <a:cs typeface="Glacial Indifference"/>
                <a:sym typeface="Glacial Indifference"/>
              </a:rPr>
              <a:t>Background</a:t>
            </a:r>
          </a:p>
          <a:p>
            <a:pPr algn="l" marL="604740" indent="-302370" lvl="1">
              <a:lnSpc>
                <a:spcPts val="3921"/>
              </a:lnSpc>
              <a:buFont typeface="Arial"/>
              <a:buChar char="•"/>
            </a:pPr>
            <a:r>
              <a:rPr lang="en-US" sz="2801">
                <a:solidFill>
                  <a:srgbClr val="12354D"/>
                </a:solidFill>
                <a:latin typeface="Glacial Indifference"/>
                <a:ea typeface="Glacial Indifference"/>
                <a:cs typeface="Glacial Indifference"/>
                <a:sym typeface="Glacial Indifference"/>
              </a:rPr>
              <a:t>Labels and markers</a:t>
            </a:r>
          </a:p>
          <a:p>
            <a:pPr algn="l" marL="604740" indent="-302370" lvl="1">
              <a:lnSpc>
                <a:spcPts val="3921"/>
              </a:lnSpc>
              <a:buFont typeface="Arial"/>
              <a:buChar char="•"/>
            </a:pPr>
            <a:r>
              <a:rPr lang="en-US" sz="2801">
                <a:solidFill>
                  <a:srgbClr val="12354D"/>
                </a:solidFill>
                <a:latin typeface="Glacial Indifference"/>
                <a:ea typeface="Glacial Indifference"/>
                <a:cs typeface="Glacial Indifference"/>
                <a:sym typeface="Glacial Indifference"/>
              </a:rPr>
              <a:t>Pectoral muscle</a:t>
            </a:r>
          </a:p>
          <a:p>
            <a:pPr algn="l">
              <a:lnSpc>
                <a:spcPts val="3921"/>
              </a:lnSpc>
            </a:pPr>
          </a:p>
        </p:txBody>
      </p:sp>
      <p:sp>
        <p:nvSpPr>
          <p:cNvPr name="TextBox 21" id="21"/>
          <p:cNvSpPr txBox="true"/>
          <p:nvPr/>
        </p:nvSpPr>
        <p:spPr>
          <a:xfrm rot="0">
            <a:off x="8092611" y="2849545"/>
            <a:ext cx="9989319" cy="609600"/>
          </a:xfrm>
          <a:prstGeom prst="rect">
            <a:avLst/>
          </a:prstGeom>
        </p:spPr>
        <p:txBody>
          <a:bodyPr anchor="t" rtlCol="false" tIns="0" lIns="0" bIns="0" rIns="0">
            <a:spAutoFit/>
          </a:bodyPr>
          <a:lstStyle/>
          <a:p>
            <a:pPr algn="l">
              <a:lnSpc>
                <a:spcPts val="4500"/>
              </a:lnSpc>
            </a:pPr>
            <a:r>
              <a:rPr lang="en-US" sz="4500" b="true">
                <a:solidFill>
                  <a:srgbClr val="12354D"/>
                </a:solidFill>
                <a:latin typeface="Glacial Indifference Bold"/>
                <a:ea typeface="Glacial Indifference Bold"/>
                <a:cs typeface="Glacial Indifference Bold"/>
                <a:sym typeface="Glacial Indifference Bold"/>
              </a:rPr>
              <a:t>Why Preprocessing Mammograms?</a:t>
            </a:r>
          </a:p>
        </p:txBody>
      </p:sp>
      <p:sp>
        <p:nvSpPr>
          <p:cNvPr name="TextBox 22" id="22"/>
          <p:cNvSpPr txBox="true"/>
          <p:nvPr/>
        </p:nvSpPr>
        <p:spPr>
          <a:xfrm rot="0">
            <a:off x="8548393" y="6391457"/>
            <a:ext cx="5101629" cy="481304"/>
          </a:xfrm>
          <a:prstGeom prst="rect">
            <a:avLst/>
          </a:prstGeom>
        </p:spPr>
        <p:txBody>
          <a:bodyPr anchor="t" rtlCol="false" tIns="0" lIns="0" bIns="0" rIns="0">
            <a:spAutoFit/>
          </a:bodyPr>
          <a:lstStyle/>
          <a:p>
            <a:pPr algn="l">
              <a:lnSpc>
                <a:spcPts val="3921"/>
              </a:lnSpc>
            </a:pPr>
            <a:r>
              <a:rPr lang="en-US" sz="2801" b="true">
                <a:solidFill>
                  <a:srgbClr val="12354D"/>
                </a:solidFill>
                <a:latin typeface="Glacial Indifference Bold"/>
                <a:ea typeface="Glacial Indifference Bold"/>
                <a:cs typeface="Glacial Indifference Bold"/>
                <a:sym typeface="Glacial Indifference Bold"/>
              </a:rPr>
              <a:t>These elements:</a:t>
            </a:r>
          </a:p>
        </p:txBody>
      </p:sp>
      <p:sp>
        <p:nvSpPr>
          <p:cNvPr name="TextBox 23" id="23"/>
          <p:cNvSpPr txBox="true"/>
          <p:nvPr/>
        </p:nvSpPr>
        <p:spPr>
          <a:xfrm rot="0">
            <a:off x="8851576" y="6968011"/>
            <a:ext cx="4607812" cy="1471904"/>
          </a:xfrm>
          <a:prstGeom prst="rect">
            <a:avLst/>
          </a:prstGeom>
        </p:spPr>
        <p:txBody>
          <a:bodyPr anchor="t" rtlCol="false" tIns="0" lIns="0" bIns="0" rIns="0">
            <a:spAutoFit/>
          </a:bodyPr>
          <a:lstStyle/>
          <a:p>
            <a:pPr algn="l" marL="604740" indent="-302370" lvl="1">
              <a:lnSpc>
                <a:spcPts val="3921"/>
              </a:lnSpc>
              <a:buFont typeface="Arial"/>
              <a:buChar char="•"/>
            </a:pPr>
            <a:r>
              <a:rPr lang="en-US" sz="2801">
                <a:solidFill>
                  <a:srgbClr val="12354D"/>
                </a:solidFill>
                <a:latin typeface="Glacial Indifference"/>
                <a:ea typeface="Glacial Indifference"/>
                <a:cs typeface="Glacial Indifference"/>
                <a:sym typeface="Glacial Indifference"/>
              </a:rPr>
              <a:t>Do not help diagnosis</a:t>
            </a:r>
          </a:p>
          <a:p>
            <a:pPr algn="l" marL="604740" indent="-302370" lvl="1">
              <a:lnSpc>
                <a:spcPts val="3921"/>
              </a:lnSpc>
              <a:buFont typeface="Arial"/>
              <a:buChar char="•"/>
            </a:pPr>
            <a:r>
              <a:rPr lang="en-US" sz="2801">
                <a:solidFill>
                  <a:srgbClr val="12354D"/>
                </a:solidFill>
                <a:latin typeface="Glacial Indifference"/>
                <a:ea typeface="Glacial Indifference"/>
                <a:cs typeface="Glacial Indifference"/>
                <a:sym typeface="Glacial Indifference"/>
              </a:rPr>
              <a:t>C</a:t>
            </a:r>
            <a:r>
              <a:rPr lang="en-US" sz="2801">
                <a:solidFill>
                  <a:srgbClr val="12354D"/>
                </a:solidFill>
                <a:latin typeface="Glacial Indifference"/>
                <a:ea typeface="Glacial Indifference"/>
                <a:cs typeface="Glacial Indifference"/>
                <a:sym typeface="Glacial Indifference"/>
              </a:rPr>
              <a:t>an confuse AI models</a:t>
            </a:r>
          </a:p>
          <a:p>
            <a:pPr algn="l">
              <a:lnSpc>
                <a:spcPts val="3921"/>
              </a:lnSpc>
            </a:pPr>
          </a:p>
        </p:txBody>
      </p:sp>
      <p:sp>
        <p:nvSpPr>
          <p:cNvPr name="TextBox 24" id="24"/>
          <p:cNvSpPr txBox="true"/>
          <p:nvPr/>
        </p:nvSpPr>
        <p:spPr>
          <a:xfrm rot="0">
            <a:off x="8704020" y="8311036"/>
            <a:ext cx="7352633" cy="976604"/>
          </a:xfrm>
          <a:prstGeom prst="rect">
            <a:avLst/>
          </a:prstGeom>
        </p:spPr>
        <p:txBody>
          <a:bodyPr anchor="t" rtlCol="false" tIns="0" lIns="0" bIns="0" rIns="0">
            <a:spAutoFit/>
          </a:bodyPr>
          <a:lstStyle/>
          <a:p>
            <a:pPr algn="l">
              <a:lnSpc>
                <a:spcPts val="3921"/>
              </a:lnSpc>
            </a:pPr>
            <a:r>
              <a:rPr lang="en-US" sz="2801" b="true">
                <a:solidFill>
                  <a:srgbClr val="12354D"/>
                </a:solidFill>
                <a:latin typeface="Glacial Indifference Bold"/>
                <a:ea typeface="Glacial Indifference Bold"/>
                <a:cs typeface="Glacial Indifference Bold"/>
                <a:sym typeface="Glacial Indifference Bold"/>
              </a:rPr>
              <a:t>Preprocessing is mandatory before feature extraction or classification</a:t>
            </a:r>
          </a:p>
        </p:txBody>
      </p:sp>
    </p:spTree>
  </p:cSld>
  <p:clrMapOvr>
    <a:masterClrMapping/>
  </p:clrMapOvr>
  <p:transition spd="slow">
    <p:push dir="u"/>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03352" y="-514350"/>
            <a:ext cx="11631612" cy="11316371"/>
            <a:chOff x="0" y="0"/>
            <a:chExt cx="3063470" cy="2980443"/>
          </a:xfrm>
        </p:grpSpPr>
        <p:sp>
          <p:nvSpPr>
            <p:cNvPr name="Freeform 4" id="4"/>
            <p:cNvSpPr/>
            <p:nvPr/>
          </p:nvSpPr>
          <p:spPr>
            <a:xfrm flipH="false" flipV="false" rot="0">
              <a:off x="0" y="0"/>
              <a:ext cx="3063470" cy="2980443"/>
            </a:xfrm>
            <a:custGeom>
              <a:avLst/>
              <a:gdLst/>
              <a:ahLst/>
              <a:cxnLst/>
              <a:rect r="r" b="b" t="t" l="l"/>
              <a:pathLst>
                <a:path h="2980443" w="3063470">
                  <a:moveTo>
                    <a:pt x="0" y="0"/>
                  </a:moveTo>
                  <a:lnTo>
                    <a:pt x="3063470" y="0"/>
                  </a:lnTo>
                  <a:lnTo>
                    <a:pt x="3063470" y="2980443"/>
                  </a:lnTo>
                  <a:lnTo>
                    <a:pt x="0" y="2980443"/>
                  </a:lnTo>
                  <a:close/>
                </a:path>
              </a:pathLst>
            </a:custGeom>
            <a:solidFill>
              <a:srgbClr val="FFFFFF"/>
            </a:solidFill>
          </p:spPr>
        </p:sp>
        <p:sp>
          <p:nvSpPr>
            <p:cNvPr name="TextBox 5" id="5"/>
            <p:cNvSpPr txBox="true"/>
            <p:nvPr/>
          </p:nvSpPr>
          <p:spPr>
            <a:xfrm>
              <a:off x="0" y="-47625"/>
              <a:ext cx="3063470" cy="3028068"/>
            </a:xfrm>
            <a:prstGeom prst="rect">
              <a:avLst/>
            </a:prstGeom>
          </p:spPr>
          <p:txBody>
            <a:bodyPr anchor="ctr" rtlCol="false" tIns="50800" lIns="50800" bIns="50800" rIns="50800"/>
            <a:lstStyle/>
            <a:p>
              <a:pPr algn="ctr">
                <a:lnSpc>
                  <a:spcPts val="3255"/>
                </a:lnSpc>
              </a:pPr>
            </a:p>
          </p:txBody>
        </p:sp>
      </p:grpSp>
      <p:sp>
        <p:nvSpPr>
          <p:cNvPr name="AutoShape 6" id="6"/>
          <p:cNvSpPr/>
          <p:nvPr/>
        </p:nvSpPr>
        <p:spPr>
          <a:xfrm>
            <a:off x="866168" y="1729517"/>
            <a:ext cx="7745806" cy="0"/>
          </a:xfrm>
          <a:prstGeom prst="line">
            <a:avLst/>
          </a:prstGeom>
          <a:ln cap="flat" w="9525">
            <a:solidFill>
              <a:srgbClr val="12354D"/>
            </a:solidFill>
            <a:prstDash val="solid"/>
            <a:headEnd type="none" len="sm" w="sm"/>
            <a:tailEnd type="none" len="sm" w="sm"/>
          </a:ln>
        </p:spPr>
      </p:sp>
      <p:sp>
        <p:nvSpPr>
          <p:cNvPr name="Freeform 7" id="7"/>
          <p:cNvSpPr/>
          <p:nvPr/>
        </p:nvSpPr>
        <p:spPr>
          <a:xfrm flipH="false" flipV="false" rot="0">
            <a:off x="710541" y="2264169"/>
            <a:ext cx="311254" cy="311254"/>
          </a:xfrm>
          <a:custGeom>
            <a:avLst/>
            <a:gdLst/>
            <a:ahLst/>
            <a:cxnLst/>
            <a:rect r="r" b="b" t="t" l="l"/>
            <a:pathLst>
              <a:path h="311254" w="311254">
                <a:moveTo>
                  <a:pt x="0" y="0"/>
                </a:moveTo>
                <a:lnTo>
                  <a:pt x="311254" y="0"/>
                </a:lnTo>
                <a:lnTo>
                  <a:pt x="311254" y="311254"/>
                </a:lnTo>
                <a:lnTo>
                  <a:pt x="0" y="3112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717446" y="6604194"/>
            <a:ext cx="311254" cy="311254"/>
          </a:xfrm>
          <a:custGeom>
            <a:avLst/>
            <a:gdLst/>
            <a:ahLst/>
            <a:cxnLst/>
            <a:rect r="r" b="b" t="t" l="l"/>
            <a:pathLst>
              <a:path h="311254" w="311254">
                <a:moveTo>
                  <a:pt x="0" y="0"/>
                </a:moveTo>
                <a:lnTo>
                  <a:pt x="311254" y="0"/>
                </a:lnTo>
                <a:lnTo>
                  <a:pt x="311254" y="311254"/>
                </a:lnTo>
                <a:lnTo>
                  <a:pt x="0" y="3112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9304662" y="549353"/>
            <a:ext cx="3086100" cy="958693"/>
            <a:chOff x="0" y="0"/>
            <a:chExt cx="812800" cy="252495"/>
          </a:xfrm>
        </p:grpSpPr>
        <p:sp>
          <p:nvSpPr>
            <p:cNvPr name="Freeform 10" id="10"/>
            <p:cNvSpPr/>
            <p:nvPr/>
          </p:nvSpPr>
          <p:spPr>
            <a:xfrm flipH="false" flipV="false" rot="0">
              <a:off x="0" y="0"/>
              <a:ext cx="812800" cy="252495"/>
            </a:xfrm>
            <a:custGeom>
              <a:avLst/>
              <a:gdLst/>
              <a:ahLst/>
              <a:cxnLst/>
              <a:rect r="r" b="b" t="t" l="l"/>
              <a:pathLst>
                <a:path h="252495" w="812800">
                  <a:moveTo>
                    <a:pt x="126248" y="0"/>
                  </a:moveTo>
                  <a:lnTo>
                    <a:pt x="686552" y="0"/>
                  </a:lnTo>
                  <a:cubicBezTo>
                    <a:pt x="756277" y="0"/>
                    <a:pt x="812800" y="56523"/>
                    <a:pt x="812800" y="126248"/>
                  </a:cubicBezTo>
                  <a:lnTo>
                    <a:pt x="812800" y="126248"/>
                  </a:lnTo>
                  <a:cubicBezTo>
                    <a:pt x="812800" y="159731"/>
                    <a:pt x="799499" y="191842"/>
                    <a:pt x="775823" y="215518"/>
                  </a:cubicBezTo>
                  <a:cubicBezTo>
                    <a:pt x="752147" y="239194"/>
                    <a:pt x="720035" y="252495"/>
                    <a:pt x="686552" y="252495"/>
                  </a:cubicBezTo>
                  <a:lnTo>
                    <a:pt x="126248" y="252495"/>
                  </a:lnTo>
                  <a:cubicBezTo>
                    <a:pt x="56523" y="252495"/>
                    <a:pt x="0" y="195972"/>
                    <a:pt x="0" y="126248"/>
                  </a:cubicBezTo>
                  <a:lnTo>
                    <a:pt x="0" y="126248"/>
                  </a:lnTo>
                  <a:cubicBezTo>
                    <a:pt x="0" y="56523"/>
                    <a:pt x="56523" y="0"/>
                    <a:pt x="126248" y="0"/>
                  </a:cubicBezTo>
                  <a:close/>
                </a:path>
              </a:pathLst>
            </a:custGeom>
            <a:solidFill>
              <a:srgbClr val="00CCFF"/>
            </a:solidFill>
          </p:spPr>
        </p:sp>
        <p:sp>
          <p:nvSpPr>
            <p:cNvPr name="TextBox 11" id="11"/>
            <p:cNvSpPr txBox="true"/>
            <p:nvPr/>
          </p:nvSpPr>
          <p:spPr>
            <a:xfrm>
              <a:off x="0" y="-47625"/>
              <a:ext cx="812800" cy="300120"/>
            </a:xfrm>
            <a:prstGeom prst="rect">
              <a:avLst/>
            </a:prstGeom>
          </p:spPr>
          <p:txBody>
            <a:bodyPr anchor="ctr" rtlCol="false" tIns="50800" lIns="50800" bIns="50800" rIns="50800"/>
            <a:lstStyle/>
            <a:p>
              <a:pPr algn="ctr">
                <a:lnSpc>
                  <a:spcPts val="3255"/>
                </a:lnSpc>
              </a:pPr>
            </a:p>
          </p:txBody>
        </p:sp>
      </p:grpSp>
      <p:grpSp>
        <p:nvGrpSpPr>
          <p:cNvPr name="Group 12" id="12"/>
          <p:cNvGrpSpPr/>
          <p:nvPr/>
        </p:nvGrpSpPr>
        <p:grpSpPr>
          <a:xfrm rot="0">
            <a:off x="11443319" y="689032"/>
            <a:ext cx="679337" cy="67933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3255"/>
                </a:lnSpc>
              </a:pPr>
            </a:p>
          </p:txBody>
        </p:sp>
      </p:grpSp>
      <p:sp>
        <p:nvSpPr>
          <p:cNvPr name="Freeform 15" id="15"/>
          <p:cNvSpPr/>
          <p:nvPr/>
        </p:nvSpPr>
        <p:spPr>
          <a:xfrm flipH="false" flipV="false" rot="0">
            <a:off x="8148940" y="8745228"/>
            <a:ext cx="1990120" cy="1204264"/>
          </a:xfrm>
          <a:custGeom>
            <a:avLst/>
            <a:gdLst/>
            <a:ahLst/>
            <a:cxnLst/>
            <a:rect r="r" b="b" t="t" l="l"/>
            <a:pathLst>
              <a:path h="1204264" w="1990120">
                <a:moveTo>
                  <a:pt x="0" y="0"/>
                </a:moveTo>
                <a:lnTo>
                  <a:pt x="1990120" y="0"/>
                </a:lnTo>
                <a:lnTo>
                  <a:pt x="1990120" y="1204264"/>
                </a:lnTo>
                <a:lnTo>
                  <a:pt x="0" y="1204264"/>
                </a:lnTo>
                <a:lnTo>
                  <a:pt x="0" y="0"/>
                </a:lnTo>
                <a:close/>
              </a:path>
            </a:pathLst>
          </a:custGeom>
          <a:blipFill>
            <a:blip r:embed="rId5">
              <a:extLst>
                <a:ext uri="{96DAC541-7B7A-43D3-8B79-37D633B846F1}">
                  <asvg:svgBlip xmlns:asvg="http://schemas.microsoft.com/office/drawing/2016/SVG/main" r:embed="rId6"/>
                </a:ext>
              </a:extLst>
            </a:blip>
            <a:stretch>
              <a:fillRect l="0" t="-97320" r="0" b="0"/>
            </a:stretch>
          </a:blipFill>
        </p:spPr>
      </p:sp>
      <p:sp>
        <p:nvSpPr>
          <p:cNvPr name="Freeform 16" id="16"/>
          <p:cNvSpPr/>
          <p:nvPr/>
        </p:nvSpPr>
        <p:spPr>
          <a:xfrm flipH="false" flipV="false" rot="0">
            <a:off x="11610931" y="3344545"/>
            <a:ext cx="6238512" cy="4164207"/>
          </a:xfrm>
          <a:custGeom>
            <a:avLst/>
            <a:gdLst/>
            <a:ahLst/>
            <a:cxnLst/>
            <a:rect r="r" b="b" t="t" l="l"/>
            <a:pathLst>
              <a:path h="4164207" w="6238512">
                <a:moveTo>
                  <a:pt x="0" y="0"/>
                </a:moveTo>
                <a:lnTo>
                  <a:pt x="6238513" y="0"/>
                </a:lnTo>
                <a:lnTo>
                  <a:pt x="6238513" y="4164207"/>
                </a:lnTo>
                <a:lnTo>
                  <a:pt x="0" y="4164207"/>
                </a:lnTo>
                <a:lnTo>
                  <a:pt x="0" y="0"/>
                </a:lnTo>
                <a:close/>
              </a:path>
            </a:pathLst>
          </a:custGeom>
          <a:blipFill>
            <a:blip r:embed="rId7"/>
            <a:stretch>
              <a:fillRect l="0" t="0" r="0" b="0"/>
            </a:stretch>
          </a:blipFill>
          <a:ln w="38100" cap="rnd">
            <a:solidFill>
              <a:srgbClr val="12354D"/>
            </a:solidFill>
            <a:prstDash val="solid"/>
            <a:round/>
          </a:ln>
        </p:spPr>
      </p:sp>
      <p:sp>
        <p:nvSpPr>
          <p:cNvPr name="TextBox 17" id="17"/>
          <p:cNvSpPr txBox="true"/>
          <p:nvPr/>
        </p:nvSpPr>
        <p:spPr>
          <a:xfrm rot="0">
            <a:off x="334142" y="652787"/>
            <a:ext cx="8809858" cy="875652"/>
          </a:xfrm>
          <a:prstGeom prst="rect">
            <a:avLst/>
          </a:prstGeom>
        </p:spPr>
        <p:txBody>
          <a:bodyPr anchor="t" rtlCol="false" tIns="0" lIns="0" bIns="0" rIns="0">
            <a:spAutoFit/>
          </a:bodyPr>
          <a:lstStyle/>
          <a:p>
            <a:pPr algn="l">
              <a:lnSpc>
                <a:spcPts val="6576"/>
              </a:lnSpc>
            </a:pPr>
            <a:r>
              <a:rPr lang="en-US" sz="6576" b="true">
                <a:solidFill>
                  <a:srgbClr val="12354D"/>
                </a:solidFill>
                <a:latin typeface="Glacial Indifference Bold"/>
                <a:ea typeface="Glacial Indifference Bold"/>
                <a:cs typeface="Glacial Indifference Bold"/>
                <a:sym typeface="Glacial Indifference Bold"/>
              </a:rPr>
              <a:t>Main Idea of the Work</a:t>
            </a:r>
          </a:p>
        </p:txBody>
      </p:sp>
      <p:sp>
        <p:nvSpPr>
          <p:cNvPr name="TextBox 18" id="18"/>
          <p:cNvSpPr txBox="true"/>
          <p:nvPr/>
        </p:nvSpPr>
        <p:spPr>
          <a:xfrm rot="0">
            <a:off x="1028700" y="2821764"/>
            <a:ext cx="7629449" cy="3190875"/>
          </a:xfrm>
          <a:prstGeom prst="rect">
            <a:avLst/>
          </a:prstGeom>
        </p:spPr>
        <p:txBody>
          <a:bodyPr anchor="t" rtlCol="false" tIns="0" lIns="0" bIns="0" rIns="0">
            <a:spAutoFit/>
          </a:bodyPr>
          <a:lstStyle/>
          <a:p>
            <a:pPr algn="l">
              <a:lnSpc>
                <a:spcPts val="4200"/>
              </a:lnSpc>
            </a:pPr>
            <a:r>
              <a:rPr lang="en-US" sz="3000">
                <a:solidFill>
                  <a:srgbClr val="12354D"/>
                </a:solidFill>
                <a:latin typeface="Glacial Indifference"/>
                <a:ea typeface="Glacial Indifference"/>
                <a:cs typeface="Glacial Indifference"/>
                <a:sym typeface="Glacial Indifference"/>
              </a:rPr>
              <a:t>We apply a step-by-step preprocessing pipeline to mammogram images in order to keep only the breast tissue. All irrelevant elements, such as noise, background, artifacts, and the pectoral muscle, are progressively removed.</a:t>
            </a:r>
          </a:p>
        </p:txBody>
      </p:sp>
      <p:sp>
        <p:nvSpPr>
          <p:cNvPr name="TextBox 19" id="19"/>
          <p:cNvSpPr txBox="true"/>
          <p:nvPr/>
        </p:nvSpPr>
        <p:spPr>
          <a:xfrm rot="0">
            <a:off x="1170727" y="2150569"/>
            <a:ext cx="7669178" cy="537845"/>
          </a:xfrm>
          <a:prstGeom prst="rect">
            <a:avLst/>
          </a:prstGeom>
        </p:spPr>
        <p:txBody>
          <a:bodyPr anchor="t" rtlCol="false" tIns="0" lIns="0" bIns="0" rIns="0">
            <a:spAutoFit/>
          </a:bodyPr>
          <a:lstStyle/>
          <a:p>
            <a:pPr algn="l">
              <a:lnSpc>
                <a:spcPts val="4480"/>
              </a:lnSpc>
            </a:pPr>
            <a:r>
              <a:rPr lang="en-US" sz="3200" b="true">
                <a:solidFill>
                  <a:srgbClr val="12354D"/>
                </a:solidFill>
                <a:latin typeface="Glacial Indifference Bold"/>
                <a:ea typeface="Glacial Indifference Bold"/>
                <a:cs typeface="Glacial Indifference Bold"/>
                <a:sym typeface="Glacial Indifference Bold"/>
              </a:rPr>
              <a:t>What Are We Doing?</a:t>
            </a:r>
          </a:p>
        </p:txBody>
      </p:sp>
      <p:sp>
        <p:nvSpPr>
          <p:cNvPr name="TextBox 20" id="20"/>
          <p:cNvSpPr txBox="true"/>
          <p:nvPr/>
        </p:nvSpPr>
        <p:spPr>
          <a:xfrm rot="0">
            <a:off x="1028700" y="7273324"/>
            <a:ext cx="6981531" cy="1471904"/>
          </a:xfrm>
          <a:prstGeom prst="rect">
            <a:avLst/>
          </a:prstGeom>
        </p:spPr>
        <p:txBody>
          <a:bodyPr anchor="t" rtlCol="false" tIns="0" lIns="0" bIns="0" rIns="0">
            <a:spAutoFit/>
          </a:bodyPr>
          <a:lstStyle/>
          <a:p>
            <a:pPr algn="l">
              <a:lnSpc>
                <a:spcPts val="3921"/>
              </a:lnSpc>
            </a:pPr>
            <a:r>
              <a:rPr lang="en-US" sz="2801">
                <a:solidFill>
                  <a:srgbClr val="12354D"/>
                </a:solidFill>
                <a:latin typeface="Glacial Indifference"/>
                <a:ea typeface="Glacial Indifference"/>
                <a:cs typeface="Glacial Indifference"/>
                <a:sym typeface="Glacial Indifference"/>
              </a:rPr>
              <a:t>The image is simplified while preserving only the medically relevant information needed for accurate analysis.</a:t>
            </a:r>
          </a:p>
        </p:txBody>
      </p:sp>
      <p:sp>
        <p:nvSpPr>
          <p:cNvPr name="TextBox 21" id="21"/>
          <p:cNvSpPr txBox="true"/>
          <p:nvPr/>
        </p:nvSpPr>
        <p:spPr>
          <a:xfrm rot="0">
            <a:off x="1170727" y="6462323"/>
            <a:ext cx="7669178" cy="537845"/>
          </a:xfrm>
          <a:prstGeom prst="rect">
            <a:avLst/>
          </a:prstGeom>
        </p:spPr>
        <p:txBody>
          <a:bodyPr anchor="t" rtlCol="false" tIns="0" lIns="0" bIns="0" rIns="0">
            <a:spAutoFit/>
          </a:bodyPr>
          <a:lstStyle/>
          <a:p>
            <a:pPr algn="l">
              <a:lnSpc>
                <a:spcPts val="4480"/>
              </a:lnSpc>
            </a:pPr>
            <a:r>
              <a:rPr lang="en-US" sz="3200" b="true">
                <a:solidFill>
                  <a:srgbClr val="12354D"/>
                </a:solidFill>
                <a:latin typeface="Glacial Indifference Bold"/>
                <a:ea typeface="Glacial Indifference Bold"/>
                <a:cs typeface="Glacial Indifference Bold"/>
                <a:sym typeface="Glacial Indifference Bold"/>
              </a:rPr>
              <a:t>Key Principle</a:t>
            </a:r>
          </a:p>
        </p:txBody>
      </p:sp>
    </p:spTree>
  </p:cSld>
  <p:clrMapOvr>
    <a:masterClrMapping/>
  </p:clrMapOvr>
  <p:transition spd="slow">
    <p:push dir="u"/>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grpSp>
        <p:nvGrpSpPr>
          <p:cNvPr name="Group 3" id="3"/>
          <p:cNvGrpSpPr/>
          <p:nvPr/>
        </p:nvGrpSpPr>
        <p:grpSpPr>
          <a:xfrm rot="0">
            <a:off x="7848409" y="-514350"/>
            <a:ext cx="10757658" cy="11316371"/>
            <a:chOff x="0" y="0"/>
            <a:chExt cx="2833293" cy="2980443"/>
          </a:xfrm>
        </p:grpSpPr>
        <p:sp>
          <p:nvSpPr>
            <p:cNvPr name="Freeform 4" id="4"/>
            <p:cNvSpPr/>
            <p:nvPr/>
          </p:nvSpPr>
          <p:spPr>
            <a:xfrm flipH="false" flipV="false" rot="0">
              <a:off x="0" y="0"/>
              <a:ext cx="2833293" cy="2980443"/>
            </a:xfrm>
            <a:custGeom>
              <a:avLst/>
              <a:gdLst/>
              <a:ahLst/>
              <a:cxnLst/>
              <a:rect r="r" b="b" t="t" l="l"/>
              <a:pathLst>
                <a:path h="2980443" w="2833293">
                  <a:moveTo>
                    <a:pt x="0" y="0"/>
                  </a:moveTo>
                  <a:lnTo>
                    <a:pt x="2833293" y="0"/>
                  </a:lnTo>
                  <a:lnTo>
                    <a:pt x="2833293" y="2980443"/>
                  </a:lnTo>
                  <a:lnTo>
                    <a:pt x="0" y="2980443"/>
                  </a:lnTo>
                  <a:close/>
                </a:path>
              </a:pathLst>
            </a:custGeom>
            <a:solidFill>
              <a:srgbClr val="FFFFFF"/>
            </a:solidFill>
          </p:spPr>
        </p:sp>
        <p:sp>
          <p:nvSpPr>
            <p:cNvPr name="TextBox 5" id="5"/>
            <p:cNvSpPr txBox="true"/>
            <p:nvPr/>
          </p:nvSpPr>
          <p:spPr>
            <a:xfrm>
              <a:off x="0" y="-47625"/>
              <a:ext cx="2833293" cy="3028068"/>
            </a:xfrm>
            <a:prstGeom prst="rect">
              <a:avLst/>
            </a:prstGeom>
          </p:spPr>
          <p:txBody>
            <a:bodyPr anchor="ctr" rtlCol="false" tIns="50800" lIns="50800" bIns="50800" rIns="50800"/>
            <a:lstStyle/>
            <a:p>
              <a:pPr algn="ctr">
                <a:lnSpc>
                  <a:spcPts val="3255"/>
                </a:lnSpc>
              </a:pPr>
            </a:p>
          </p:txBody>
        </p:sp>
      </p:grpSp>
      <p:sp>
        <p:nvSpPr>
          <p:cNvPr name="AutoShape 6" id="6"/>
          <p:cNvSpPr/>
          <p:nvPr/>
        </p:nvSpPr>
        <p:spPr>
          <a:xfrm>
            <a:off x="8472734" y="2661436"/>
            <a:ext cx="7745806" cy="0"/>
          </a:xfrm>
          <a:prstGeom prst="line">
            <a:avLst/>
          </a:prstGeom>
          <a:ln cap="flat" w="9525">
            <a:solidFill>
              <a:srgbClr val="12354D"/>
            </a:solidFill>
            <a:prstDash val="solid"/>
            <a:headEnd type="none" len="sm" w="sm"/>
            <a:tailEnd type="none" len="sm" w="sm"/>
          </a:ln>
        </p:spPr>
      </p:sp>
      <p:sp>
        <p:nvSpPr>
          <p:cNvPr name="Freeform 7" id="7"/>
          <p:cNvSpPr/>
          <p:nvPr/>
        </p:nvSpPr>
        <p:spPr>
          <a:xfrm flipH="false" flipV="false" rot="0">
            <a:off x="8161480" y="3294324"/>
            <a:ext cx="311254" cy="311254"/>
          </a:xfrm>
          <a:custGeom>
            <a:avLst/>
            <a:gdLst/>
            <a:ahLst/>
            <a:cxnLst/>
            <a:rect r="r" b="b" t="t" l="l"/>
            <a:pathLst>
              <a:path h="311254" w="311254">
                <a:moveTo>
                  <a:pt x="0" y="0"/>
                </a:moveTo>
                <a:lnTo>
                  <a:pt x="311254" y="0"/>
                </a:lnTo>
                <a:lnTo>
                  <a:pt x="311254" y="311255"/>
                </a:lnTo>
                <a:lnTo>
                  <a:pt x="0" y="3112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8240093" y="7073740"/>
            <a:ext cx="311254" cy="311254"/>
          </a:xfrm>
          <a:custGeom>
            <a:avLst/>
            <a:gdLst/>
            <a:ahLst/>
            <a:cxnLst/>
            <a:rect r="r" b="b" t="t" l="l"/>
            <a:pathLst>
              <a:path h="311254" w="311254">
                <a:moveTo>
                  <a:pt x="0" y="0"/>
                </a:moveTo>
                <a:lnTo>
                  <a:pt x="311254" y="0"/>
                </a:lnTo>
                <a:lnTo>
                  <a:pt x="311254" y="311254"/>
                </a:lnTo>
                <a:lnTo>
                  <a:pt x="0" y="3112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5654741" y="309581"/>
            <a:ext cx="3086100" cy="958693"/>
            <a:chOff x="0" y="0"/>
            <a:chExt cx="812800" cy="252495"/>
          </a:xfrm>
        </p:grpSpPr>
        <p:sp>
          <p:nvSpPr>
            <p:cNvPr name="Freeform 10" id="10"/>
            <p:cNvSpPr/>
            <p:nvPr/>
          </p:nvSpPr>
          <p:spPr>
            <a:xfrm flipH="false" flipV="false" rot="0">
              <a:off x="0" y="0"/>
              <a:ext cx="812800" cy="252495"/>
            </a:xfrm>
            <a:custGeom>
              <a:avLst/>
              <a:gdLst/>
              <a:ahLst/>
              <a:cxnLst/>
              <a:rect r="r" b="b" t="t" l="l"/>
              <a:pathLst>
                <a:path h="252495" w="812800">
                  <a:moveTo>
                    <a:pt x="126248" y="0"/>
                  </a:moveTo>
                  <a:lnTo>
                    <a:pt x="686552" y="0"/>
                  </a:lnTo>
                  <a:cubicBezTo>
                    <a:pt x="756277" y="0"/>
                    <a:pt x="812800" y="56523"/>
                    <a:pt x="812800" y="126248"/>
                  </a:cubicBezTo>
                  <a:lnTo>
                    <a:pt x="812800" y="126248"/>
                  </a:lnTo>
                  <a:cubicBezTo>
                    <a:pt x="812800" y="159731"/>
                    <a:pt x="799499" y="191842"/>
                    <a:pt x="775823" y="215518"/>
                  </a:cubicBezTo>
                  <a:cubicBezTo>
                    <a:pt x="752147" y="239194"/>
                    <a:pt x="720035" y="252495"/>
                    <a:pt x="686552" y="252495"/>
                  </a:cubicBezTo>
                  <a:lnTo>
                    <a:pt x="126248" y="252495"/>
                  </a:lnTo>
                  <a:cubicBezTo>
                    <a:pt x="56523" y="252495"/>
                    <a:pt x="0" y="195972"/>
                    <a:pt x="0" y="126248"/>
                  </a:cubicBezTo>
                  <a:lnTo>
                    <a:pt x="0" y="126248"/>
                  </a:lnTo>
                  <a:cubicBezTo>
                    <a:pt x="0" y="56523"/>
                    <a:pt x="56523" y="0"/>
                    <a:pt x="126248" y="0"/>
                  </a:cubicBezTo>
                  <a:close/>
                </a:path>
              </a:pathLst>
            </a:custGeom>
            <a:solidFill>
              <a:srgbClr val="00CCFF"/>
            </a:solidFill>
          </p:spPr>
        </p:sp>
        <p:sp>
          <p:nvSpPr>
            <p:cNvPr name="TextBox 11" id="11"/>
            <p:cNvSpPr txBox="true"/>
            <p:nvPr/>
          </p:nvSpPr>
          <p:spPr>
            <a:xfrm>
              <a:off x="0" y="-47625"/>
              <a:ext cx="812800" cy="300120"/>
            </a:xfrm>
            <a:prstGeom prst="rect">
              <a:avLst/>
            </a:prstGeom>
          </p:spPr>
          <p:txBody>
            <a:bodyPr anchor="ctr" rtlCol="false" tIns="50800" lIns="50800" bIns="50800" rIns="50800"/>
            <a:lstStyle/>
            <a:p>
              <a:pPr algn="ctr">
                <a:lnSpc>
                  <a:spcPts val="3255"/>
                </a:lnSpc>
              </a:pPr>
            </a:p>
          </p:txBody>
        </p:sp>
      </p:grpSp>
      <p:grpSp>
        <p:nvGrpSpPr>
          <p:cNvPr name="Group 12" id="12"/>
          <p:cNvGrpSpPr/>
          <p:nvPr/>
        </p:nvGrpSpPr>
        <p:grpSpPr>
          <a:xfrm rot="0">
            <a:off x="7793398" y="449259"/>
            <a:ext cx="679337" cy="67933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3255"/>
                </a:lnSpc>
              </a:pPr>
            </a:p>
          </p:txBody>
        </p:sp>
      </p:grpSp>
      <p:sp>
        <p:nvSpPr>
          <p:cNvPr name="Freeform 15" id="15"/>
          <p:cNvSpPr/>
          <p:nvPr/>
        </p:nvSpPr>
        <p:spPr>
          <a:xfrm flipH="false" flipV="false" rot="0">
            <a:off x="7700871" y="8745446"/>
            <a:ext cx="1695044" cy="1025708"/>
          </a:xfrm>
          <a:custGeom>
            <a:avLst/>
            <a:gdLst/>
            <a:ahLst/>
            <a:cxnLst/>
            <a:rect r="r" b="b" t="t" l="l"/>
            <a:pathLst>
              <a:path h="1025708" w="1695044">
                <a:moveTo>
                  <a:pt x="0" y="0"/>
                </a:moveTo>
                <a:lnTo>
                  <a:pt x="1695044" y="0"/>
                </a:lnTo>
                <a:lnTo>
                  <a:pt x="1695044" y="1025708"/>
                </a:lnTo>
                <a:lnTo>
                  <a:pt x="0" y="1025708"/>
                </a:lnTo>
                <a:lnTo>
                  <a:pt x="0" y="0"/>
                </a:lnTo>
                <a:close/>
              </a:path>
            </a:pathLst>
          </a:custGeom>
          <a:blipFill>
            <a:blip r:embed="rId5">
              <a:extLst>
                <a:ext uri="{96DAC541-7B7A-43D3-8B79-37D633B846F1}">
                  <asvg:svgBlip xmlns:asvg="http://schemas.microsoft.com/office/drawing/2016/SVG/main" r:embed="rId6"/>
                </a:ext>
              </a:extLst>
            </a:blip>
            <a:stretch>
              <a:fillRect l="0" t="-97320" r="0" b="0"/>
            </a:stretch>
          </a:blipFill>
        </p:spPr>
      </p:sp>
      <p:sp>
        <p:nvSpPr>
          <p:cNvPr name="Freeform 16" id="16"/>
          <p:cNvSpPr/>
          <p:nvPr/>
        </p:nvSpPr>
        <p:spPr>
          <a:xfrm flipH="false" flipV="false" rot="0">
            <a:off x="16681085" y="164104"/>
            <a:ext cx="1428797" cy="864596"/>
          </a:xfrm>
          <a:custGeom>
            <a:avLst/>
            <a:gdLst/>
            <a:ahLst/>
            <a:cxnLst/>
            <a:rect r="r" b="b" t="t" l="l"/>
            <a:pathLst>
              <a:path h="864596" w="1428797">
                <a:moveTo>
                  <a:pt x="0" y="0"/>
                </a:moveTo>
                <a:lnTo>
                  <a:pt x="1428797" y="0"/>
                </a:lnTo>
                <a:lnTo>
                  <a:pt x="1428797" y="864596"/>
                </a:lnTo>
                <a:lnTo>
                  <a:pt x="0" y="864596"/>
                </a:lnTo>
                <a:lnTo>
                  <a:pt x="0" y="0"/>
                </a:lnTo>
                <a:close/>
              </a:path>
            </a:pathLst>
          </a:custGeom>
          <a:blipFill>
            <a:blip r:embed="rId5">
              <a:extLst>
                <a:ext uri="{96DAC541-7B7A-43D3-8B79-37D633B846F1}">
                  <asvg:svgBlip xmlns:asvg="http://schemas.microsoft.com/office/drawing/2016/SVG/main" r:embed="rId6"/>
                </a:ext>
              </a:extLst>
            </a:blip>
            <a:stretch>
              <a:fillRect l="0" t="-97320" r="0" b="0"/>
            </a:stretch>
          </a:blipFill>
        </p:spPr>
      </p:sp>
      <p:sp>
        <p:nvSpPr>
          <p:cNvPr name="Freeform 17" id="17"/>
          <p:cNvSpPr/>
          <p:nvPr/>
        </p:nvSpPr>
        <p:spPr>
          <a:xfrm flipH="false" flipV="false" rot="0">
            <a:off x="1028700" y="3022754"/>
            <a:ext cx="6389088" cy="5534548"/>
          </a:xfrm>
          <a:custGeom>
            <a:avLst/>
            <a:gdLst/>
            <a:ahLst/>
            <a:cxnLst/>
            <a:rect r="r" b="b" t="t" l="l"/>
            <a:pathLst>
              <a:path h="5534548" w="6389088">
                <a:moveTo>
                  <a:pt x="0" y="0"/>
                </a:moveTo>
                <a:lnTo>
                  <a:pt x="6389088" y="0"/>
                </a:lnTo>
                <a:lnTo>
                  <a:pt x="6389088" y="5534548"/>
                </a:lnTo>
                <a:lnTo>
                  <a:pt x="0" y="553454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8" id="18"/>
          <p:cNvSpPr txBox="true"/>
          <p:nvPr/>
        </p:nvSpPr>
        <p:spPr>
          <a:xfrm rot="0">
            <a:off x="8240093" y="1466036"/>
            <a:ext cx="8724532" cy="644673"/>
          </a:xfrm>
          <a:prstGeom prst="rect">
            <a:avLst/>
          </a:prstGeom>
        </p:spPr>
        <p:txBody>
          <a:bodyPr anchor="t" rtlCol="false" tIns="0" lIns="0" bIns="0" rIns="0">
            <a:spAutoFit/>
          </a:bodyPr>
          <a:lstStyle/>
          <a:p>
            <a:pPr algn="l">
              <a:lnSpc>
                <a:spcPts val="4868"/>
              </a:lnSpc>
            </a:pPr>
            <a:r>
              <a:rPr lang="en-US" sz="4868" b="true">
                <a:solidFill>
                  <a:srgbClr val="12354D"/>
                </a:solidFill>
                <a:latin typeface="Glacial Indifference Bold"/>
                <a:ea typeface="Glacial Indifference Bold"/>
                <a:cs typeface="Glacial Indifference Bold"/>
                <a:sym typeface="Glacial Indifference Bold"/>
              </a:rPr>
              <a:t>Global Preprocessing Pipeline</a:t>
            </a:r>
          </a:p>
        </p:txBody>
      </p:sp>
      <p:sp>
        <p:nvSpPr>
          <p:cNvPr name="TextBox 19" id="19"/>
          <p:cNvSpPr txBox="true"/>
          <p:nvPr/>
        </p:nvSpPr>
        <p:spPr>
          <a:xfrm rot="0">
            <a:off x="8548393" y="3142449"/>
            <a:ext cx="7108149" cy="548330"/>
          </a:xfrm>
          <a:prstGeom prst="rect">
            <a:avLst/>
          </a:prstGeom>
        </p:spPr>
        <p:txBody>
          <a:bodyPr anchor="t" rtlCol="false" tIns="0" lIns="0" bIns="0" rIns="0">
            <a:spAutoFit/>
          </a:bodyPr>
          <a:lstStyle/>
          <a:p>
            <a:pPr algn="l">
              <a:lnSpc>
                <a:spcPts val="4427"/>
              </a:lnSpc>
            </a:pPr>
            <a:r>
              <a:rPr lang="en-US" sz="3162" b="true">
                <a:solidFill>
                  <a:srgbClr val="12354D"/>
                </a:solidFill>
                <a:latin typeface="Glacial Indifference Bold"/>
                <a:ea typeface="Glacial Indifference Bold"/>
                <a:cs typeface="Glacial Indifference Bold"/>
                <a:sym typeface="Glacial Indifference Bold"/>
              </a:rPr>
              <a:t>Main Steps</a:t>
            </a:r>
          </a:p>
        </p:txBody>
      </p:sp>
      <p:sp>
        <p:nvSpPr>
          <p:cNvPr name="TextBox 20" id="20"/>
          <p:cNvSpPr txBox="true"/>
          <p:nvPr/>
        </p:nvSpPr>
        <p:spPr>
          <a:xfrm rot="0">
            <a:off x="8240093" y="3790575"/>
            <a:ext cx="9019207" cy="2639176"/>
          </a:xfrm>
          <a:prstGeom prst="rect">
            <a:avLst/>
          </a:prstGeom>
        </p:spPr>
        <p:txBody>
          <a:bodyPr anchor="t" rtlCol="false" tIns="0" lIns="0" bIns="0" rIns="0">
            <a:spAutoFit/>
          </a:bodyPr>
          <a:lstStyle/>
          <a:p>
            <a:pPr algn="l" marL="800016" indent="-400008" lvl="1">
              <a:lnSpc>
                <a:spcPts val="5187"/>
              </a:lnSpc>
              <a:buAutoNum type="arabicPeriod" startAt="1"/>
            </a:pPr>
            <a:r>
              <a:rPr lang="en-US" sz="3705">
                <a:solidFill>
                  <a:srgbClr val="12354D"/>
                </a:solidFill>
                <a:latin typeface="Glacial Indifference"/>
                <a:ea typeface="Glacial Indifference"/>
                <a:cs typeface="Glacial Indifference"/>
                <a:sym typeface="Glacial Indifference"/>
              </a:rPr>
              <a:t>Noise removal</a:t>
            </a:r>
          </a:p>
          <a:p>
            <a:pPr algn="l" marL="800016" indent="-400008" lvl="1">
              <a:lnSpc>
                <a:spcPts val="5187"/>
              </a:lnSpc>
              <a:buAutoNum type="arabicPeriod" startAt="1"/>
            </a:pPr>
            <a:r>
              <a:rPr lang="en-US" sz="3705">
                <a:solidFill>
                  <a:srgbClr val="12354D"/>
                </a:solidFill>
                <a:latin typeface="Glacial Indifference"/>
                <a:ea typeface="Glacial Indifference"/>
                <a:cs typeface="Glacial Indifference"/>
                <a:sym typeface="Glacial Indifference"/>
              </a:rPr>
              <a:t>Artifact &amp; background suppression</a:t>
            </a:r>
          </a:p>
          <a:p>
            <a:pPr algn="l" marL="800016" indent="-400008" lvl="1">
              <a:lnSpc>
                <a:spcPts val="5187"/>
              </a:lnSpc>
              <a:buAutoNum type="arabicPeriod" startAt="1"/>
            </a:pPr>
            <a:r>
              <a:rPr lang="en-US" sz="3705">
                <a:solidFill>
                  <a:srgbClr val="12354D"/>
                </a:solidFill>
                <a:latin typeface="Glacial Indifference"/>
                <a:ea typeface="Glacial Indifference"/>
                <a:cs typeface="Glacial Indifference"/>
                <a:sym typeface="Glacial Indifference"/>
              </a:rPr>
              <a:t>Pectoral muscle removal</a:t>
            </a:r>
          </a:p>
          <a:p>
            <a:pPr algn="l" marL="853063" indent="-426532" lvl="1">
              <a:lnSpc>
                <a:spcPts val="5531"/>
              </a:lnSpc>
              <a:buAutoNum type="arabicPeriod" startAt="1"/>
            </a:pPr>
            <a:r>
              <a:rPr lang="en-US" sz="3951">
                <a:solidFill>
                  <a:srgbClr val="12354D"/>
                </a:solidFill>
                <a:latin typeface="Glacial Indifference"/>
                <a:ea typeface="Glacial Indifference"/>
                <a:cs typeface="Glacial Indifference"/>
                <a:sym typeface="Glacial Indifference"/>
              </a:rPr>
              <a:t>ROI extraction and resizing</a:t>
            </a:r>
          </a:p>
        </p:txBody>
      </p:sp>
      <p:sp>
        <p:nvSpPr>
          <p:cNvPr name="TextBox 21" id="21"/>
          <p:cNvSpPr txBox="true"/>
          <p:nvPr/>
        </p:nvSpPr>
        <p:spPr>
          <a:xfrm rot="0">
            <a:off x="8675011" y="7016590"/>
            <a:ext cx="9612989" cy="481304"/>
          </a:xfrm>
          <a:prstGeom prst="rect">
            <a:avLst/>
          </a:prstGeom>
        </p:spPr>
        <p:txBody>
          <a:bodyPr anchor="t" rtlCol="false" tIns="0" lIns="0" bIns="0" rIns="0">
            <a:spAutoFit/>
          </a:bodyPr>
          <a:lstStyle/>
          <a:p>
            <a:pPr algn="l">
              <a:lnSpc>
                <a:spcPts val="3921"/>
              </a:lnSpc>
            </a:pPr>
            <a:r>
              <a:rPr lang="en-US" sz="2801">
                <a:solidFill>
                  <a:srgbClr val="12354D"/>
                </a:solidFill>
                <a:latin typeface="Glacial Indifference"/>
                <a:ea typeface="Glacial Indifference"/>
                <a:cs typeface="Glacial Indifference"/>
                <a:sym typeface="Glacial Indifference"/>
              </a:rPr>
              <a:t>This pipeline is inspired by the report of Dr. Benshessin Nacer</a:t>
            </a:r>
          </a:p>
        </p:txBody>
      </p:sp>
    </p:spTree>
  </p:cSld>
  <p:clrMapOvr>
    <a:masterClrMapping/>
  </p:clrMapOvr>
  <p:transition spd="slow">
    <p:push dir="u"/>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03352" y="-446248"/>
            <a:ext cx="19309293" cy="7760706"/>
            <a:chOff x="0" y="0"/>
            <a:chExt cx="5085575" cy="2043972"/>
          </a:xfrm>
        </p:grpSpPr>
        <p:sp>
          <p:nvSpPr>
            <p:cNvPr name="Freeform 4" id="4"/>
            <p:cNvSpPr/>
            <p:nvPr/>
          </p:nvSpPr>
          <p:spPr>
            <a:xfrm flipH="false" flipV="false" rot="0">
              <a:off x="0" y="0"/>
              <a:ext cx="5085575" cy="2043972"/>
            </a:xfrm>
            <a:custGeom>
              <a:avLst/>
              <a:gdLst/>
              <a:ahLst/>
              <a:cxnLst/>
              <a:rect r="r" b="b" t="t" l="l"/>
              <a:pathLst>
                <a:path h="2043972" w="5085575">
                  <a:moveTo>
                    <a:pt x="0" y="0"/>
                  </a:moveTo>
                  <a:lnTo>
                    <a:pt x="5085575" y="0"/>
                  </a:lnTo>
                  <a:lnTo>
                    <a:pt x="5085575" y="2043972"/>
                  </a:lnTo>
                  <a:lnTo>
                    <a:pt x="0" y="2043972"/>
                  </a:lnTo>
                  <a:close/>
                </a:path>
              </a:pathLst>
            </a:custGeom>
            <a:solidFill>
              <a:srgbClr val="FFFFFF"/>
            </a:solidFill>
          </p:spPr>
        </p:sp>
        <p:sp>
          <p:nvSpPr>
            <p:cNvPr name="TextBox 5" id="5"/>
            <p:cNvSpPr txBox="true"/>
            <p:nvPr/>
          </p:nvSpPr>
          <p:spPr>
            <a:xfrm>
              <a:off x="0" y="-47625"/>
              <a:ext cx="5085575" cy="2091597"/>
            </a:xfrm>
            <a:prstGeom prst="rect">
              <a:avLst/>
            </a:prstGeom>
          </p:spPr>
          <p:txBody>
            <a:bodyPr anchor="ctr" rtlCol="false" tIns="50800" lIns="50800" bIns="50800" rIns="50800"/>
            <a:lstStyle/>
            <a:p>
              <a:pPr algn="ctr">
                <a:lnSpc>
                  <a:spcPts val="3255"/>
                </a:lnSpc>
              </a:pPr>
            </a:p>
          </p:txBody>
        </p:sp>
      </p:grpSp>
      <p:sp>
        <p:nvSpPr>
          <p:cNvPr name="AutoShape 6" id="6"/>
          <p:cNvSpPr/>
          <p:nvPr/>
        </p:nvSpPr>
        <p:spPr>
          <a:xfrm flipH="true" flipV="true">
            <a:off x="8616755" y="1662672"/>
            <a:ext cx="0" cy="4747130"/>
          </a:xfrm>
          <a:prstGeom prst="line">
            <a:avLst/>
          </a:prstGeom>
          <a:ln cap="flat" w="9525">
            <a:solidFill>
              <a:srgbClr val="12354D"/>
            </a:solidFill>
            <a:prstDash val="solid"/>
            <a:headEnd type="none" len="sm" w="sm"/>
            <a:tailEnd type="none" len="sm" w="sm"/>
          </a:ln>
        </p:spPr>
      </p:sp>
      <p:sp>
        <p:nvSpPr>
          <p:cNvPr name="Freeform 7" id="7"/>
          <p:cNvSpPr/>
          <p:nvPr/>
        </p:nvSpPr>
        <p:spPr>
          <a:xfrm flipH="false" flipV="false" rot="0">
            <a:off x="251079" y="2180365"/>
            <a:ext cx="401578" cy="401578"/>
          </a:xfrm>
          <a:custGeom>
            <a:avLst/>
            <a:gdLst/>
            <a:ahLst/>
            <a:cxnLst/>
            <a:rect r="r" b="b" t="t" l="l"/>
            <a:pathLst>
              <a:path h="401578" w="401578">
                <a:moveTo>
                  <a:pt x="0" y="0"/>
                </a:moveTo>
                <a:lnTo>
                  <a:pt x="401579" y="0"/>
                </a:lnTo>
                <a:lnTo>
                  <a:pt x="401579" y="401578"/>
                </a:lnTo>
                <a:lnTo>
                  <a:pt x="0" y="4015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4810317" y="472041"/>
            <a:ext cx="3086100" cy="1113318"/>
            <a:chOff x="0" y="0"/>
            <a:chExt cx="812800" cy="293220"/>
          </a:xfrm>
        </p:grpSpPr>
        <p:sp>
          <p:nvSpPr>
            <p:cNvPr name="Freeform 9" id="9"/>
            <p:cNvSpPr/>
            <p:nvPr/>
          </p:nvSpPr>
          <p:spPr>
            <a:xfrm flipH="false" flipV="false" rot="0">
              <a:off x="0" y="0"/>
              <a:ext cx="812800" cy="293220"/>
            </a:xfrm>
            <a:custGeom>
              <a:avLst/>
              <a:gdLst/>
              <a:ahLst/>
              <a:cxnLst/>
              <a:rect r="r" b="b" t="t" l="l"/>
              <a:pathLst>
                <a:path h="293220" w="812800">
                  <a:moveTo>
                    <a:pt x="127941" y="0"/>
                  </a:moveTo>
                  <a:lnTo>
                    <a:pt x="684859" y="0"/>
                  </a:lnTo>
                  <a:cubicBezTo>
                    <a:pt x="718791" y="0"/>
                    <a:pt x="751333" y="13479"/>
                    <a:pt x="775327" y="37473"/>
                  </a:cubicBezTo>
                  <a:cubicBezTo>
                    <a:pt x="799321" y="61467"/>
                    <a:pt x="812800" y="94009"/>
                    <a:pt x="812800" y="127941"/>
                  </a:cubicBezTo>
                  <a:lnTo>
                    <a:pt x="812800" y="165279"/>
                  </a:lnTo>
                  <a:cubicBezTo>
                    <a:pt x="812800" y="199211"/>
                    <a:pt x="799321" y="231753"/>
                    <a:pt x="775327" y="255747"/>
                  </a:cubicBezTo>
                  <a:cubicBezTo>
                    <a:pt x="751333" y="279740"/>
                    <a:pt x="718791" y="293220"/>
                    <a:pt x="684859" y="293220"/>
                  </a:cubicBezTo>
                  <a:lnTo>
                    <a:pt x="127941" y="293220"/>
                  </a:lnTo>
                  <a:cubicBezTo>
                    <a:pt x="94009" y="293220"/>
                    <a:pt x="61467" y="279740"/>
                    <a:pt x="37473" y="255747"/>
                  </a:cubicBezTo>
                  <a:cubicBezTo>
                    <a:pt x="13479" y="231753"/>
                    <a:pt x="0" y="199211"/>
                    <a:pt x="0" y="165279"/>
                  </a:cubicBezTo>
                  <a:lnTo>
                    <a:pt x="0" y="127941"/>
                  </a:lnTo>
                  <a:cubicBezTo>
                    <a:pt x="0" y="94009"/>
                    <a:pt x="13479" y="61467"/>
                    <a:pt x="37473" y="37473"/>
                  </a:cubicBezTo>
                  <a:cubicBezTo>
                    <a:pt x="61467" y="13479"/>
                    <a:pt x="94009" y="0"/>
                    <a:pt x="127941" y="0"/>
                  </a:cubicBezTo>
                  <a:close/>
                </a:path>
              </a:pathLst>
            </a:custGeom>
            <a:solidFill>
              <a:srgbClr val="00CCFF"/>
            </a:solidFill>
          </p:spPr>
        </p:sp>
        <p:sp>
          <p:nvSpPr>
            <p:cNvPr name="TextBox 10" id="10"/>
            <p:cNvSpPr txBox="true"/>
            <p:nvPr/>
          </p:nvSpPr>
          <p:spPr>
            <a:xfrm>
              <a:off x="0" y="-47625"/>
              <a:ext cx="812800" cy="340845"/>
            </a:xfrm>
            <a:prstGeom prst="rect">
              <a:avLst/>
            </a:prstGeom>
          </p:spPr>
          <p:txBody>
            <a:bodyPr anchor="ctr" rtlCol="false" tIns="50800" lIns="50800" bIns="50800" rIns="50800"/>
            <a:lstStyle/>
            <a:p>
              <a:pPr algn="ctr">
                <a:lnSpc>
                  <a:spcPts val="3255"/>
                </a:lnSpc>
              </a:pPr>
            </a:p>
          </p:txBody>
        </p:sp>
      </p:grpSp>
      <p:grpSp>
        <p:nvGrpSpPr>
          <p:cNvPr name="Group 11" id="11"/>
          <p:cNvGrpSpPr/>
          <p:nvPr/>
        </p:nvGrpSpPr>
        <p:grpSpPr>
          <a:xfrm rot="0">
            <a:off x="16948974" y="634247"/>
            <a:ext cx="679337" cy="788905"/>
            <a:chOff x="0" y="0"/>
            <a:chExt cx="812800" cy="943895"/>
          </a:xfrm>
        </p:grpSpPr>
        <p:sp>
          <p:nvSpPr>
            <p:cNvPr name="Freeform 12" id="12"/>
            <p:cNvSpPr/>
            <p:nvPr/>
          </p:nvSpPr>
          <p:spPr>
            <a:xfrm flipH="false" flipV="false" rot="0">
              <a:off x="0" y="0"/>
              <a:ext cx="812800" cy="943895"/>
            </a:xfrm>
            <a:custGeom>
              <a:avLst/>
              <a:gdLst/>
              <a:ahLst/>
              <a:cxnLst/>
              <a:rect r="r" b="b" t="t" l="l"/>
              <a:pathLst>
                <a:path h="943895" w="812800">
                  <a:moveTo>
                    <a:pt x="406400" y="0"/>
                  </a:moveTo>
                  <a:cubicBezTo>
                    <a:pt x="181951" y="0"/>
                    <a:pt x="0" y="211298"/>
                    <a:pt x="0" y="471947"/>
                  </a:cubicBezTo>
                  <a:cubicBezTo>
                    <a:pt x="0" y="732597"/>
                    <a:pt x="181951" y="943895"/>
                    <a:pt x="406400" y="943895"/>
                  </a:cubicBezTo>
                  <a:cubicBezTo>
                    <a:pt x="630849" y="943895"/>
                    <a:pt x="812800" y="732597"/>
                    <a:pt x="812800" y="471947"/>
                  </a:cubicBezTo>
                  <a:cubicBezTo>
                    <a:pt x="812800" y="211298"/>
                    <a:pt x="630849" y="0"/>
                    <a:pt x="406400" y="0"/>
                  </a:cubicBezTo>
                  <a:close/>
                </a:path>
              </a:pathLst>
            </a:custGeom>
            <a:solidFill>
              <a:srgbClr val="FFFFFF"/>
            </a:solidFill>
          </p:spPr>
        </p:sp>
        <p:sp>
          <p:nvSpPr>
            <p:cNvPr name="TextBox 13" id="13"/>
            <p:cNvSpPr txBox="true"/>
            <p:nvPr/>
          </p:nvSpPr>
          <p:spPr>
            <a:xfrm>
              <a:off x="76200" y="40865"/>
              <a:ext cx="660400" cy="814539"/>
            </a:xfrm>
            <a:prstGeom prst="rect">
              <a:avLst/>
            </a:prstGeom>
          </p:spPr>
          <p:txBody>
            <a:bodyPr anchor="ctr" rtlCol="false" tIns="50800" lIns="50800" bIns="50800" rIns="50800"/>
            <a:lstStyle/>
            <a:p>
              <a:pPr algn="ctr">
                <a:lnSpc>
                  <a:spcPts val="3255"/>
                </a:lnSpc>
              </a:pPr>
            </a:p>
          </p:txBody>
        </p:sp>
      </p:grpSp>
      <p:sp>
        <p:nvSpPr>
          <p:cNvPr name="Freeform 14" id="14"/>
          <p:cNvSpPr/>
          <p:nvPr/>
        </p:nvSpPr>
        <p:spPr>
          <a:xfrm flipH="false" flipV="false" rot="0">
            <a:off x="16941937" y="6180330"/>
            <a:ext cx="1346063" cy="814531"/>
          </a:xfrm>
          <a:custGeom>
            <a:avLst/>
            <a:gdLst/>
            <a:ahLst/>
            <a:cxnLst/>
            <a:rect r="r" b="b" t="t" l="l"/>
            <a:pathLst>
              <a:path h="814531" w="1346063">
                <a:moveTo>
                  <a:pt x="0" y="0"/>
                </a:moveTo>
                <a:lnTo>
                  <a:pt x="1346063" y="0"/>
                </a:lnTo>
                <a:lnTo>
                  <a:pt x="1346063" y="814531"/>
                </a:lnTo>
                <a:lnTo>
                  <a:pt x="0" y="814531"/>
                </a:lnTo>
                <a:lnTo>
                  <a:pt x="0" y="0"/>
                </a:lnTo>
                <a:close/>
              </a:path>
            </a:pathLst>
          </a:custGeom>
          <a:blipFill>
            <a:blip r:embed="rId5">
              <a:extLst>
                <a:ext uri="{96DAC541-7B7A-43D3-8B79-37D633B846F1}">
                  <asvg:svgBlip xmlns:asvg="http://schemas.microsoft.com/office/drawing/2016/SVG/main" r:embed="rId6"/>
                </a:ext>
              </a:extLst>
            </a:blip>
            <a:stretch>
              <a:fillRect l="0" t="-97320" r="0" b="0"/>
            </a:stretch>
          </a:blipFill>
        </p:spPr>
      </p:sp>
      <p:sp>
        <p:nvSpPr>
          <p:cNvPr name="Freeform 15" id="15"/>
          <p:cNvSpPr/>
          <p:nvPr/>
        </p:nvSpPr>
        <p:spPr>
          <a:xfrm flipH="false" flipV="false" rot="2700000">
            <a:off x="3000507" y="5686078"/>
            <a:ext cx="4912090" cy="6237575"/>
          </a:xfrm>
          <a:custGeom>
            <a:avLst/>
            <a:gdLst/>
            <a:ahLst/>
            <a:cxnLst/>
            <a:rect r="r" b="b" t="t" l="l"/>
            <a:pathLst>
              <a:path h="6237575" w="4912090">
                <a:moveTo>
                  <a:pt x="0" y="0"/>
                </a:moveTo>
                <a:lnTo>
                  <a:pt x="4912090" y="0"/>
                </a:lnTo>
                <a:lnTo>
                  <a:pt x="4912090" y="6237575"/>
                </a:lnTo>
                <a:lnTo>
                  <a:pt x="0" y="62375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2700000">
            <a:off x="10334337" y="5686078"/>
            <a:ext cx="4912090" cy="6237575"/>
          </a:xfrm>
          <a:custGeom>
            <a:avLst/>
            <a:gdLst/>
            <a:ahLst/>
            <a:cxnLst/>
            <a:rect r="r" b="b" t="t" l="l"/>
            <a:pathLst>
              <a:path h="6237575" w="4912090">
                <a:moveTo>
                  <a:pt x="0" y="0"/>
                </a:moveTo>
                <a:lnTo>
                  <a:pt x="4912090" y="0"/>
                </a:lnTo>
                <a:lnTo>
                  <a:pt x="4912090" y="6237575"/>
                </a:lnTo>
                <a:lnTo>
                  <a:pt x="0" y="62375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7" id="17"/>
          <p:cNvSpPr txBox="true"/>
          <p:nvPr/>
        </p:nvSpPr>
        <p:spPr>
          <a:xfrm rot="0">
            <a:off x="1028700" y="2949792"/>
            <a:ext cx="6360881" cy="1298845"/>
          </a:xfrm>
          <a:prstGeom prst="rect">
            <a:avLst/>
          </a:prstGeom>
        </p:spPr>
        <p:txBody>
          <a:bodyPr anchor="t" rtlCol="false" tIns="0" lIns="0" bIns="0" rIns="0">
            <a:spAutoFit/>
          </a:bodyPr>
          <a:lstStyle/>
          <a:p>
            <a:pPr algn="l" marL="780231" indent="-390116" lvl="1">
              <a:lnSpc>
                <a:spcPts val="5059"/>
              </a:lnSpc>
              <a:buFont typeface="Arial"/>
              <a:buChar char="•"/>
            </a:pPr>
            <a:r>
              <a:rPr lang="en-US" sz="3613">
                <a:solidFill>
                  <a:srgbClr val="12354D"/>
                </a:solidFill>
                <a:latin typeface="Glacial Indifference"/>
                <a:ea typeface="Glacial Indifference"/>
                <a:cs typeface="Glacial Indifference"/>
                <a:sym typeface="Glacial Indifference"/>
              </a:rPr>
              <a:t>Improve image quality</a:t>
            </a:r>
          </a:p>
          <a:p>
            <a:pPr algn="l" marL="835658" indent="-417829" lvl="1">
              <a:lnSpc>
                <a:spcPts val="5418"/>
              </a:lnSpc>
              <a:buFont typeface="Arial"/>
              <a:buChar char="•"/>
            </a:pPr>
            <a:r>
              <a:rPr lang="en-US" sz="3870">
                <a:solidFill>
                  <a:srgbClr val="12354D"/>
                </a:solidFill>
                <a:latin typeface="Glacial Indifference"/>
                <a:ea typeface="Glacial Indifference"/>
                <a:cs typeface="Glacial Indifference"/>
                <a:sym typeface="Glacial Indifference"/>
              </a:rPr>
              <a:t>Preserve important edges</a:t>
            </a:r>
          </a:p>
        </p:txBody>
      </p:sp>
      <p:sp>
        <p:nvSpPr>
          <p:cNvPr name="TextBox 18" id="18"/>
          <p:cNvSpPr txBox="true"/>
          <p:nvPr/>
        </p:nvSpPr>
        <p:spPr>
          <a:xfrm rot="0">
            <a:off x="562334" y="345549"/>
            <a:ext cx="12552790" cy="1317172"/>
          </a:xfrm>
          <a:prstGeom prst="rect">
            <a:avLst/>
          </a:prstGeom>
        </p:spPr>
        <p:txBody>
          <a:bodyPr anchor="t" rtlCol="false" tIns="0" lIns="0" bIns="0" rIns="0">
            <a:spAutoFit/>
          </a:bodyPr>
          <a:lstStyle/>
          <a:p>
            <a:pPr algn="l">
              <a:lnSpc>
                <a:spcPts val="9857"/>
              </a:lnSpc>
            </a:pPr>
            <a:r>
              <a:rPr lang="en-US" sz="9857" b="true">
                <a:solidFill>
                  <a:srgbClr val="12354D"/>
                </a:solidFill>
                <a:latin typeface="Glacial Indifference Bold"/>
                <a:ea typeface="Glacial Indifference Bold"/>
                <a:cs typeface="Glacial Indifference Bold"/>
                <a:sym typeface="Glacial Indifference Bold"/>
              </a:rPr>
              <a:t>Step 1: Noise Removal</a:t>
            </a:r>
          </a:p>
        </p:txBody>
      </p:sp>
      <p:sp>
        <p:nvSpPr>
          <p:cNvPr name="TextBox 19" id="19"/>
          <p:cNvSpPr txBox="true"/>
          <p:nvPr/>
        </p:nvSpPr>
        <p:spPr>
          <a:xfrm rot="0">
            <a:off x="897770" y="1954508"/>
            <a:ext cx="4289722" cy="758042"/>
          </a:xfrm>
          <a:prstGeom prst="rect">
            <a:avLst/>
          </a:prstGeom>
        </p:spPr>
        <p:txBody>
          <a:bodyPr anchor="t" rtlCol="false" tIns="0" lIns="0" bIns="0" rIns="0">
            <a:spAutoFit/>
          </a:bodyPr>
          <a:lstStyle/>
          <a:p>
            <a:pPr algn="l">
              <a:lnSpc>
                <a:spcPts val="6141"/>
              </a:lnSpc>
            </a:pPr>
            <a:r>
              <a:rPr lang="en-US" sz="4386" b="true">
                <a:solidFill>
                  <a:srgbClr val="12354D"/>
                </a:solidFill>
                <a:latin typeface="Glacial Indifference Bold"/>
                <a:ea typeface="Glacial Indifference Bold"/>
                <a:cs typeface="Glacial Indifference Bold"/>
                <a:sym typeface="Glacial Indifference Bold"/>
              </a:rPr>
              <a:t>Objective</a:t>
            </a:r>
          </a:p>
        </p:txBody>
      </p:sp>
      <p:sp>
        <p:nvSpPr>
          <p:cNvPr name="Freeform 20" id="20"/>
          <p:cNvSpPr/>
          <p:nvPr/>
        </p:nvSpPr>
        <p:spPr>
          <a:xfrm flipH="false" flipV="false" rot="0">
            <a:off x="251079" y="4984534"/>
            <a:ext cx="401578" cy="401578"/>
          </a:xfrm>
          <a:custGeom>
            <a:avLst/>
            <a:gdLst/>
            <a:ahLst/>
            <a:cxnLst/>
            <a:rect r="r" b="b" t="t" l="l"/>
            <a:pathLst>
              <a:path h="401578" w="401578">
                <a:moveTo>
                  <a:pt x="0" y="0"/>
                </a:moveTo>
                <a:lnTo>
                  <a:pt x="401579" y="0"/>
                </a:lnTo>
                <a:lnTo>
                  <a:pt x="401579" y="401578"/>
                </a:lnTo>
                <a:lnTo>
                  <a:pt x="0" y="4015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897770" y="4758677"/>
            <a:ext cx="4289722" cy="758042"/>
          </a:xfrm>
          <a:prstGeom prst="rect">
            <a:avLst/>
          </a:prstGeom>
        </p:spPr>
        <p:txBody>
          <a:bodyPr anchor="t" rtlCol="false" tIns="0" lIns="0" bIns="0" rIns="0">
            <a:spAutoFit/>
          </a:bodyPr>
          <a:lstStyle/>
          <a:p>
            <a:pPr algn="l">
              <a:lnSpc>
                <a:spcPts val="6141"/>
              </a:lnSpc>
            </a:pPr>
            <a:r>
              <a:rPr lang="en-US" sz="4386" b="true">
                <a:solidFill>
                  <a:srgbClr val="12354D"/>
                </a:solidFill>
                <a:latin typeface="Glacial Indifference Bold"/>
                <a:ea typeface="Glacial Indifference Bold"/>
                <a:cs typeface="Glacial Indifference Bold"/>
                <a:sym typeface="Glacial Indifference Bold"/>
              </a:rPr>
              <a:t>Method Used</a:t>
            </a:r>
          </a:p>
        </p:txBody>
      </p:sp>
      <p:sp>
        <p:nvSpPr>
          <p:cNvPr name="TextBox 22" id="22"/>
          <p:cNvSpPr txBox="true"/>
          <p:nvPr/>
        </p:nvSpPr>
        <p:spPr>
          <a:xfrm rot="0">
            <a:off x="1028700" y="5734201"/>
            <a:ext cx="6604362" cy="675601"/>
          </a:xfrm>
          <a:prstGeom prst="rect">
            <a:avLst/>
          </a:prstGeom>
        </p:spPr>
        <p:txBody>
          <a:bodyPr anchor="t" rtlCol="false" tIns="0" lIns="0" bIns="0" rIns="0">
            <a:spAutoFit/>
          </a:bodyPr>
          <a:lstStyle/>
          <a:p>
            <a:pPr algn="l" marL="835658" indent="-417829" lvl="1">
              <a:lnSpc>
                <a:spcPts val="5418"/>
              </a:lnSpc>
              <a:buFont typeface="Arial"/>
              <a:buChar char="•"/>
            </a:pPr>
            <a:r>
              <a:rPr lang="en-US" sz="3870">
                <a:solidFill>
                  <a:srgbClr val="12354D"/>
                </a:solidFill>
                <a:latin typeface="Glacial Indifference"/>
                <a:ea typeface="Glacial Indifference"/>
                <a:cs typeface="Glacial Indifference"/>
                <a:sym typeface="Glacial Indifference"/>
              </a:rPr>
              <a:t>Median filt</a:t>
            </a:r>
            <a:r>
              <a:rPr lang="en-US" sz="3870">
                <a:solidFill>
                  <a:srgbClr val="12354D"/>
                </a:solidFill>
                <a:latin typeface="Glacial Indifference"/>
                <a:ea typeface="Glacial Indifference"/>
                <a:cs typeface="Glacial Indifference"/>
                <a:sym typeface="Glacial Indifference"/>
              </a:rPr>
              <a:t>er (3×3)</a:t>
            </a:r>
          </a:p>
        </p:txBody>
      </p:sp>
      <p:sp>
        <p:nvSpPr>
          <p:cNvPr name="Freeform 23" id="23"/>
          <p:cNvSpPr/>
          <p:nvPr/>
        </p:nvSpPr>
        <p:spPr>
          <a:xfrm flipH="false" flipV="false" rot="0">
            <a:off x="8929153" y="2041088"/>
            <a:ext cx="401578" cy="401578"/>
          </a:xfrm>
          <a:custGeom>
            <a:avLst/>
            <a:gdLst/>
            <a:ahLst/>
            <a:cxnLst/>
            <a:rect r="r" b="b" t="t" l="l"/>
            <a:pathLst>
              <a:path h="401578" w="401578">
                <a:moveTo>
                  <a:pt x="0" y="0"/>
                </a:moveTo>
                <a:lnTo>
                  <a:pt x="401578" y="0"/>
                </a:lnTo>
                <a:lnTo>
                  <a:pt x="401578" y="401578"/>
                </a:lnTo>
                <a:lnTo>
                  <a:pt x="0" y="4015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4" id="24"/>
          <p:cNvSpPr txBox="true"/>
          <p:nvPr/>
        </p:nvSpPr>
        <p:spPr>
          <a:xfrm rot="0">
            <a:off x="9575843" y="1815231"/>
            <a:ext cx="4289722" cy="758042"/>
          </a:xfrm>
          <a:prstGeom prst="rect">
            <a:avLst/>
          </a:prstGeom>
        </p:spPr>
        <p:txBody>
          <a:bodyPr anchor="t" rtlCol="false" tIns="0" lIns="0" bIns="0" rIns="0">
            <a:spAutoFit/>
          </a:bodyPr>
          <a:lstStyle/>
          <a:p>
            <a:pPr algn="l">
              <a:lnSpc>
                <a:spcPts val="6141"/>
              </a:lnSpc>
            </a:pPr>
            <a:r>
              <a:rPr lang="en-US" sz="4386" b="true">
                <a:solidFill>
                  <a:srgbClr val="12354D"/>
                </a:solidFill>
                <a:latin typeface="Glacial Indifference Bold"/>
                <a:ea typeface="Glacial Indifference Bold"/>
                <a:cs typeface="Glacial Indifference Bold"/>
                <a:sym typeface="Glacial Indifference Bold"/>
              </a:rPr>
              <a:t>Method Used</a:t>
            </a:r>
          </a:p>
        </p:txBody>
      </p:sp>
      <p:sp>
        <p:nvSpPr>
          <p:cNvPr name="TextBox 25" id="25"/>
          <p:cNvSpPr txBox="true"/>
          <p:nvPr/>
        </p:nvSpPr>
        <p:spPr>
          <a:xfrm rot="0">
            <a:off x="9398554" y="2835689"/>
            <a:ext cx="6604362" cy="2740169"/>
          </a:xfrm>
          <a:prstGeom prst="rect">
            <a:avLst/>
          </a:prstGeom>
        </p:spPr>
        <p:txBody>
          <a:bodyPr anchor="t" rtlCol="false" tIns="0" lIns="0" bIns="0" rIns="0">
            <a:spAutoFit/>
          </a:bodyPr>
          <a:lstStyle/>
          <a:p>
            <a:pPr algn="l" marL="835658" indent="-417829" lvl="1">
              <a:lnSpc>
                <a:spcPts val="5418"/>
              </a:lnSpc>
              <a:buFont typeface="Arial"/>
              <a:buChar char="•"/>
            </a:pPr>
            <a:r>
              <a:rPr lang="en-US" sz="3870">
                <a:solidFill>
                  <a:srgbClr val="12354D"/>
                </a:solidFill>
                <a:latin typeface="Glacial Indifference"/>
                <a:ea typeface="Glacial Indifference"/>
                <a:cs typeface="Glacial Indifference"/>
                <a:sym typeface="Glacial Indifference"/>
              </a:rPr>
              <a:t>Removes impulsive and small Gaussian noise</a:t>
            </a:r>
          </a:p>
          <a:p>
            <a:pPr algn="l" marL="835658" indent="-417829" lvl="1">
              <a:lnSpc>
                <a:spcPts val="5418"/>
              </a:lnSpc>
              <a:buFont typeface="Arial"/>
              <a:buChar char="•"/>
            </a:pPr>
            <a:r>
              <a:rPr lang="en-US" sz="3870">
                <a:solidFill>
                  <a:srgbClr val="12354D"/>
                </a:solidFill>
                <a:latin typeface="Glacial Indifference"/>
                <a:ea typeface="Glacial Indifference"/>
                <a:cs typeface="Glacial Indifference"/>
                <a:sym typeface="Glacial Indifference"/>
              </a:rPr>
              <a:t>Preserves edges better than linear filt</a:t>
            </a:r>
            <a:r>
              <a:rPr lang="en-US" sz="3870">
                <a:solidFill>
                  <a:srgbClr val="12354D"/>
                </a:solidFill>
                <a:latin typeface="Glacial Indifference"/>
                <a:ea typeface="Glacial Indifference"/>
                <a:cs typeface="Glacial Indifference"/>
                <a:sym typeface="Glacial Indifference"/>
              </a:rPr>
              <a:t>ers</a:t>
            </a:r>
          </a:p>
        </p:txBody>
      </p:sp>
    </p:spTree>
  </p:cSld>
  <p:clrMapOvr>
    <a:masterClrMapping/>
  </p:clrMapOvr>
  <p:transition spd="slow">
    <p:push dir="u"/>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03352" y="-446248"/>
            <a:ext cx="19309293" cy="2335786"/>
            <a:chOff x="0" y="0"/>
            <a:chExt cx="5085575" cy="615187"/>
          </a:xfrm>
        </p:grpSpPr>
        <p:sp>
          <p:nvSpPr>
            <p:cNvPr name="Freeform 4" id="4"/>
            <p:cNvSpPr/>
            <p:nvPr/>
          </p:nvSpPr>
          <p:spPr>
            <a:xfrm flipH="false" flipV="false" rot="0">
              <a:off x="0" y="0"/>
              <a:ext cx="5085575" cy="615187"/>
            </a:xfrm>
            <a:custGeom>
              <a:avLst/>
              <a:gdLst/>
              <a:ahLst/>
              <a:cxnLst/>
              <a:rect r="r" b="b" t="t" l="l"/>
              <a:pathLst>
                <a:path h="615187" w="5085575">
                  <a:moveTo>
                    <a:pt x="0" y="0"/>
                  </a:moveTo>
                  <a:lnTo>
                    <a:pt x="5085575" y="0"/>
                  </a:lnTo>
                  <a:lnTo>
                    <a:pt x="5085575" y="615187"/>
                  </a:lnTo>
                  <a:lnTo>
                    <a:pt x="0" y="615187"/>
                  </a:lnTo>
                  <a:close/>
                </a:path>
              </a:pathLst>
            </a:custGeom>
            <a:solidFill>
              <a:srgbClr val="FFFFFF"/>
            </a:solidFill>
          </p:spPr>
        </p:sp>
        <p:sp>
          <p:nvSpPr>
            <p:cNvPr name="TextBox 5" id="5"/>
            <p:cNvSpPr txBox="true"/>
            <p:nvPr/>
          </p:nvSpPr>
          <p:spPr>
            <a:xfrm>
              <a:off x="0" y="-47625"/>
              <a:ext cx="5085575" cy="662812"/>
            </a:xfrm>
            <a:prstGeom prst="rect">
              <a:avLst/>
            </a:prstGeom>
          </p:spPr>
          <p:txBody>
            <a:bodyPr anchor="ctr" rtlCol="false" tIns="50800" lIns="50800" bIns="50800" rIns="50800"/>
            <a:lstStyle/>
            <a:p>
              <a:pPr algn="ctr">
                <a:lnSpc>
                  <a:spcPts val="3255"/>
                </a:lnSpc>
              </a:pPr>
            </a:p>
          </p:txBody>
        </p:sp>
      </p:grpSp>
      <p:grpSp>
        <p:nvGrpSpPr>
          <p:cNvPr name="Group 6" id="6"/>
          <p:cNvGrpSpPr/>
          <p:nvPr/>
        </p:nvGrpSpPr>
        <p:grpSpPr>
          <a:xfrm rot="0">
            <a:off x="14810317" y="472041"/>
            <a:ext cx="3086100" cy="1113318"/>
            <a:chOff x="0" y="0"/>
            <a:chExt cx="812800" cy="293220"/>
          </a:xfrm>
        </p:grpSpPr>
        <p:sp>
          <p:nvSpPr>
            <p:cNvPr name="Freeform 7" id="7"/>
            <p:cNvSpPr/>
            <p:nvPr/>
          </p:nvSpPr>
          <p:spPr>
            <a:xfrm flipH="false" flipV="false" rot="0">
              <a:off x="0" y="0"/>
              <a:ext cx="812800" cy="293220"/>
            </a:xfrm>
            <a:custGeom>
              <a:avLst/>
              <a:gdLst/>
              <a:ahLst/>
              <a:cxnLst/>
              <a:rect r="r" b="b" t="t" l="l"/>
              <a:pathLst>
                <a:path h="293220" w="812800">
                  <a:moveTo>
                    <a:pt x="127941" y="0"/>
                  </a:moveTo>
                  <a:lnTo>
                    <a:pt x="684859" y="0"/>
                  </a:lnTo>
                  <a:cubicBezTo>
                    <a:pt x="718791" y="0"/>
                    <a:pt x="751333" y="13479"/>
                    <a:pt x="775327" y="37473"/>
                  </a:cubicBezTo>
                  <a:cubicBezTo>
                    <a:pt x="799321" y="61467"/>
                    <a:pt x="812800" y="94009"/>
                    <a:pt x="812800" y="127941"/>
                  </a:cubicBezTo>
                  <a:lnTo>
                    <a:pt x="812800" y="165279"/>
                  </a:lnTo>
                  <a:cubicBezTo>
                    <a:pt x="812800" y="199211"/>
                    <a:pt x="799321" y="231753"/>
                    <a:pt x="775327" y="255747"/>
                  </a:cubicBezTo>
                  <a:cubicBezTo>
                    <a:pt x="751333" y="279740"/>
                    <a:pt x="718791" y="293220"/>
                    <a:pt x="684859" y="293220"/>
                  </a:cubicBezTo>
                  <a:lnTo>
                    <a:pt x="127941" y="293220"/>
                  </a:lnTo>
                  <a:cubicBezTo>
                    <a:pt x="94009" y="293220"/>
                    <a:pt x="61467" y="279740"/>
                    <a:pt x="37473" y="255747"/>
                  </a:cubicBezTo>
                  <a:cubicBezTo>
                    <a:pt x="13479" y="231753"/>
                    <a:pt x="0" y="199211"/>
                    <a:pt x="0" y="165279"/>
                  </a:cubicBezTo>
                  <a:lnTo>
                    <a:pt x="0" y="127941"/>
                  </a:lnTo>
                  <a:cubicBezTo>
                    <a:pt x="0" y="94009"/>
                    <a:pt x="13479" y="61467"/>
                    <a:pt x="37473" y="37473"/>
                  </a:cubicBezTo>
                  <a:cubicBezTo>
                    <a:pt x="61467" y="13479"/>
                    <a:pt x="94009" y="0"/>
                    <a:pt x="127941" y="0"/>
                  </a:cubicBezTo>
                  <a:close/>
                </a:path>
              </a:pathLst>
            </a:custGeom>
            <a:solidFill>
              <a:srgbClr val="00CCFF"/>
            </a:solidFill>
          </p:spPr>
        </p:sp>
        <p:sp>
          <p:nvSpPr>
            <p:cNvPr name="TextBox 8" id="8"/>
            <p:cNvSpPr txBox="true"/>
            <p:nvPr/>
          </p:nvSpPr>
          <p:spPr>
            <a:xfrm>
              <a:off x="0" y="-47625"/>
              <a:ext cx="812800" cy="340845"/>
            </a:xfrm>
            <a:prstGeom prst="rect">
              <a:avLst/>
            </a:prstGeom>
          </p:spPr>
          <p:txBody>
            <a:bodyPr anchor="ctr" rtlCol="false" tIns="50800" lIns="50800" bIns="50800" rIns="50800"/>
            <a:lstStyle/>
            <a:p>
              <a:pPr algn="ctr">
                <a:lnSpc>
                  <a:spcPts val="3255"/>
                </a:lnSpc>
              </a:pPr>
            </a:p>
          </p:txBody>
        </p:sp>
      </p:grpSp>
      <p:grpSp>
        <p:nvGrpSpPr>
          <p:cNvPr name="Group 9" id="9"/>
          <p:cNvGrpSpPr/>
          <p:nvPr/>
        </p:nvGrpSpPr>
        <p:grpSpPr>
          <a:xfrm rot="0">
            <a:off x="16948974" y="634247"/>
            <a:ext cx="679337" cy="788905"/>
            <a:chOff x="0" y="0"/>
            <a:chExt cx="812800" cy="943895"/>
          </a:xfrm>
        </p:grpSpPr>
        <p:sp>
          <p:nvSpPr>
            <p:cNvPr name="Freeform 10" id="10"/>
            <p:cNvSpPr/>
            <p:nvPr/>
          </p:nvSpPr>
          <p:spPr>
            <a:xfrm flipH="false" flipV="false" rot="0">
              <a:off x="0" y="0"/>
              <a:ext cx="812800" cy="943895"/>
            </a:xfrm>
            <a:custGeom>
              <a:avLst/>
              <a:gdLst/>
              <a:ahLst/>
              <a:cxnLst/>
              <a:rect r="r" b="b" t="t" l="l"/>
              <a:pathLst>
                <a:path h="943895" w="812800">
                  <a:moveTo>
                    <a:pt x="406400" y="0"/>
                  </a:moveTo>
                  <a:cubicBezTo>
                    <a:pt x="181951" y="0"/>
                    <a:pt x="0" y="211298"/>
                    <a:pt x="0" y="471947"/>
                  </a:cubicBezTo>
                  <a:cubicBezTo>
                    <a:pt x="0" y="732597"/>
                    <a:pt x="181951" y="943895"/>
                    <a:pt x="406400" y="943895"/>
                  </a:cubicBezTo>
                  <a:cubicBezTo>
                    <a:pt x="630849" y="943895"/>
                    <a:pt x="812800" y="732597"/>
                    <a:pt x="812800" y="471947"/>
                  </a:cubicBezTo>
                  <a:cubicBezTo>
                    <a:pt x="812800" y="211298"/>
                    <a:pt x="630849" y="0"/>
                    <a:pt x="406400" y="0"/>
                  </a:cubicBezTo>
                  <a:close/>
                </a:path>
              </a:pathLst>
            </a:custGeom>
            <a:solidFill>
              <a:srgbClr val="FFFFFF"/>
            </a:solidFill>
          </p:spPr>
        </p:sp>
        <p:sp>
          <p:nvSpPr>
            <p:cNvPr name="TextBox 11" id="11"/>
            <p:cNvSpPr txBox="true"/>
            <p:nvPr/>
          </p:nvSpPr>
          <p:spPr>
            <a:xfrm>
              <a:off x="76200" y="40865"/>
              <a:ext cx="660400" cy="814539"/>
            </a:xfrm>
            <a:prstGeom prst="rect">
              <a:avLst/>
            </a:prstGeom>
          </p:spPr>
          <p:txBody>
            <a:bodyPr anchor="ctr" rtlCol="false" tIns="50800" lIns="50800" bIns="50800" rIns="50800"/>
            <a:lstStyle/>
            <a:p>
              <a:pPr algn="ctr">
                <a:lnSpc>
                  <a:spcPts val="3255"/>
                </a:lnSpc>
              </a:pPr>
            </a:p>
          </p:txBody>
        </p:sp>
      </p:grpSp>
      <p:grpSp>
        <p:nvGrpSpPr>
          <p:cNvPr name="Group 12" id="12"/>
          <p:cNvGrpSpPr/>
          <p:nvPr/>
        </p:nvGrpSpPr>
        <p:grpSpPr>
          <a:xfrm rot="0">
            <a:off x="1427944" y="3997783"/>
            <a:ext cx="15083951" cy="1397847"/>
            <a:chOff x="0" y="0"/>
            <a:chExt cx="3972728" cy="368157"/>
          </a:xfrm>
        </p:grpSpPr>
        <p:sp>
          <p:nvSpPr>
            <p:cNvPr name="Freeform 13" id="13"/>
            <p:cNvSpPr/>
            <p:nvPr/>
          </p:nvSpPr>
          <p:spPr>
            <a:xfrm flipH="false" flipV="false" rot="0">
              <a:off x="0" y="0"/>
              <a:ext cx="3972728" cy="368157"/>
            </a:xfrm>
            <a:custGeom>
              <a:avLst/>
              <a:gdLst/>
              <a:ahLst/>
              <a:cxnLst/>
              <a:rect r="r" b="b" t="t" l="l"/>
              <a:pathLst>
                <a:path h="368157" w="3972728">
                  <a:moveTo>
                    <a:pt x="26176" y="0"/>
                  </a:moveTo>
                  <a:lnTo>
                    <a:pt x="3946552" y="0"/>
                  </a:lnTo>
                  <a:cubicBezTo>
                    <a:pt x="3961008" y="0"/>
                    <a:pt x="3972728" y="11719"/>
                    <a:pt x="3972728" y="26176"/>
                  </a:cubicBezTo>
                  <a:lnTo>
                    <a:pt x="3972728" y="341981"/>
                  </a:lnTo>
                  <a:cubicBezTo>
                    <a:pt x="3972728" y="356438"/>
                    <a:pt x="3961008" y="368157"/>
                    <a:pt x="3946552" y="368157"/>
                  </a:cubicBezTo>
                  <a:lnTo>
                    <a:pt x="26176" y="368157"/>
                  </a:lnTo>
                  <a:cubicBezTo>
                    <a:pt x="19234" y="368157"/>
                    <a:pt x="12576" y="365399"/>
                    <a:pt x="7667" y="360490"/>
                  </a:cubicBezTo>
                  <a:cubicBezTo>
                    <a:pt x="2758" y="355582"/>
                    <a:pt x="0" y="348924"/>
                    <a:pt x="0" y="341981"/>
                  </a:cubicBezTo>
                  <a:lnTo>
                    <a:pt x="0" y="26176"/>
                  </a:lnTo>
                  <a:cubicBezTo>
                    <a:pt x="0" y="11719"/>
                    <a:pt x="11719" y="0"/>
                    <a:pt x="26176" y="0"/>
                  </a:cubicBezTo>
                  <a:close/>
                </a:path>
              </a:pathLst>
            </a:custGeom>
            <a:solidFill>
              <a:srgbClr val="81A2B9"/>
            </a:solidFill>
          </p:spPr>
        </p:sp>
        <p:sp>
          <p:nvSpPr>
            <p:cNvPr name="TextBox 14" id="14"/>
            <p:cNvSpPr txBox="true"/>
            <p:nvPr/>
          </p:nvSpPr>
          <p:spPr>
            <a:xfrm>
              <a:off x="0" y="-47625"/>
              <a:ext cx="3972728" cy="415782"/>
            </a:xfrm>
            <a:prstGeom prst="rect">
              <a:avLst/>
            </a:prstGeom>
          </p:spPr>
          <p:txBody>
            <a:bodyPr anchor="ctr" rtlCol="false" tIns="50800" lIns="50800" bIns="50800" rIns="50800"/>
            <a:lstStyle/>
            <a:p>
              <a:pPr algn="ctr">
                <a:lnSpc>
                  <a:spcPts val="3255"/>
                </a:lnSpc>
              </a:pPr>
            </a:p>
          </p:txBody>
        </p:sp>
      </p:grpSp>
      <p:sp>
        <p:nvSpPr>
          <p:cNvPr name="TextBox 15" id="15"/>
          <p:cNvSpPr txBox="true"/>
          <p:nvPr/>
        </p:nvSpPr>
        <p:spPr>
          <a:xfrm rot="0">
            <a:off x="562334" y="345549"/>
            <a:ext cx="12552790" cy="1317172"/>
          </a:xfrm>
          <a:prstGeom prst="rect">
            <a:avLst/>
          </a:prstGeom>
        </p:spPr>
        <p:txBody>
          <a:bodyPr anchor="t" rtlCol="false" tIns="0" lIns="0" bIns="0" rIns="0">
            <a:spAutoFit/>
          </a:bodyPr>
          <a:lstStyle/>
          <a:p>
            <a:pPr algn="l">
              <a:lnSpc>
                <a:spcPts val="9857"/>
              </a:lnSpc>
            </a:pPr>
            <a:r>
              <a:rPr lang="en-US" sz="9857" b="true">
                <a:solidFill>
                  <a:srgbClr val="12354D"/>
                </a:solidFill>
                <a:latin typeface="Glacial Indifference Bold"/>
                <a:ea typeface="Glacial Indifference Bold"/>
                <a:cs typeface="Glacial Indifference Bold"/>
                <a:sym typeface="Glacial Indifference Bold"/>
              </a:rPr>
              <a:t>Step 1: Noise Removal</a:t>
            </a:r>
          </a:p>
        </p:txBody>
      </p:sp>
      <p:sp>
        <p:nvSpPr>
          <p:cNvPr name="TextBox 16" id="16"/>
          <p:cNvSpPr txBox="true"/>
          <p:nvPr/>
        </p:nvSpPr>
        <p:spPr>
          <a:xfrm rot="0">
            <a:off x="404763" y="2605363"/>
            <a:ext cx="9833832" cy="740133"/>
          </a:xfrm>
          <a:prstGeom prst="rect">
            <a:avLst/>
          </a:prstGeom>
        </p:spPr>
        <p:txBody>
          <a:bodyPr anchor="t" rtlCol="false" tIns="0" lIns="0" bIns="0" rIns="0">
            <a:spAutoFit/>
          </a:bodyPr>
          <a:lstStyle/>
          <a:p>
            <a:pPr algn="l">
              <a:lnSpc>
                <a:spcPts val="5592"/>
              </a:lnSpc>
            </a:pPr>
            <a:r>
              <a:rPr lang="en-US" sz="5592" b="true">
                <a:solidFill>
                  <a:srgbClr val="FFFFFF"/>
                </a:solidFill>
                <a:latin typeface="Glacial Indifference Bold"/>
                <a:ea typeface="Glacial Indifference Bold"/>
                <a:cs typeface="Glacial Indifference Bold"/>
                <a:sym typeface="Glacial Indifference Bold"/>
              </a:rPr>
              <a:t>Code Used (Noise Removal)</a:t>
            </a:r>
          </a:p>
        </p:txBody>
      </p:sp>
      <p:sp>
        <p:nvSpPr>
          <p:cNvPr name="TextBox 17" id="17"/>
          <p:cNvSpPr txBox="true"/>
          <p:nvPr/>
        </p:nvSpPr>
        <p:spPr>
          <a:xfrm rot="0">
            <a:off x="2017653" y="4266565"/>
            <a:ext cx="11809214" cy="1305560"/>
          </a:xfrm>
          <a:prstGeom prst="rect">
            <a:avLst/>
          </a:prstGeom>
        </p:spPr>
        <p:txBody>
          <a:bodyPr anchor="t" rtlCol="false" tIns="0" lIns="0" bIns="0" rIns="0">
            <a:spAutoFit/>
          </a:bodyPr>
          <a:lstStyle/>
          <a:p>
            <a:pPr algn="l">
              <a:lnSpc>
                <a:spcPts val="3399"/>
              </a:lnSpc>
            </a:pPr>
            <a:r>
              <a:rPr lang="en-US" sz="3399" b="true">
                <a:solidFill>
                  <a:srgbClr val="FFFFFF"/>
                </a:solidFill>
                <a:latin typeface="Glacial Indifference Bold"/>
                <a:ea typeface="Glacial Indifference Bold"/>
                <a:cs typeface="Glacial Indifference Bold"/>
                <a:sym typeface="Glacial Indifference Bold"/>
              </a:rPr>
              <a:t>image = cv2.imread(image_path, cv2.IMREAD_GRAYSCALE)</a:t>
            </a:r>
          </a:p>
          <a:p>
            <a:pPr algn="l">
              <a:lnSpc>
                <a:spcPts val="3399"/>
              </a:lnSpc>
            </a:pPr>
            <a:r>
              <a:rPr lang="en-US" sz="3399" b="true">
                <a:solidFill>
                  <a:srgbClr val="FFFFFF"/>
                </a:solidFill>
                <a:latin typeface="Glacial Indifference Bold"/>
                <a:ea typeface="Glacial Indifference Bold"/>
                <a:cs typeface="Glacial Indifference Bold"/>
                <a:sym typeface="Glacial Indifference Bold"/>
              </a:rPr>
              <a:t>denoised = cv2.medianBlur(image, 3)</a:t>
            </a:r>
          </a:p>
          <a:p>
            <a:pPr algn="l">
              <a:lnSpc>
                <a:spcPts val="3399"/>
              </a:lnSpc>
            </a:pPr>
          </a:p>
        </p:txBody>
      </p:sp>
      <p:sp>
        <p:nvSpPr>
          <p:cNvPr name="TextBox 18" id="18"/>
          <p:cNvSpPr txBox="true"/>
          <p:nvPr/>
        </p:nvSpPr>
        <p:spPr>
          <a:xfrm rot="0">
            <a:off x="404763" y="5909169"/>
            <a:ext cx="9833832" cy="740133"/>
          </a:xfrm>
          <a:prstGeom prst="rect">
            <a:avLst/>
          </a:prstGeom>
        </p:spPr>
        <p:txBody>
          <a:bodyPr anchor="t" rtlCol="false" tIns="0" lIns="0" bIns="0" rIns="0">
            <a:spAutoFit/>
          </a:bodyPr>
          <a:lstStyle/>
          <a:p>
            <a:pPr algn="l">
              <a:lnSpc>
                <a:spcPts val="5592"/>
              </a:lnSpc>
            </a:pPr>
            <a:r>
              <a:rPr lang="en-US" sz="5592" b="true">
                <a:solidFill>
                  <a:srgbClr val="FFFFFF"/>
                </a:solidFill>
                <a:latin typeface="Glacial Indifference Bold"/>
                <a:ea typeface="Glacial Indifference Bold"/>
                <a:cs typeface="Glacial Indifference Bold"/>
                <a:sym typeface="Glacial Indifference Bold"/>
              </a:rPr>
              <a:t>Explanation</a:t>
            </a:r>
          </a:p>
        </p:txBody>
      </p:sp>
      <p:sp>
        <p:nvSpPr>
          <p:cNvPr name="TextBox 19" id="19"/>
          <p:cNvSpPr txBox="true"/>
          <p:nvPr/>
        </p:nvSpPr>
        <p:spPr>
          <a:xfrm rot="0">
            <a:off x="1028700" y="6715976"/>
            <a:ext cx="16121690" cy="2054225"/>
          </a:xfrm>
          <a:prstGeom prst="rect">
            <a:avLst/>
          </a:prstGeom>
        </p:spPr>
        <p:txBody>
          <a:bodyPr anchor="t" rtlCol="false" tIns="0" lIns="0" bIns="0" rIns="0">
            <a:spAutoFit/>
          </a:bodyPr>
          <a:lstStyle/>
          <a:p>
            <a:pPr algn="l">
              <a:lnSpc>
                <a:spcPts val="3999"/>
              </a:lnSpc>
            </a:pPr>
            <a:r>
              <a:rPr lang="en-US" sz="3999">
                <a:solidFill>
                  <a:srgbClr val="FFFFFF"/>
                </a:solidFill>
                <a:latin typeface="Glacial Indifference"/>
                <a:ea typeface="Glacial Indifference"/>
                <a:cs typeface="Glacial Indifference"/>
                <a:sym typeface="Glacial Indifference"/>
              </a:rPr>
              <a:t>cv2.imread(..., IMREAD_GRAYSCALE)</a:t>
            </a:r>
          </a:p>
          <a:p>
            <a:pPr algn="l">
              <a:lnSpc>
                <a:spcPts val="3999"/>
              </a:lnSpc>
            </a:pPr>
            <a:r>
              <a:rPr lang="en-US" sz="3999">
                <a:solidFill>
                  <a:srgbClr val="FFFFFF"/>
                </a:solidFill>
                <a:latin typeface="Glacial Indifference"/>
                <a:ea typeface="Glacial Indifference"/>
                <a:cs typeface="Glacial Indifference"/>
                <a:sym typeface="Glacial Indifference"/>
              </a:rPr>
              <a:t> Loads the mammogram as a grayscale image, which is required for medical image processing.</a:t>
            </a:r>
          </a:p>
          <a:p>
            <a:pPr algn="l">
              <a:lnSpc>
                <a:spcPts val="3999"/>
              </a:lnSpc>
            </a:pPr>
          </a:p>
        </p:txBody>
      </p:sp>
      <p:sp>
        <p:nvSpPr>
          <p:cNvPr name="Freeform 20" id="20"/>
          <p:cNvSpPr/>
          <p:nvPr/>
        </p:nvSpPr>
        <p:spPr>
          <a:xfrm flipH="false" flipV="false" rot="0">
            <a:off x="361545" y="6912880"/>
            <a:ext cx="401578" cy="401578"/>
          </a:xfrm>
          <a:custGeom>
            <a:avLst/>
            <a:gdLst/>
            <a:ahLst/>
            <a:cxnLst/>
            <a:rect r="r" b="b" t="t" l="l"/>
            <a:pathLst>
              <a:path h="401578" w="401578">
                <a:moveTo>
                  <a:pt x="0" y="0"/>
                </a:moveTo>
                <a:lnTo>
                  <a:pt x="401578" y="0"/>
                </a:lnTo>
                <a:lnTo>
                  <a:pt x="401578" y="401578"/>
                </a:lnTo>
                <a:lnTo>
                  <a:pt x="0" y="4015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1028700" y="8457458"/>
            <a:ext cx="16121690" cy="1044575"/>
          </a:xfrm>
          <a:prstGeom prst="rect">
            <a:avLst/>
          </a:prstGeom>
        </p:spPr>
        <p:txBody>
          <a:bodyPr anchor="t" rtlCol="false" tIns="0" lIns="0" bIns="0" rIns="0">
            <a:spAutoFit/>
          </a:bodyPr>
          <a:lstStyle/>
          <a:p>
            <a:pPr algn="l">
              <a:lnSpc>
                <a:spcPts val="3999"/>
              </a:lnSpc>
            </a:pPr>
            <a:r>
              <a:rPr lang="en-US" sz="3999">
                <a:solidFill>
                  <a:srgbClr val="FFFFFF"/>
                </a:solidFill>
                <a:latin typeface="Glacial Indifference"/>
                <a:ea typeface="Glacial Indifference"/>
                <a:cs typeface="Glacial Indifference"/>
                <a:sym typeface="Glacial Indifference"/>
              </a:rPr>
              <a:t>cv2.medianBlur(image, 3)</a:t>
            </a:r>
          </a:p>
          <a:p>
            <a:pPr algn="l">
              <a:lnSpc>
                <a:spcPts val="3999"/>
              </a:lnSpc>
            </a:pPr>
            <a:r>
              <a:rPr lang="en-US" sz="3999">
                <a:solidFill>
                  <a:srgbClr val="FFFFFF"/>
                </a:solidFill>
                <a:latin typeface="Glacial Indifference"/>
                <a:ea typeface="Glacial Indifference"/>
                <a:cs typeface="Glacial Indifference"/>
                <a:sym typeface="Glacial Indifference"/>
              </a:rPr>
              <a:t> Applies a 3×3 median filter to remove noise while preserving edges.</a:t>
            </a:r>
          </a:p>
        </p:txBody>
      </p:sp>
      <p:sp>
        <p:nvSpPr>
          <p:cNvPr name="Freeform 22" id="22"/>
          <p:cNvSpPr/>
          <p:nvPr/>
        </p:nvSpPr>
        <p:spPr>
          <a:xfrm flipH="false" flipV="false" rot="0">
            <a:off x="361545" y="8654361"/>
            <a:ext cx="401578" cy="401578"/>
          </a:xfrm>
          <a:custGeom>
            <a:avLst/>
            <a:gdLst/>
            <a:ahLst/>
            <a:cxnLst/>
            <a:rect r="r" b="b" t="t" l="l"/>
            <a:pathLst>
              <a:path h="401578" w="401578">
                <a:moveTo>
                  <a:pt x="0" y="0"/>
                </a:moveTo>
                <a:lnTo>
                  <a:pt x="401578" y="0"/>
                </a:lnTo>
                <a:lnTo>
                  <a:pt x="401578" y="401578"/>
                </a:lnTo>
                <a:lnTo>
                  <a:pt x="0" y="4015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slow">
    <p:push dir="d"/>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03352" y="-446248"/>
            <a:ext cx="19309293" cy="7760706"/>
            <a:chOff x="0" y="0"/>
            <a:chExt cx="5085575" cy="2043972"/>
          </a:xfrm>
        </p:grpSpPr>
        <p:sp>
          <p:nvSpPr>
            <p:cNvPr name="Freeform 4" id="4"/>
            <p:cNvSpPr/>
            <p:nvPr/>
          </p:nvSpPr>
          <p:spPr>
            <a:xfrm flipH="false" flipV="false" rot="0">
              <a:off x="0" y="0"/>
              <a:ext cx="5085575" cy="2043972"/>
            </a:xfrm>
            <a:custGeom>
              <a:avLst/>
              <a:gdLst/>
              <a:ahLst/>
              <a:cxnLst/>
              <a:rect r="r" b="b" t="t" l="l"/>
              <a:pathLst>
                <a:path h="2043972" w="5085575">
                  <a:moveTo>
                    <a:pt x="0" y="0"/>
                  </a:moveTo>
                  <a:lnTo>
                    <a:pt x="5085575" y="0"/>
                  </a:lnTo>
                  <a:lnTo>
                    <a:pt x="5085575" y="2043972"/>
                  </a:lnTo>
                  <a:lnTo>
                    <a:pt x="0" y="2043972"/>
                  </a:lnTo>
                  <a:close/>
                </a:path>
              </a:pathLst>
            </a:custGeom>
            <a:solidFill>
              <a:srgbClr val="FFFFFF"/>
            </a:solidFill>
          </p:spPr>
        </p:sp>
        <p:sp>
          <p:nvSpPr>
            <p:cNvPr name="TextBox 5" id="5"/>
            <p:cNvSpPr txBox="true"/>
            <p:nvPr/>
          </p:nvSpPr>
          <p:spPr>
            <a:xfrm>
              <a:off x="0" y="-47625"/>
              <a:ext cx="5085575" cy="2091597"/>
            </a:xfrm>
            <a:prstGeom prst="rect">
              <a:avLst/>
            </a:prstGeom>
          </p:spPr>
          <p:txBody>
            <a:bodyPr anchor="ctr" rtlCol="false" tIns="50800" lIns="50800" bIns="50800" rIns="50800"/>
            <a:lstStyle/>
            <a:p>
              <a:pPr algn="ctr">
                <a:lnSpc>
                  <a:spcPts val="3255"/>
                </a:lnSpc>
              </a:pPr>
            </a:p>
          </p:txBody>
        </p:sp>
      </p:grpSp>
      <p:sp>
        <p:nvSpPr>
          <p:cNvPr name="AutoShape 6" id="6"/>
          <p:cNvSpPr/>
          <p:nvPr/>
        </p:nvSpPr>
        <p:spPr>
          <a:xfrm flipH="true" flipV="true">
            <a:off x="8616755" y="1662672"/>
            <a:ext cx="0" cy="4747130"/>
          </a:xfrm>
          <a:prstGeom prst="line">
            <a:avLst/>
          </a:prstGeom>
          <a:ln cap="flat" w="9525">
            <a:solidFill>
              <a:srgbClr val="12354D"/>
            </a:solidFill>
            <a:prstDash val="solid"/>
            <a:headEnd type="none" len="sm" w="sm"/>
            <a:tailEnd type="none" len="sm" w="sm"/>
          </a:ln>
        </p:spPr>
      </p:sp>
      <p:sp>
        <p:nvSpPr>
          <p:cNvPr name="Freeform 7" id="7"/>
          <p:cNvSpPr/>
          <p:nvPr/>
        </p:nvSpPr>
        <p:spPr>
          <a:xfrm flipH="false" flipV="false" rot="0">
            <a:off x="251079" y="2180365"/>
            <a:ext cx="401578" cy="401578"/>
          </a:xfrm>
          <a:custGeom>
            <a:avLst/>
            <a:gdLst/>
            <a:ahLst/>
            <a:cxnLst/>
            <a:rect r="r" b="b" t="t" l="l"/>
            <a:pathLst>
              <a:path h="401578" w="401578">
                <a:moveTo>
                  <a:pt x="0" y="0"/>
                </a:moveTo>
                <a:lnTo>
                  <a:pt x="401579" y="0"/>
                </a:lnTo>
                <a:lnTo>
                  <a:pt x="401579" y="401578"/>
                </a:lnTo>
                <a:lnTo>
                  <a:pt x="0" y="4015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6948974" y="634247"/>
            <a:ext cx="679337" cy="788905"/>
            <a:chOff x="0" y="0"/>
            <a:chExt cx="812800" cy="943895"/>
          </a:xfrm>
        </p:grpSpPr>
        <p:sp>
          <p:nvSpPr>
            <p:cNvPr name="Freeform 9" id="9"/>
            <p:cNvSpPr/>
            <p:nvPr/>
          </p:nvSpPr>
          <p:spPr>
            <a:xfrm flipH="false" flipV="false" rot="0">
              <a:off x="0" y="0"/>
              <a:ext cx="812800" cy="943895"/>
            </a:xfrm>
            <a:custGeom>
              <a:avLst/>
              <a:gdLst/>
              <a:ahLst/>
              <a:cxnLst/>
              <a:rect r="r" b="b" t="t" l="l"/>
              <a:pathLst>
                <a:path h="943895" w="812800">
                  <a:moveTo>
                    <a:pt x="406400" y="0"/>
                  </a:moveTo>
                  <a:cubicBezTo>
                    <a:pt x="181951" y="0"/>
                    <a:pt x="0" y="211298"/>
                    <a:pt x="0" y="471947"/>
                  </a:cubicBezTo>
                  <a:cubicBezTo>
                    <a:pt x="0" y="732597"/>
                    <a:pt x="181951" y="943895"/>
                    <a:pt x="406400" y="943895"/>
                  </a:cubicBezTo>
                  <a:cubicBezTo>
                    <a:pt x="630849" y="943895"/>
                    <a:pt x="812800" y="732597"/>
                    <a:pt x="812800" y="471947"/>
                  </a:cubicBezTo>
                  <a:cubicBezTo>
                    <a:pt x="812800" y="211298"/>
                    <a:pt x="630849" y="0"/>
                    <a:pt x="406400" y="0"/>
                  </a:cubicBezTo>
                  <a:close/>
                </a:path>
              </a:pathLst>
            </a:custGeom>
            <a:solidFill>
              <a:srgbClr val="FFFFFF"/>
            </a:solidFill>
          </p:spPr>
        </p:sp>
        <p:sp>
          <p:nvSpPr>
            <p:cNvPr name="TextBox 10" id="10"/>
            <p:cNvSpPr txBox="true"/>
            <p:nvPr/>
          </p:nvSpPr>
          <p:spPr>
            <a:xfrm>
              <a:off x="76200" y="40865"/>
              <a:ext cx="660400" cy="814539"/>
            </a:xfrm>
            <a:prstGeom prst="rect">
              <a:avLst/>
            </a:prstGeom>
          </p:spPr>
          <p:txBody>
            <a:bodyPr anchor="ctr" rtlCol="false" tIns="50800" lIns="50800" bIns="50800" rIns="50800"/>
            <a:lstStyle/>
            <a:p>
              <a:pPr algn="ctr">
                <a:lnSpc>
                  <a:spcPts val="3255"/>
                </a:lnSpc>
              </a:pPr>
            </a:p>
          </p:txBody>
        </p:sp>
      </p:grpSp>
      <p:sp>
        <p:nvSpPr>
          <p:cNvPr name="Freeform 11" id="11"/>
          <p:cNvSpPr/>
          <p:nvPr/>
        </p:nvSpPr>
        <p:spPr>
          <a:xfrm flipH="false" flipV="false" rot="0">
            <a:off x="16941937" y="6180330"/>
            <a:ext cx="1346063" cy="814531"/>
          </a:xfrm>
          <a:custGeom>
            <a:avLst/>
            <a:gdLst/>
            <a:ahLst/>
            <a:cxnLst/>
            <a:rect r="r" b="b" t="t" l="l"/>
            <a:pathLst>
              <a:path h="814531" w="1346063">
                <a:moveTo>
                  <a:pt x="0" y="0"/>
                </a:moveTo>
                <a:lnTo>
                  <a:pt x="1346063" y="0"/>
                </a:lnTo>
                <a:lnTo>
                  <a:pt x="1346063" y="814531"/>
                </a:lnTo>
                <a:lnTo>
                  <a:pt x="0" y="814531"/>
                </a:lnTo>
                <a:lnTo>
                  <a:pt x="0" y="0"/>
                </a:lnTo>
                <a:close/>
              </a:path>
            </a:pathLst>
          </a:custGeom>
          <a:blipFill>
            <a:blip r:embed="rId5">
              <a:extLst>
                <a:ext uri="{96DAC541-7B7A-43D3-8B79-37D633B846F1}">
                  <asvg:svgBlip xmlns:asvg="http://schemas.microsoft.com/office/drawing/2016/SVG/main" r:embed="rId6"/>
                </a:ext>
              </a:extLst>
            </a:blip>
            <a:stretch>
              <a:fillRect l="0" t="-97320" r="0" b="0"/>
            </a:stretch>
          </a:blipFill>
        </p:spPr>
      </p:sp>
      <p:sp>
        <p:nvSpPr>
          <p:cNvPr name="Freeform 12" id="12"/>
          <p:cNvSpPr/>
          <p:nvPr/>
        </p:nvSpPr>
        <p:spPr>
          <a:xfrm flipH="false" flipV="false" rot="2700000">
            <a:off x="3000507" y="5686078"/>
            <a:ext cx="4912090" cy="6237575"/>
          </a:xfrm>
          <a:custGeom>
            <a:avLst/>
            <a:gdLst/>
            <a:ahLst/>
            <a:cxnLst/>
            <a:rect r="r" b="b" t="t" l="l"/>
            <a:pathLst>
              <a:path h="6237575" w="4912090">
                <a:moveTo>
                  <a:pt x="0" y="0"/>
                </a:moveTo>
                <a:lnTo>
                  <a:pt x="4912090" y="0"/>
                </a:lnTo>
                <a:lnTo>
                  <a:pt x="4912090" y="6237575"/>
                </a:lnTo>
                <a:lnTo>
                  <a:pt x="0" y="62375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2700000">
            <a:off x="10334337" y="5686078"/>
            <a:ext cx="4912090" cy="6237575"/>
          </a:xfrm>
          <a:custGeom>
            <a:avLst/>
            <a:gdLst/>
            <a:ahLst/>
            <a:cxnLst/>
            <a:rect r="r" b="b" t="t" l="l"/>
            <a:pathLst>
              <a:path h="6237575" w="4912090">
                <a:moveTo>
                  <a:pt x="0" y="0"/>
                </a:moveTo>
                <a:lnTo>
                  <a:pt x="4912090" y="0"/>
                </a:lnTo>
                <a:lnTo>
                  <a:pt x="4912090" y="6237575"/>
                </a:lnTo>
                <a:lnTo>
                  <a:pt x="0" y="62375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1028700" y="2949792"/>
            <a:ext cx="6360881" cy="2531014"/>
          </a:xfrm>
          <a:prstGeom prst="rect">
            <a:avLst/>
          </a:prstGeom>
        </p:spPr>
        <p:txBody>
          <a:bodyPr anchor="t" rtlCol="false" tIns="0" lIns="0" bIns="0" rIns="0">
            <a:spAutoFit/>
          </a:bodyPr>
          <a:lstStyle/>
          <a:p>
            <a:pPr algn="l" marL="780231" indent="-390116" lvl="1">
              <a:lnSpc>
                <a:spcPts val="5059"/>
              </a:lnSpc>
              <a:buFont typeface="Arial"/>
              <a:buChar char="•"/>
            </a:pPr>
            <a:r>
              <a:rPr lang="en-US" sz="3613">
                <a:solidFill>
                  <a:srgbClr val="12354D"/>
                </a:solidFill>
                <a:latin typeface="Glacial Indifference"/>
                <a:ea typeface="Glacial Indifference"/>
                <a:cs typeface="Glacial Indifference"/>
                <a:sym typeface="Glacial Indifference"/>
              </a:rPr>
              <a:t>Remove labels, markers, wedges, and background</a:t>
            </a:r>
          </a:p>
          <a:p>
            <a:pPr algn="l" marL="780231" indent="-390116" lvl="1">
              <a:lnSpc>
                <a:spcPts val="5059"/>
              </a:lnSpc>
              <a:buFont typeface="Arial"/>
              <a:buChar char="•"/>
            </a:pPr>
            <a:r>
              <a:rPr lang="en-US" sz="3613">
                <a:solidFill>
                  <a:srgbClr val="12354D"/>
                </a:solidFill>
                <a:latin typeface="Glacial Indifference"/>
                <a:ea typeface="Glacial Indifference"/>
                <a:cs typeface="Glacial Indifference"/>
                <a:sym typeface="Glacial Indifference"/>
              </a:rPr>
              <a:t>K</a:t>
            </a:r>
            <a:r>
              <a:rPr lang="en-US" sz="3613">
                <a:solidFill>
                  <a:srgbClr val="12354D"/>
                </a:solidFill>
                <a:latin typeface="Glacial Indifference"/>
                <a:ea typeface="Glacial Indifference"/>
                <a:cs typeface="Glacial Indifference"/>
                <a:sym typeface="Glacial Indifference"/>
              </a:rPr>
              <a:t>eep breast + artifacts first, then isolate breast</a:t>
            </a:r>
          </a:p>
        </p:txBody>
      </p:sp>
      <p:sp>
        <p:nvSpPr>
          <p:cNvPr name="TextBox 15" id="15"/>
          <p:cNvSpPr txBox="true"/>
          <p:nvPr/>
        </p:nvSpPr>
        <p:spPr>
          <a:xfrm rot="0">
            <a:off x="562334" y="278874"/>
            <a:ext cx="17286405" cy="869950"/>
          </a:xfrm>
          <a:prstGeom prst="rect">
            <a:avLst/>
          </a:prstGeom>
        </p:spPr>
        <p:txBody>
          <a:bodyPr anchor="t" rtlCol="false" tIns="0" lIns="0" bIns="0" rIns="0">
            <a:spAutoFit/>
          </a:bodyPr>
          <a:lstStyle/>
          <a:p>
            <a:pPr algn="l">
              <a:lnSpc>
                <a:spcPts val="6500"/>
              </a:lnSpc>
            </a:pPr>
            <a:r>
              <a:rPr lang="en-US" sz="6500" b="true">
                <a:solidFill>
                  <a:srgbClr val="12354D"/>
                </a:solidFill>
                <a:latin typeface="Glacial Indifference Bold"/>
                <a:ea typeface="Glacial Indifference Bold"/>
                <a:cs typeface="Glacial Indifference Bold"/>
                <a:sym typeface="Glacial Indifference Bold"/>
              </a:rPr>
              <a:t>Step 2: Artifact &amp; Background Suppression</a:t>
            </a:r>
          </a:p>
        </p:txBody>
      </p:sp>
      <p:sp>
        <p:nvSpPr>
          <p:cNvPr name="TextBox 16" id="16"/>
          <p:cNvSpPr txBox="true"/>
          <p:nvPr/>
        </p:nvSpPr>
        <p:spPr>
          <a:xfrm rot="0">
            <a:off x="897770" y="1954508"/>
            <a:ext cx="4289722" cy="758042"/>
          </a:xfrm>
          <a:prstGeom prst="rect">
            <a:avLst/>
          </a:prstGeom>
        </p:spPr>
        <p:txBody>
          <a:bodyPr anchor="t" rtlCol="false" tIns="0" lIns="0" bIns="0" rIns="0">
            <a:spAutoFit/>
          </a:bodyPr>
          <a:lstStyle/>
          <a:p>
            <a:pPr algn="l">
              <a:lnSpc>
                <a:spcPts val="6141"/>
              </a:lnSpc>
            </a:pPr>
            <a:r>
              <a:rPr lang="en-US" sz="4386" b="true">
                <a:solidFill>
                  <a:srgbClr val="12354D"/>
                </a:solidFill>
                <a:latin typeface="Glacial Indifference Bold"/>
                <a:ea typeface="Glacial Indifference Bold"/>
                <a:cs typeface="Glacial Indifference Bold"/>
                <a:sym typeface="Glacial Indifference Bold"/>
              </a:rPr>
              <a:t>Objective</a:t>
            </a:r>
          </a:p>
        </p:txBody>
      </p:sp>
      <p:sp>
        <p:nvSpPr>
          <p:cNvPr name="Freeform 17" id="17"/>
          <p:cNvSpPr/>
          <p:nvPr/>
        </p:nvSpPr>
        <p:spPr>
          <a:xfrm flipH="false" flipV="false" rot="0">
            <a:off x="8929153" y="2041088"/>
            <a:ext cx="401578" cy="401578"/>
          </a:xfrm>
          <a:custGeom>
            <a:avLst/>
            <a:gdLst/>
            <a:ahLst/>
            <a:cxnLst/>
            <a:rect r="r" b="b" t="t" l="l"/>
            <a:pathLst>
              <a:path h="401578" w="401578">
                <a:moveTo>
                  <a:pt x="0" y="0"/>
                </a:moveTo>
                <a:lnTo>
                  <a:pt x="401578" y="0"/>
                </a:lnTo>
                <a:lnTo>
                  <a:pt x="401578" y="401578"/>
                </a:lnTo>
                <a:lnTo>
                  <a:pt x="0" y="4015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8" id="18"/>
          <p:cNvSpPr txBox="true"/>
          <p:nvPr/>
        </p:nvSpPr>
        <p:spPr>
          <a:xfrm rot="0">
            <a:off x="9575843" y="1815231"/>
            <a:ext cx="6743316" cy="758042"/>
          </a:xfrm>
          <a:prstGeom prst="rect">
            <a:avLst/>
          </a:prstGeom>
        </p:spPr>
        <p:txBody>
          <a:bodyPr anchor="t" rtlCol="false" tIns="0" lIns="0" bIns="0" rIns="0">
            <a:spAutoFit/>
          </a:bodyPr>
          <a:lstStyle/>
          <a:p>
            <a:pPr algn="l">
              <a:lnSpc>
                <a:spcPts val="6141"/>
              </a:lnSpc>
            </a:pPr>
            <a:r>
              <a:rPr lang="en-US" sz="4386" b="true">
                <a:solidFill>
                  <a:srgbClr val="12354D"/>
                </a:solidFill>
                <a:latin typeface="Glacial Indifference Bold"/>
                <a:ea typeface="Glacial Indifference Bold"/>
                <a:cs typeface="Glacial Indifference Bold"/>
                <a:sym typeface="Glacial Indifference Bold"/>
              </a:rPr>
              <a:t>Techniques Used</a:t>
            </a:r>
          </a:p>
        </p:txBody>
      </p:sp>
      <p:sp>
        <p:nvSpPr>
          <p:cNvPr name="TextBox 19" id="19"/>
          <p:cNvSpPr txBox="true"/>
          <p:nvPr/>
        </p:nvSpPr>
        <p:spPr>
          <a:xfrm rot="0">
            <a:off x="9398554" y="2835689"/>
            <a:ext cx="6604362" cy="2740169"/>
          </a:xfrm>
          <a:prstGeom prst="rect">
            <a:avLst/>
          </a:prstGeom>
        </p:spPr>
        <p:txBody>
          <a:bodyPr anchor="t" rtlCol="false" tIns="0" lIns="0" bIns="0" rIns="0">
            <a:spAutoFit/>
          </a:bodyPr>
          <a:lstStyle/>
          <a:p>
            <a:pPr algn="l" marL="835658" indent="-417829" lvl="1">
              <a:lnSpc>
                <a:spcPts val="5418"/>
              </a:lnSpc>
              <a:buFont typeface="Arial"/>
              <a:buChar char="•"/>
            </a:pPr>
            <a:r>
              <a:rPr lang="en-US" sz="3870">
                <a:solidFill>
                  <a:srgbClr val="12354D"/>
                </a:solidFill>
                <a:latin typeface="Glacial Indifference"/>
                <a:ea typeface="Glacial Indifference"/>
                <a:cs typeface="Glacial Indifference"/>
                <a:sym typeface="Glacial Indifference"/>
              </a:rPr>
              <a:t>Global thresholding</a:t>
            </a:r>
          </a:p>
          <a:p>
            <a:pPr algn="l" marL="835658" indent="-417829" lvl="1">
              <a:lnSpc>
                <a:spcPts val="5418"/>
              </a:lnSpc>
              <a:buFont typeface="Arial"/>
              <a:buChar char="•"/>
            </a:pPr>
            <a:r>
              <a:rPr lang="en-US" sz="3870">
                <a:solidFill>
                  <a:srgbClr val="12354D"/>
                </a:solidFill>
                <a:latin typeface="Glacial Indifference"/>
                <a:ea typeface="Glacial Indifference"/>
                <a:cs typeface="Glacial Indifference"/>
                <a:sym typeface="Glacial Indifference"/>
              </a:rPr>
              <a:t>Connected component labeling</a:t>
            </a:r>
          </a:p>
          <a:p>
            <a:pPr algn="l" marL="835658" indent="-417829" lvl="1">
              <a:lnSpc>
                <a:spcPts val="5418"/>
              </a:lnSpc>
              <a:buFont typeface="Arial"/>
              <a:buChar char="•"/>
            </a:pPr>
            <a:r>
              <a:rPr lang="en-US" sz="3870">
                <a:solidFill>
                  <a:srgbClr val="12354D"/>
                </a:solidFill>
                <a:latin typeface="Glacial Indifference"/>
                <a:ea typeface="Glacial Indifference"/>
                <a:cs typeface="Glacial Indifference"/>
                <a:sym typeface="Glacial Indifference"/>
              </a:rPr>
              <a:t>La</a:t>
            </a:r>
            <a:r>
              <a:rPr lang="en-US" sz="3870">
                <a:solidFill>
                  <a:srgbClr val="12354D"/>
                </a:solidFill>
                <a:latin typeface="Glacial Indifference"/>
                <a:ea typeface="Glacial Indifference"/>
                <a:cs typeface="Glacial Indifference"/>
                <a:sym typeface="Glacial Indifference"/>
              </a:rPr>
              <a:t>rgest object selection</a:t>
            </a:r>
          </a:p>
        </p:txBody>
      </p:sp>
    </p:spTree>
  </p:cSld>
  <p:clrMapOvr>
    <a:masterClrMapping/>
  </p:clrMapOvr>
  <p:transition spd="slow">
    <p:push dir="u"/>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grpSp>
        <p:nvGrpSpPr>
          <p:cNvPr name="Group 3" id="3"/>
          <p:cNvGrpSpPr/>
          <p:nvPr/>
        </p:nvGrpSpPr>
        <p:grpSpPr>
          <a:xfrm rot="0">
            <a:off x="6393198" y="-514350"/>
            <a:ext cx="12212869" cy="11316371"/>
            <a:chOff x="0" y="0"/>
            <a:chExt cx="3216558" cy="2980443"/>
          </a:xfrm>
        </p:grpSpPr>
        <p:sp>
          <p:nvSpPr>
            <p:cNvPr name="Freeform 4" id="4"/>
            <p:cNvSpPr/>
            <p:nvPr/>
          </p:nvSpPr>
          <p:spPr>
            <a:xfrm flipH="false" flipV="false" rot="0">
              <a:off x="0" y="0"/>
              <a:ext cx="3216558" cy="2980443"/>
            </a:xfrm>
            <a:custGeom>
              <a:avLst/>
              <a:gdLst/>
              <a:ahLst/>
              <a:cxnLst/>
              <a:rect r="r" b="b" t="t" l="l"/>
              <a:pathLst>
                <a:path h="2980443" w="3216558">
                  <a:moveTo>
                    <a:pt x="0" y="0"/>
                  </a:moveTo>
                  <a:lnTo>
                    <a:pt x="3216558" y="0"/>
                  </a:lnTo>
                  <a:lnTo>
                    <a:pt x="3216558" y="2980443"/>
                  </a:lnTo>
                  <a:lnTo>
                    <a:pt x="0" y="2980443"/>
                  </a:lnTo>
                  <a:close/>
                </a:path>
              </a:pathLst>
            </a:custGeom>
            <a:solidFill>
              <a:srgbClr val="FFFFFF"/>
            </a:solidFill>
          </p:spPr>
        </p:sp>
        <p:sp>
          <p:nvSpPr>
            <p:cNvPr name="TextBox 5" id="5"/>
            <p:cNvSpPr txBox="true"/>
            <p:nvPr/>
          </p:nvSpPr>
          <p:spPr>
            <a:xfrm>
              <a:off x="0" y="-47625"/>
              <a:ext cx="3216558" cy="3028068"/>
            </a:xfrm>
            <a:prstGeom prst="rect">
              <a:avLst/>
            </a:prstGeom>
          </p:spPr>
          <p:txBody>
            <a:bodyPr anchor="ctr" rtlCol="false" tIns="50800" lIns="50800" bIns="50800" rIns="50800"/>
            <a:lstStyle/>
            <a:p>
              <a:pPr algn="ctr">
                <a:lnSpc>
                  <a:spcPts val="3255"/>
                </a:lnSpc>
              </a:pPr>
            </a:p>
          </p:txBody>
        </p:sp>
      </p:grpSp>
      <p:sp>
        <p:nvSpPr>
          <p:cNvPr name="Freeform 6" id="6"/>
          <p:cNvSpPr/>
          <p:nvPr/>
        </p:nvSpPr>
        <p:spPr>
          <a:xfrm flipH="false" flipV="false" rot="0">
            <a:off x="6607339" y="1523948"/>
            <a:ext cx="311254" cy="311254"/>
          </a:xfrm>
          <a:custGeom>
            <a:avLst/>
            <a:gdLst/>
            <a:ahLst/>
            <a:cxnLst/>
            <a:rect r="r" b="b" t="t" l="l"/>
            <a:pathLst>
              <a:path h="311254" w="311254">
                <a:moveTo>
                  <a:pt x="0" y="0"/>
                </a:moveTo>
                <a:lnTo>
                  <a:pt x="311255" y="0"/>
                </a:lnTo>
                <a:lnTo>
                  <a:pt x="311255" y="311254"/>
                </a:lnTo>
                <a:lnTo>
                  <a:pt x="0" y="3112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797015" y="5686761"/>
            <a:ext cx="311254" cy="311254"/>
          </a:xfrm>
          <a:custGeom>
            <a:avLst/>
            <a:gdLst/>
            <a:ahLst/>
            <a:cxnLst/>
            <a:rect r="r" b="b" t="t" l="l"/>
            <a:pathLst>
              <a:path h="311254" w="311254">
                <a:moveTo>
                  <a:pt x="0" y="0"/>
                </a:moveTo>
                <a:lnTo>
                  <a:pt x="311254" y="0"/>
                </a:lnTo>
                <a:lnTo>
                  <a:pt x="311254" y="311254"/>
                </a:lnTo>
                <a:lnTo>
                  <a:pt x="0" y="3112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9144000" y="689032"/>
            <a:ext cx="679337" cy="67933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255"/>
                </a:lnSpc>
              </a:pPr>
            </a:p>
          </p:txBody>
        </p:sp>
      </p:grpSp>
      <p:sp>
        <p:nvSpPr>
          <p:cNvPr name="Freeform 11" id="11"/>
          <p:cNvSpPr/>
          <p:nvPr/>
        </p:nvSpPr>
        <p:spPr>
          <a:xfrm flipH="true" flipV="false" rot="0">
            <a:off x="511540" y="2057400"/>
            <a:ext cx="5338953" cy="8229600"/>
          </a:xfrm>
          <a:custGeom>
            <a:avLst/>
            <a:gdLst/>
            <a:ahLst/>
            <a:cxnLst/>
            <a:rect r="r" b="b" t="t" l="l"/>
            <a:pathLst>
              <a:path h="8229600" w="5338953">
                <a:moveTo>
                  <a:pt x="5338953" y="0"/>
                </a:moveTo>
                <a:lnTo>
                  <a:pt x="0" y="0"/>
                </a:lnTo>
                <a:lnTo>
                  <a:pt x="0" y="8229600"/>
                </a:lnTo>
                <a:lnTo>
                  <a:pt x="5338953" y="8229600"/>
                </a:lnTo>
                <a:lnTo>
                  <a:pt x="5338953" y="0"/>
                </a:lnTo>
                <a:close/>
              </a:path>
            </a:pathLst>
          </a:custGeom>
          <a:blipFill>
            <a:blip r:embed="rId5"/>
            <a:stretch>
              <a:fillRect l="0" t="0" r="0" b="0"/>
            </a:stretch>
          </a:blipFill>
        </p:spPr>
      </p:sp>
      <p:grpSp>
        <p:nvGrpSpPr>
          <p:cNvPr name="Group 12" id="12"/>
          <p:cNvGrpSpPr/>
          <p:nvPr/>
        </p:nvGrpSpPr>
        <p:grpSpPr>
          <a:xfrm rot="0">
            <a:off x="6841279" y="4107977"/>
            <a:ext cx="11029919" cy="1035859"/>
            <a:chOff x="0" y="0"/>
            <a:chExt cx="2904999" cy="272819"/>
          </a:xfrm>
        </p:grpSpPr>
        <p:sp>
          <p:nvSpPr>
            <p:cNvPr name="Freeform 13" id="13"/>
            <p:cNvSpPr/>
            <p:nvPr/>
          </p:nvSpPr>
          <p:spPr>
            <a:xfrm flipH="false" flipV="false" rot="0">
              <a:off x="0" y="0"/>
              <a:ext cx="2904999" cy="272819"/>
            </a:xfrm>
            <a:custGeom>
              <a:avLst/>
              <a:gdLst/>
              <a:ahLst/>
              <a:cxnLst/>
              <a:rect r="r" b="b" t="t" l="l"/>
              <a:pathLst>
                <a:path h="272819" w="2904999">
                  <a:moveTo>
                    <a:pt x="35797" y="0"/>
                  </a:moveTo>
                  <a:lnTo>
                    <a:pt x="2869202" y="0"/>
                  </a:lnTo>
                  <a:cubicBezTo>
                    <a:pt x="2878696" y="0"/>
                    <a:pt x="2887801" y="3771"/>
                    <a:pt x="2894515" y="10485"/>
                  </a:cubicBezTo>
                  <a:cubicBezTo>
                    <a:pt x="2901228" y="17198"/>
                    <a:pt x="2904999" y="26303"/>
                    <a:pt x="2904999" y="35797"/>
                  </a:cubicBezTo>
                  <a:lnTo>
                    <a:pt x="2904999" y="237022"/>
                  </a:lnTo>
                  <a:cubicBezTo>
                    <a:pt x="2904999" y="256792"/>
                    <a:pt x="2888972" y="272819"/>
                    <a:pt x="2869202" y="272819"/>
                  </a:cubicBezTo>
                  <a:lnTo>
                    <a:pt x="35797" y="272819"/>
                  </a:lnTo>
                  <a:cubicBezTo>
                    <a:pt x="16027" y="272819"/>
                    <a:pt x="0" y="256792"/>
                    <a:pt x="0" y="237022"/>
                  </a:cubicBezTo>
                  <a:lnTo>
                    <a:pt x="0" y="35797"/>
                  </a:lnTo>
                  <a:cubicBezTo>
                    <a:pt x="0" y="16027"/>
                    <a:pt x="16027" y="0"/>
                    <a:pt x="35797" y="0"/>
                  </a:cubicBezTo>
                  <a:close/>
                </a:path>
              </a:pathLst>
            </a:custGeom>
            <a:gradFill rotWithShape="true">
              <a:gsLst>
                <a:gs pos="0">
                  <a:srgbClr val="004AAD">
                    <a:alpha val="100000"/>
                  </a:srgbClr>
                </a:gs>
                <a:gs pos="100000">
                  <a:srgbClr val="CB6CE6">
                    <a:alpha val="100000"/>
                  </a:srgbClr>
                </a:gs>
              </a:gsLst>
              <a:lin ang="0"/>
            </a:gradFill>
          </p:spPr>
        </p:sp>
        <p:sp>
          <p:nvSpPr>
            <p:cNvPr name="TextBox 14" id="14"/>
            <p:cNvSpPr txBox="true"/>
            <p:nvPr/>
          </p:nvSpPr>
          <p:spPr>
            <a:xfrm>
              <a:off x="0" y="-66675"/>
              <a:ext cx="2904999" cy="339494"/>
            </a:xfrm>
            <a:prstGeom prst="rect">
              <a:avLst/>
            </a:prstGeom>
          </p:spPr>
          <p:txBody>
            <a:bodyPr anchor="ctr" rtlCol="false" tIns="50800" lIns="50800" bIns="50800" rIns="50800"/>
            <a:lstStyle/>
            <a:p>
              <a:pPr algn="ctr">
                <a:lnSpc>
                  <a:spcPts val="3919"/>
                </a:lnSpc>
              </a:pPr>
              <a:r>
                <a:rPr lang="en-US" b="true" sz="2799">
                  <a:solidFill>
                    <a:srgbClr val="FFFFFF"/>
                  </a:solidFill>
                  <a:latin typeface="Glacial Indifference Bold"/>
                  <a:ea typeface="Glacial Indifference Bold"/>
                  <a:cs typeface="Glacial Indifference Bold"/>
                  <a:sym typeface="Glacial Indifference Bold"/>
                </a:rPr>
                <a:t>_, binary = cv2.threshold(image, 18, 255, cv2.THRESH_BINARY)</a:t>
              </a:r>
            </a:p>
          </p:txBody>
        </p:sp>
      </p:grpSp>
      <p:sp>
        <p:nvSpPr>
          <p:cNvPr name="TextBox 15" id="15"/>
          <p:cNvSpPr txBox="true"/>
          <p:nvPr/>
        </p:nvSpPr>
        <p:spPr>
          <a:xfrm rot="0">
            <a:off x="6607339" y="114300"/>
            <a:ext cx="11497798" cy="869950"/>
          </a:xfrm>
          <a:prstGeom prst="rect">
            <a:avLst/>
          </a:prstGeom>
        </p:spPr>
        <p:txBody>
          <a:bodyPr anchor="t" rtlCol="false" tIns="0" lIns="0" bIns="0" rIns="0">
            <a:spAutoFit/>
          </a:bodyPr>
          <a:lstStyle/>
          <a:p>
            <a:pPr algn="l">
              <a:lnSpc>
                <a:spcPts val="6500"/>
              </a:lnSpc>
            </a:pPr>
            <a:r>
              <a:rPr lang="en-US" sz="6500" b="true">
                <a:solidFill>
                  <a:srgbClr val="12354D"/>
                </a:solidFill>
                <a:latin typeface="Glacial Indifference Bold"/>
                <a:ea typeface="Glacial Indifference Bold"/>
                <a:cs typeface="Glacial Indifference Bold"/>
                <a:sym typeface="Glacial Indifference Bold"/>
              </a:rPr>
              <a:t>Step 2.1: Global Thresholding</a:t>
            </a:r>
          </a:p>
        </p:txBody>
      </p:sp>
      <p:sp>
        <p:nvSpPr>
          <p:cNvPr name="TextBox 16" id="16"/>
          <p:cNvSpPr txBox="true"/>
          <p:nvPr/>
        </p:nvSpPr>
        <p:spPr>
          <a:xfrm rot="0">
            <a:off x="7620291" y="2153279"/>
            <a:ext cx="7508936" cy="580390"/>
          </a:xfrm>
          <a:prstGeom prst="rect">
            <a:avLst/>
          </a:prstGeom>
        </p:spPr>
        <p:txBody>
          <a:bodyPr anchor="t" rtlCol="false" tIns="0" lIns="0" bIns="0" rIns="0">
            <a:spAutoFit/>
          </a:bodyPr>
          <a:lstStyle/>
          <a:p>
            <a:pPr algn="l">
              <a:lnSpc>
                <a:spcPts val="4759"/>
              </a:lnSpc>
            </a:pPr>
            <a:r>
              <a:rPr lang="en-US" sz="3399">
                <a:solidFill>
                  <a:srgbClr val="12354D"/>
                </a:solidFill>
                <a:latin typeface="Glacial Indifference"/>
                <a:ea typeface="Glacial Indifference"/>
                <a:cs typeface="Glacial Indifference"/>
                <a:sym typeface="Glacial Indifference"/>
              </a:rPr>
              <a:t>onvert grayscale image to binary</a:t>
            </a:r>
          </a:p>
        </p:txBody>
      </p:sp>
      <p:sp>
        <p:nvSpPr>
          <p:cNvPr name="TextBox 17" id="17"/>
          <p:cNvSpPr txBox="true"/>
          <p:nvPr/>
        </p:nvSpPr>
        <p:spPr>
          <a:xfrm rot="0">
            <a:off x="7594793" y="6410325"/>
            <a:ext cx="9522890" cy="1307580"/>
          </a:xfrm>
          <a:prstGeom prst="rect">
            <a:avLst/>
          </a:prstGeom>
        </p:spPr>
        <p:txBody>
          <a:bodyPr anchor="t" rtlCol="false" tIns="0" lIns="0" bIns="0" rIns="0">
            <a:spAutoFit/>
          </a:bodyPr>
          <a:lstStyle/>
          <a:p>
            <a:pPr algn="l" marL="809899" indent="-404949" lvl="1">
              <a:lnSpc>
                <a:spcPts val="5251"/>
              </a:lnSpc>
              <a:buFont typeface="Arial"/>
              <a:buChar char="•"/>
            </a:pPr>
            <a:r>
              <a:rPr lang="en-US" sz="3751">
                <a:solidFill>
                  <a:srgbClr val="12354D"/>
                </a:solidFill>
                <a:latin typeface="Glacial Indifference"/>
                <a:ea typeface="Glacial Indifference"/>
                <a:cs typeface="Glacial Indifference"/>
                <a:sym typeface="Glacial Indifference"/>
              </a:rPr>
              <a:t>Pixels ≥ 18 → white (foreground)</a:t>
            </a:r>
          </a:p>
          <a:p>
            <a:pPr algn="l" marL="809899" indent="-404949" lvl="1">
              <a:lnSpc>
                <a:spcPts val="5251"/>
              </a:lnSpc>
              <a:buFont typeface="Arial"/>
              <a:buChar char="•"/>
            </a:pPr>
            <a:r>
              <a:rPr lang="en-US" sz="3751">
                <a:solidFill>
                  <a:srgbClr val="12354D"/>
                </a:solidFill>
                <a:latin typeface="Glacial Indifference"/>
                <a:ea typeface="Glacial Indifference"/>
                <a:cs typeface="Glacial Indifference"/>
                <a:sym typeface="Glacial Indifference"/>
              </a:rPr>
              <a:t>Pixels &lt; 18 → black (background)</a:t>
            </a:r>
          </a:p>
        </p:txBody>
      </p:sp>
      <p:sp>
        <p:nvSpPr>
          <p:cNvPr name="TextBox 18" id="18"/>
          <p:cNvSpPr txBox="true"/>
          <p:nvPr/>
        </p:nvSpPr>
        <p:spPr>
          <a:xfrm rot="0">
            <a:off x="7108269" y="1387475"/>
            <a:ext cx="1705931" cy="669925"/>
          </a:xfrm>
          <a:prstGeom prst="rect">
            <a:avLst/>
          </a:prstGeom>
        </p:spPr>
        <p:txBody>
          <a:bodyPr anchor="t" rtlCol="false" tIns="0" lIns="0" bIns="0" rIns="0">
            <a:spAutoFit/>
          </a:bodyPr>
          <a:lstStyle/>
          <a:p>
            <a:pPr algn="l">
              <a:lnSpc>
                <a:spcPts val="5000"/>
              </a:lnSpc>
            </a:pPr>
            <a:r>
              <a:rPr lang="en-US" sz="5000" b="true">
                <a:solidFill>
                  <a:srgbClr val="12354D"/>
                </a:solidFill>
                <a:latin typeface="Glacial Indifference Bold"/>
                <a:ea typeface="Glacial Indifference Bold"/>
                <a:cs typeface="Glacial Indifference Bold"/>
                <a:sym typeface="Glacial Indifference Bold"/>
              </a:rPr>
              <a:t>Idea:</a:t>
            </a:r>
          </a:p>
        </p:txBody>
      </p:sp>
      <p:sp>
        <p:nvSpPr>
          <p:cNvPr name="TextBox 19" id="19"/>
          <p:cNvSpPr txBox="true"/>
          <p:nvPr/>
        </p:nvSpPr>
        <p:spPr>
          <a:xfrm rot="0">
            <a:off x="6762967" y="2891759"/>
            <a:ext cx="3308130" cy="669925"/>
          </a:xfrm>
          <a:prstGeom prst="rect">
            <a:avLst/>
          </a:prstGeom>
        </p:spPr>
        <p:txBody>
          <a:bodyPr anchor="t" rtlCol="false" tIns="0" lIns="0" bIns="0" rIns="0">
            <a:spAutoFit/>
          </a:bodyPr>
          <a:lstStyle/>
          <a:p>
            <a:pPr algn="l">
              <a:lnSpc>
                <a:spcPts val="5000"/>
              </a:lnSpc>
            </a:pPr>
            <a:r>
              <a:rPr lang="en-US" sz="5000" b="true">
                <a:solidFill>
                  <a:srgbClr val="12354D"/>
                </a:solidFill>
                <a:latin typeface="Glacial Indifference Bold"/>
                <a:ea typeface="Glacial Indifference Bold"/>
                <a:cs typeface="Glacial Indifference Bold"/>
                <a:sym typeface="Glacial Indifference Bold"/>
              </a:rPr>
              <a:t>Threshold:</a:t>
            </a:r>
          </a:p>
        </p:txBody>
      </p:sp>
      <p:sp>
        <p:nvSpPr>
          <p:cNvPr name="TextBox 20" id="20"/>
          <p:cNvSpPr txBox="true"/>
          <p:nvPr/>
        </p:nvSpPr>
        <p:spPr>
          <a:xfrm rot="0">
            <a:off x="10071097" y="2936209"/>
            <a:ext cx="3308130" cy="609600"/>
          </a:xfrm>
          <a:prstGeom prst="rect">
            <a:avLst/>
          </a:prstGeom>
        </p:spPr>
        <p:txBody>
          <a:bodyPr anchor="t" rtlCol="false" tIns="0" lIns="0" bIns="0" rIns="0">
            <a:spAutoFit/>
          </a:bodyPr>
          <a:lstStyle/>
          <a:p>
            <a:pPr algn="l">
              <a:lnSpc>
                <a:spcPts val="4500"/>
              </a:lnSpc>
            </a:pPr>
            <a:r>
              <a:rPr lang="en-US" sz="4500">
                <a:solidFill>
                  <a:srgbClr val="12354D"/>
                </a:solidFill>
                <a:latin typeface="Glacial Indifference"/>
                <a:ea typeface="Glacial Indifference"/>
                <a:cs typeface="Glacial Indifference"/>
                <a:sym typeface="Glacial Indifference"/>
              </a:rPr>
              <a:t>T=18 </a:t>
            </a:r>
          </a:p>
        </p:txBody>
      </p:sp>
      <p:sp>
        <p:nvSpPr>
          <p:cNvPr name="TextBox 21" id="21"/>
          <p:cNvSpPr txBox="true"/>
          <p:nvPr/>
        </p:nvSpPr>
        <p:spPr>
          <a:xfrm rot="0">
            <a:off x="7238653" y="5502275"/>
            <a:ext cx="3810693" cy="669925"/>
          </a:xfrm>
          <a:prstGeom prst="rect">
            <a:avLst/>
          </a:prstGeom>
        </p:spPr>
        <p:txBody>
          <a:bodyPr anchor="t" rtlCol="false" tIns="0" lIns="0" bIns="0" rIns="0">
            <a:spAutoFit/>
          </a:bodyPr>
          <a:lstStyle/>
          <a:p>
            <a:pPr algn="l">
              <a:lnSpc>
                <a:spcPts val="5000"/>
              </a:lnSpc>
            </a:pPr>
            <a:r>
              <a:rPr lang="en-US" sz="5000" b="true">
                <a:solidFill>
                  <a:srgbClr val="12354D"/>
                </a:solidFill>
                <a:latin typeface="Glacial Indifference Bold"/>
                <a:ea typeface="Glacial Indifference Bold"/>
                <a:cs typeface="Glacial Indifference Bold"/>
                <a:sym typeface="Glacial Indifference Bold"/>
              </a:rPr>
              <a:t>Explanation</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grpSp>
        <p:nvGrpSpPr>
          <p:cNvPr name="Group 3" id="3"/>
          <p:cNvGrpSpPr/>
          <p:nvPr/>
        </p:nvGrpSpPr>
        <p:grpSpPr>
          <a:xfrm rot="0">
            <a:off x="6393198" y="-514350"/>
            <a:ext cx="12212869" cy="11316371"/>
            <a:chOff x="0" y="0"/>
            <a:chExt cx="3216558" cy="2980443"/>
          </a:xfrm>
        </p:grpSpPr>
        <p:sp>
          <p:nvSpPr>
            <p:cNvPr name="Freeform 4" id="4"/>
            <p:cNvSpPr/>
            <p:nvPr/>
          </p:nvSpPr>
          <p:spPr>
            <a:xfrm flipH="false" flipV="false" rot="0">
              <a:off x="0" y="0"/>
              <a:ext cx="3216558" cy="2980443"/>
            </a:xfrm>
            <a:custGeom>
              <a:avLst/>
              <a:gdLst/>
              <a:ahLst/>
              <a:cxnLst/>
              <a:rect r="r" b="b" t="t" l="l"/>
              <a:pathLst>
                <a:path h="2980443" w="3216558">
                  <a:moveTo>
                    <a:pt x="0" y="0"/>
                  </a:moveTo>
                  <a:lnTo>
                    <a:pt x="3216558" y="0"/>
                  </a:lnTo>
                  <a:lnTo>
                    <a:pt x="3216558" y="2980443"/>
                  </a:lnTo>
                  <a:lnTo>
                    <a:pt x="0" y="2980443"/>
                  </a:lnTo>
                  <a:close/>
                </a:path>
              </a:pathLst>
            </a:custGeom>
            <a:solidFill>
              <a:srgbClr val="FFFFFF"/>
            </a:solidFill>
          </p:spPr>
        </p:sp>
        <p:sp>
          <p:nvSpPr>
            <p:cNvPr name="TextBox 5" id="5"/>
            <p:cNvSpPr txBox="true"/>
            <p:nvPr/>
          </p:nvSpPr>
          <p:spPr>
            <a:xfrm>
              <a:off x="0" y="-47625"/>
              <a:ext cx="3216558" cy="3028068"/>
            </a:xfrm>
            <a:prstGeom prst="rect">
              <a:avLst/>
            </a:prstGeom>
          </p:spPr>
          <p:txBody>
            <a:bodyPr anchor="ctr" rtlCol="false" tIns="50800" lIns="50800" bIns="50800" rIns="50800"/>
            <a:lstStyle/>
            <a:p>
              <a:pPr algn="ctr">
                <a:lnSpc>
                  <a:spcPts val="3255"/>
                </a:lnSpc>
              </a:pPr>
            </a:p>
          </p:txBody>
        </p:sp>
      </p:grpSp>
      <p:sp>
        <p:nvSpPr>
          <p:cNvPr name="Freeform 6" id="6"/>
          <p:cNvSpPr/>
          <p:nvPr/>
        </p:nvSpPr>
        <p:spPr>
          <a:xfrm flipH="false" flipV="false" rot="0">
            <a:off x="6762967" y="2446859"/>
            <a:ext cx="311254" cy="311254"/>
          </a:xfrm>
          <a:custGeom>
            <a:avLst/>
            <a:gdLst/>
            <a:ahLst/>
            <a:cxnLst/>
            <a:rect r="r" b="b" t="t" l="l"/>
            <a:pathLst>
              <a:path h="311254" w="311254">
                <a:moveTo>
                  <a:pt x="0" y="0"/>
                </a:moveTo>
                <a:lnTo>
                  <a:pt x="311254" y="0"/>
                </a:lnTo>
                <a:lnTo>
                  <a:pt x="311254" y="311255"/>
                </a:lnTo>
                <a:lnTo>
                  <a:pt x="0" y="3112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762967" y="6000477"/>
            <a:ext cx="311254" cy="311254"/>
          </a:xfrm>
          <a:custGeom>
            <a:avLst/>
            <a:gdLst/>
            <a:ahLst/>
            <a:cxnLst/>
            <a:rect r="r" b="b" t="t" l="l"/>
            <a:pathLst>
              <a:path h="311254" w="311254">
                <a:moveTo>
                  <a:pt x="0" y="0"/>
                </a:moveTo>
                <a:lnTo>
                  <a:pt x="311254" y="0"/>
                </a:lnTo>
                <a:lnTo>
                  <a:pt x="311254" y="311254"/>
                </a:lnTo>
                <a:lnTo>
                  <a:pt x="0" y="3112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9144000" y="689032"/>
            <a:ext cx="679337" cy="67933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255"/>
                </a:lnSpc>
              </a:pPr>
            </a:p>
          </p:txBody>
        </p:sp>
      </p:grpSp>
      <p:grpSp>
        <p:nvGrpSpPr>
          <p:cNvPr name="Group 11" id="11"/>
          <p:cNvGrpSpPr/>
          <p:nvPr/>
        </p:nvGrpSpPr>
        <p:grpSpPr>
          <a:xfrm rot="0">
            <a:off x="7394281" y="4418182"/>
            <a:ext cx="9409196" cy="1035859"/>
            <a:chOff x="0" y="0"/>
            <a:chExt cx="2478142" cy="272819"/>
          </a:xfrm>
        </p:grpSpPr>
        <p:sp>
          <p:nvSpPr>
            <p:cNvPr name="Freeform 12" id="12"/>
            <p:cNvSpPr/>
            <p:nvPr/>
          </p:nvSpPr>
          <p:spPr>
            <a:xfrm flipH="false" flipV="false" rot="0">
              <a:off x="0" y="0"/>
              <a:ext cx="2478142" cy="272819"/>
            </a:xfrm>
            <a:custGeom>
              <a:avLst/>
              <a:gdLst/>
              <a:ahLst/>
              <a:cxnLst/>
              <a:rect r="r" b="b" t="t" l="l"/>
              <a:pathLst>
                <a:path h="272819" w="2478142">
                  <a:moveTo>
                    <a:pt x="41963" y="0"/>
                  </a:moveTo>
                  <a:lnTo>
                    <a:pt x="2436179" y="0"/>
                  </a:lnTo>
                  <a:cubicBezTo>
                    <a:pt x="2459355" y="0"/>
                    <a:pt x="2478142" y="18787"/>
                    <a:pt x="2478142" y="41963"/>
                  </a:cubicBezTo>
                  <a:lnTo>
                    <a:pt x="2478142" y="230856"/>
                  </a:lnTo>
                  <a:cubicBezTo>
                    <a:pt x="2478142" y="254031"/>
                    <a:pt x="2459355" y="272819"/>
                    <a:pt x="2436179" y="272819"/>
                  </a:cubicBezTo>
                  <a:lnTo>
                    <a:pt x="41963" y="272819"/>
                  </a:lnTo>
                  <a:cubicBezTo>
                    <a:pt x="18787" y="272819"/>
                    <a:pt x="0" y="254031"/>
                    <a:pt x="0" y="230856"/>
                  </a:cubicBezTo>
                  <a:lnTo>
                    <a:pt x="0" y="41963"/>
                  </a:lnTo>
                  <a:cubicBezTo>
                    <a:pt x="0" y="18787"/>
                    <a:pt x="18787" y="0"/>
                    <a:pt x="41963" y="0"/>
                  </a:cubicBezTo>
                  <a:close/>
                </a:path>
              </a:pathLst>
            </a:custGeom>
            <a:gradFill rotWithShape="true">
              <a:gsLst>
                <a:gs pos="0">
                  <a:srgbClr val="004AAD">
                    <a:alpha val="100000"/>
                  </a:srgbClr>
                </a:gs>
                <a:gs pos="100000">
                  <a:srgbClr val="CB6CE6">
                    <a:alpha val="100000"/>
                  </a:srgbClr>
                </a:gs>
              </a:gsLst>
              <a:lin ang="0"/>
            </a:gradFill>
          </p:spPr>
        </p:sp>
        <p:sp>
          <p:nvSpPr>
            <p:cNvPr name="TextBox 13" id="13"/>
            <p:cNvSpPr txBox="true"/>
            <p:nvPr/>
          </p:nvSpPr>
          <p:spPr>
            <a:xfrm>
              <a:off x="0" y="-66675"/>
              <a:ext cx="2478142" cy="339494"/>
            </a:xfrm>
            <a:prstGeom prst="rect">
              <a:avLst/>
            </a:prstGeom>
          </p:spPr>
          <p:txBody>
            <a:bodyPr anchor="ctr" rtlCol="false" tIns="50800" lIns="50800" bIns="50800" rIns="50800"/>
            <a:lstStyle/>
            <a:p>
              <a:pPr algn="ctr">
                <a:lnSpc>
                  <a:spcPts val="3919"/>
                </a:lnSpc>
              </a:pPr>
              <a:r>
                <a:rPr lang="en-US" b="true" sz="2799">
                  <a:solidFill>
                    <a:srgbClr val="FFFFFF"/>
                  </a:solidFill>
                  <a:latin typeface="Glacial Indifference Bold"/>
                  <a:ea typeface="Glacial Indifference Bold"/>
                  <a:cs typeface="Glacial Indifference Bold"/>
                  <a:sym typeface="Glacial Indifference Bold"/>
                </a:rPr>
                <a:t>labels = measure.label(binary, connectivity=2)</a:t>
              </a:r>
            </a:p>
          </p:txBody>
        </p:sp>
      </p:grpSp>
      <p:sp>
        <p:nvSpPr>
          <p:cNvPr name="Freeform 14" id="14"/>
          <p:cNvSpPr/>
          <p:nvPr/>
        </p:nvSpPr>
        <p:spPr>
          <a:xfrm flipH="true" flipV="false" rot="0">
            <a:off x="-468794" y="2224662"/>
            <a:ext cx="7231761" cy="8229600"/>
          </a:xfrm>
          <a:custGeom>
            <a:avLst/>
            <a:gdLst/>
            <a:ahLst/>
            <a:cxnLst/>
            <a:rect r="r" b="b" t="t" l="l"/>
            <a:pathLst>
              <a:path h="8229600" w="7231761">
                <a:moveTo>
                  <a:pt x="7231761" y="0"/>
                </a:moveTo>
                <a:lnTo>
                  <a:pt x="0" y="0"/>
                </a:lnTo>
                <a:lnTo>
                  <a:pt x="0" y="8229600"/>
                </a:lnTo>
                <a:lnTo>
                  <a:pt x="7231761" y="8229600"/>
                </a:lnTo>
                <a:lnTo>
                  <a:pt x="7231761" y="0"/>
                </a:lnTo>
                <a:close/>
              </a:path>
            </a:pathLst>
          </a:custGeom>
          <a:blipFill>
            <a:blip r:embed="rId5"/>
            <a:stretch>
              <a:fillRect l="0" t="0" r="0" b="0"/>
            </a:stretch>
          </a:blipFill>
        </p:spPr>
      </p:sp>
      <p:sp>
        <p:nvSpPr>
          <p:cNvPr name="TextBox 15" id="15"/>
          <p:cNvSpPr txBox="true"/>
          <p:nvPr/>
        </p:nvSpPr>
        <p:spPr>
          <a:xfrm rot="0">
            <a:off x="6952642" y="259336"/>
            <a:ext cx="11497798" cy="1689100"/>
          </a:xfrm>
          <a:prstGeom prst="rect">
            <a:avLst/>
          </a:prstGeom>
        </p:spPr>
        <p:txBody>
          <a:bodyPr anchor="t" rtlCol="false" tIns="0" lIns="0" bIns="0" rIns="0">
            <a:spAutoFit/>
          </a:bodyPr>
          <a:lstStyle/>
          <a:p>
            <a:pPr algn="l">
              <a:lnSpc>
                <a:spcPts val="6500"/>
              </a:lnSpc>
            </a:pPr>
            <a:r>
              <a:rPr lang="en-US" sz="6500" b="true">
                <a:solidFill>
                  <a:srgbClr val="12354D"/>
                </a:solidFill>
                <a:latin typeface="Glacial Indifference Bold"/>
                <a:ea typeface="Glacial Indifference Bold"/>
                <a:cs typeface="Glacial Indifference Bold"/>
                <a:sym typeface="Glacial Indifference Bold"/>
              </a:rPr>
              <a:t>Step 2.2: Connected Component Labeling</a:t>
            </a:r>
          </a:p>
        </p:txBody>
      </p:sp>
      <p:sp>
        <p:nvSpPr>
          <p:cNvPr name="TextBox 16" id="16"/>
          <p:cNvSpPr txBox="true"/>
          <p:nvPr/>
        </p:nvSpPr>
        <p:spPr>
          <a:xfrm rot="0">
            <a:off x="10455490" y="2305307"/>
            <a:ext cx="7508936" cy="646430"/>
          </a:xfrm>
          <a:prstGeom prst="rect">
            <a:avLst/>
          </a:prstGeom>
        </p:spPr>
        <p:txBody>
          <a:bodyPr anchor="t" rtlCol="false" tIns="0" lIns="0" bIns="0" rIns="0">
            <a:spAutoFit/>
          </a:bodyPr>
          <a:lstStyle/>
          <a:p>
            <a:pPr algn="l">
              <a:lnSpc>
                <a:spcPts val="5320"/>
              </a:lnSpc>
            </a:pPr>
            <a:r>
              <a:rPr lang="en-US" sz="3800">
                <a:solidFill>
                  <a:srgbClr val="12354D"/>
                </a:solidFill>
                <a:latin typeface="Glacial Indifference"/>
                <a:ea typeface="Glacial Indifference"/>
                <a:cs typeface="Glacial Indifference"/>
                <a:sym typeface="Glacial Indifference"/>
              </a:rPr>
              <a:t>dentify each object separately</a:t>
            </a:r>
          </a:p>
        </p:txBody>
      </p:sp>
      <p:sp>
        <p:nvSpPr>
          <p:cNvPr name="TextBox 17" id="17"/>
          <p:cNvSpPr txBox="true"/>
          <p:nvPr/>
        </p:nvSpPr>
        <p:spPr>
          <a:xfrm rot="0">
            <a:off x="7394281" y="6685941"/>
            <a:ext cx="9522890" cy="2634243"/>
          </a:xfrm>
          <a:prstGeom prst="rect">
            <a:avLst/>
          </a:prstGeom>
        </p:spPr>
        <p:txBody>
          <a:bodyPr anchor="t" rtlCol="false" tIns="0" lIns="0" bIns="0" rIns="0">
            <a:spAutoFit/>
          </a:bodyPr>
          <a:lstStyle/>
          <a:p>
            <a:pPr algn="l" marL="809899" indent="-404949" lvl="1">
              <a:lnSpc>
                <a:spcPts val="5251"/>
              </a:lnSpc>
              <a:buFont typeface="Arial"/>
              <a:buChar char="•"/>
            </a:pPr>
            <a:r>
              <a:rPr lang="en-US" sz="3751">
                <a:solidFill>
                  <a:srgbClr val="12354D"/>
                </a:solidFill>
                <a:latin typeface="Glacial Indifference"/>
                <a:ea typeface="Glacial Indifference"/>
                <a:cs typeface="Glacial Indifference"/>
                <a:sym typeface="Glacial Indifference"/>
              </a:rPr>
              <a:t>Each connected region gets a unique label</a:t>
            </a:r>
          </a:p>
          <a:p>
            <a:pPr algn="l" marL="809899" indent="-404949" lvl="1">
              <a:lnSpc>
                <a:spcPts val="5251"/>
              </a:lnSpc>
              <a:buFont typeface="Arial"/>
              <a:buChar char="•"/>
            </a:pPr>
            <a:r>
              <a:rPr lang="en-US" sz="3751">
                <a:solidFill>
                  <a:srgbClr val="12354D"/>
                </a:solidFill>
                <a:latin typeface="Glacial Indifference"/>
                <a:ea typeface="Glacial Indifference"/>
                <a:cs typeface="Glacial Indifference"/>
                <a:sym typeface="Glacial Indifference"/>
              </a:rPr>
              <a:t>Breast, text, and markers are separated</a:t>
            </a:r>
          </a:p>
          <a:p>
            <a:pPr algn="l">
              <a:lnSpc>
                <a:spcPts val="5251"/>
              </a:lnSpc>
            </a:pPr>
          </a:p>
        </p:txBody>
      </p:sp>
      <p:sp>
        <p:nvSpPr>
          <p:cNvPr name="TextBox 18" id="18"/>
          <p:cNvSpPr txBox="true"/>
          <p:nvPr/>
        </p:nvSpPr>
        <p:spPr>
          <a:xfrm rot="0">
            <a:off x="7263896" y="2310387"/>
            <a:ext cx="3191593" cy="669925"/>
          </a:xfrm>
          <a:prstGeom prst="rect">
            <a:avLst/>
          </a:prstGeom>
        </p:spPr>
        <p:txBody>
          <a:bodyPr anchor="t" rtlCol="false" tIns="0" lIns="0" bIns="0" rIns="0">
            <a:spAutoFit/>
          </a:bodyPr>
          <a:lstStyle/>
          <a:p>
            <a:pPr algn="l">
              <a:lnSpc>
                <a:spcPts val="5000"/>
              </a:lnSpc>
            </a:pPr>
            <a:r>
              <a:rPr lang="en-US" sz="5000" b="true">
                <a:solidFill>
                  <a:srgbClr val="12354D"/>
                </a:solidFill>
                <a:latin typeface="Glacial Indifference Bold"/>
                <a:ea typeface="Glacial Indifference Bold"/>
                <a:cs typeface="Glacial Indifference Bold"/>
                <a:sym typeface="Glacial Indifference Bold"/>
              </a:rPr>
              <a:t>Objective:</a:t>
            </a:r>
          </a:p>
        </p:txBody>
      </p:sp>
      <p:sp>
        <p:nvSpPr>
          <p:cNvPr name="TextBox 19" id="19"/>
          <p:cNvSpPr txBox="true"/>
          <p:nvPr/>
        </p:nvSpPr>
        <p:spPr>
          <a:xfrm rot="0">
            <a:off x="7204605" y="5815991"/>
            <a:ext cx="3810693" cy="669925"/>
          </a:xfrm>
          <a:prstGeom prst="rect">
            <a:avLst/>
          </a:prstGeom>
        </p:spPr>
        <p:txBody>
          <a:bodyPr anchor="t" rtlCol="false" tIns="0" lIns="0" bIns="0" rIns="0">
            <a:spAutoFit/>
          </a:bodyPr>
          <a:lstStyle/>
          <a:p>
            <a:pPr algn="l">
              <a:lnSpc>
                <a:spcPts val="5000"/>
              </a:lnSpc>
            </a:pPr>
            <a:r>
              <a:rPr lang="en-US" sz="5000" b="true">
                <a:solidFill>
                  <a:srgbClr val="12354D"/>
                </a:solidFill>
                <a:latin typeface="Glacial Indifference Bold"/>
                <a:ea typeface="Glacial Indifference Bold"/>
                <a:cs typeface="Glacial Indifference Bold"/>
                <a:sym typeface="Glacial Indifference Bold"/>
              </a:rPr>
              <a:t>Explanation</a:t>
            </a:r>
          </a:p>
        </p:txBody>
      </p:sp>
      <p:sp>
        <p:nvSpPr>
          <p:cNvPr name="Freeform 20" id="20"/>
          <p:cNvSpPr/>
          <p:nvPr/>
        </p:nvSpPr>
        <p:spPr>
          <a:xfrm flipH="false" flipV="false" rot="0">
            <a:off x="6762967" y="3608505"/>
            <a:ext cx="311254" cy="311254"/>
          </a:xfrm>
          <a:custGeom>
            <a:avLst/>
            <a:gdLst/>
            <a:ahLst/>
            <a:cxnLst/>
            <a:rect r="r" b="b" t="t" l="l"/>
            <a:pathLst>
              <a:path h="311254" w="311254">
                <a:moveTo>
                  <a:pt x="0" y="0"/>
                </a:moveTo>
                <a:lnTo>
                  <a:pt x="311254" y="0"/>
                </a:lnTo>
                <a:lnTo>
                  <a:pt x="311254" y="311254"/>
                </a:lnTo>
                <a:lnTo>
                  <a:pt x="0" y="3112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7263896" y="3472032"/>
            <a:ext cx="3191593" cy="669925"/>
          </a:xfrm>
          <a:prstGeom prst="rect">
            <a:avLst/>
          </a:prstGeom>
        </p:spPr>
        <p:txBody>
          <a:bodyPr anchor="t" rtlCol="false" tIns="0" lIns="0" bIns="0" rIns="0">
            <a:spAutoFit/>
          </a:bodyPr>
          <a:lstStyle/>
          <a:p>
            <a:pPr algn="l">
              <a:lnSpc>
                <a:spcPts val="5000"/>
              </a:lnSpc>
            </a:pPr>
            <a:r>
              <a:rPr lang="en-US" sz="5000" b="true">
                <a:solidFill>
                  <a:srgbClr val="12354D"/>
                </a:solidFill>
                <a:latin typeface="Glacial Indifference Bold"/>
                <a:ea typeface="Glacial Indifference Bold"/>
                <a:cs typeface="Glacial Indifference Bold"/>
                <a:sym typeface="Glacial Indifference Bold"/>
              </a:rPr>
              <a:t>Code:</a:t>
            </a:r>
          </a:p>
        </p:txBody>
      </p:sp>
    </p:spTree>
  </p:cSld>
  <p:clrMapOvr>
    <a:masterClrMapping/>
  </p:clrMapOvr>
  <p:transition spd="slow">
    <p:push dir="u"/>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grpSp>
        <p:nvGrpSpPr>
          <p:cNvPr name="Group 3" id="3"/>
          <p:cNvGrpSpPr/>
          <p:nvPr/>
        </p:nvGrpSpPr>
        <p:grpSpPr>
          <a:xfrm rot="0">
            <a:off x="6393198" y="-514350"/>
            <a:ext cx="12212869" cy="11316371"/>
            <a:chOff x="0" y="0"/>
            <a:chExt cx="3216558" cy="2980443"/>
          </a:xfrm>
        </p:grpSpPr>
        <p:sp>
          <p:nvSpPr>
            <p:cNvPr name="Freeform 4" id="4"/>
            <p:cNvSpPr/>
            <p:nvPr/>
          </p:nvSpPr>
          <p:spPr>
            <a:xfrm flipH="false" flipV="false" rot="0">
              <a:off x="0" y="0"/>
              <a:ext cx="3216558" cy="2980443"/>
            </a:xfrm>
            <a:custGeom>
              <a:avLst/>
              <a:gdLst/>
              <a:ahLst/>
              <a:cxnLst/>
              <a:rect r="r" b="b" t="t" l="l"/>
              <a:pathLst>
                <a:path h="2980443" w="3216558">
                  <a:moveTo>
                    <a:pt x="0" y="0"/>
                  </a:moveTo>
                  <a:lnTo>
                    <a:pt x="3216558" y="0"/>
                  </a:lnTo>
                  <a:lnTo>
                    <a:pt x="3216558" y="2980443"/>
                  </a:lnTo>
                  <a:lnTo>
                    <a:pt x="0" y="2980443"/>
                  </a:lnTo>
                  <a:close/>
                </a:path>
              </a:pathLst>
            </a:custGeom>
            <a:solidFill>
              <a:srgbClr val="FFFFFF"/>
            </a:solidFill>
          </p:spPr>
        </p:sp>
        <p:sp>
          <p:nvSpPr>
            <p:cNvPr name="TextBox 5" id="5"/>
            <p:cNvSpPr txBox="true"/>
            <p:nvPr/>
          </p:nvSpPr>
          <p:spPr>
            <a:xfrm>
              <a:off x="0" y="-47625"/>
              <a:ext cx="3216558" cy="3028068"/>
            </a:xfrm>
            <a:prstGeom prst="rect">
              <a:avLst/>
            </a:prstGeom>
          </p:spPr>
          <p:txBody>
            <a:bodyPr anchor="ctr" rtlCol="false" tIns="50800" lIns="50800" bIns="50800" rIns="50800"/>
            <a:lstStyle/>
            <a:p>
              <a:pPr algn="ctr">
                <a:lnSpc>
                  <a:spcPts val="3255"/>
                </a:lnSpc>
              </a:pPr>
            </a:p>
          </p:txBody>
        </p:sp>
      </p:grpSp>
      <p:sp>
        <p:nvSpPr>
          <p:cNvPr name="Freeform 6" id="6"/>
          <p:cNvSpPr/>
          <p:nvPr/>
        </p:nvSpPr>
        <p:spPr>
          <a:xfrm flipH="false" flipV="false" rot="0">
            <a:off x="6762967" y="2446859"/>
            <a:ext cx="311254" cy="311254"/>
          </a:xfrm>
          <a:custGeom>
            <a:avLst/>
            <a:gdLst/>
            <a:ahLst/>
            <a:cxnLst/>
            <a:rect r="r" b="b" t="t" l="l"/>
            <a:pathLst>
              <a:path h="311254" w="311254">
                <a:moveTo>
                  <a:pt x="0" y="0"/>
                </a:moveTo>
                <a:lnTo>
                  <a:pt x="311254" y="0"/>
                </a:lnTo>
                <a:lnTo>
                  <a:pt x="311254" y="311255"/>
                </a:lnTo>
                <a:lnTo>
                  <a:pt x="0" y="3112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762967" y="6508812"/>
            <a:ext cx="311254" cy="311254"/>
          </a:xfrm>
          <a:custGeom>
            <a:avLst/>
            <a:gdLst/>
            <a:ahLst/>
            <a:cxnLst/>
            <a:rect r="r" b="b" t="t" l="l"/>
            <a:pathLst>
              <a:path h="311254" w="311254">
                <a:moveTo>
                  <a:pt x="0" y="0"/>
                </a:moveTo>
                <a:lnTo>
                  <a:pt x="311254" y="0"/>
                </a:lnTo>
                <a:lnTo>
                  <a:pt x="311254" y="311255"/>
                </a:lnTo>
                <a:lnTo>
                  <a:pt x="0" y="3112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9144000" y="689032"/>
            <a:ext cx="679337" cy="67933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255"/>
                </a:lnSpc>
              </a:pPr>
            </a:p>
          </p:txBody>
        </p:sp>
      </p:grpSp>
      <p:grpSp>
        <p:nvGrpSpPr>
          <p:cNvPr name="Group 11" id="11"/>
          <p:cNvGrpSpPr/>
          <p:nvPr/>
        </p:nvGrpSpPr>
        <p:grpSpPr>
          <a:xfrm rot="0">
            <a:off x="7394281" y="4964618"/>
            <a:ext cx="9409196" cy="1035859"/>
            <a:chOff x="0" y="0"/>
            <a:chExt cx="2478142" cy="272819"/>
          </a:xfrm>
        </p:grpSpPr>
        <p:sp>
          <p:nvSpPr>
            <p:cNvPr name="Freeform 12" id="12"/>
            <p:cNvSpPr/>
            <p:nvPr/>
          </p:nvSpPr>
          <p:spPr>
            <a:xfrm flipH="false" flipV="false" rot="0">
              <a:off x="0" y="0"/>
              <a:ext cx="2478142" cy="272819"/>
            </a:xfrm>
            <a:custGeom>
              <a:avLst/>
              <a:gdLst/>
              <a:ahLst/>
              <a:cxnLst/>
              <a:rect r="r" b="b" t="t" l="l"/>
              <a:pathLst>
                <a:path h="272819" w="2478142">
                  <a:moveTo>
                    <a:pt x="41963" y="0"/>
                  </a:moveTo>
                  <a:lnTo>
                    <a:pt x="2436179" y="0"/>
                  </a:lnTo>
                  <a:cubicBezTo>
                    <a:pt x="2459355" y="0"/>
                    <a:pt x="2478142" y="18787"/>
                    <a:pt x="2478142" y="41963"/>
                  </a:cubicBezTo>
                  <a:lnTo>
                    <a:pt x="2478142" y="230856"/>
                  </a:lnTo>
                  <a:cubicBezTo>
                    <a:pt x="2478142" y="254031"/>
                    <a:pt x="2459355" y="272819"/>
                    <a:pt x="2436179" y="272819"/>
                  </a:cubicBezTo>
                  <a:lnTo>
                    <a:pt x="41963" y="272819"/>
                  </a:lnTo>
                  <a:cubicBezTo>
                    <a:pt x="18787" y="272819"/>
                    <a:pt x="0" y="254031"/>
                    <a:pt x="0" y="230856"/>
                  </a:cubicBezTo>
                  <a:lnTo>
                    <a:pt x="0" y="41963"/>
                  </a:lnTo>
                  <a:cubicBezTo>
                    <a:pt x="0" y="18787"/>
                    <a:pt x="18787" y="0"/>
                    <a:pt x="41963" y="0"/>
                  </a:cubicBezTo>
                  <a:close/>
                </a:path>
              </a:pathLst>
            </a:custGeom>
            <a:gradFill rotWithShape="true">
              <a:gsLst>
                <a:gs pos="0">
                  <a:srgbClr val="004AAD">
                    <a:alpha val="100000"/>
                  </a:srgbClr>
                </a:gs>
                <a:gs pos="100000">
                  <a:srgbClr val="CB6CE6">
                    <a:alpha val="100000"/>
                  </a:srgbClr>
                </a:gs>
              </a:gsLst>
              <a:lin ang="0"/>
            </a:gradFill>
          </p:spPr>
        </p:sp>
        <p:sp>
          <p:nvSpPr>
            <p:cNvPr name="TextBox 13" id="13"/>
            <p:cNvSpPr txBox="true"/>
            <p:nvPr/>
          </p:nvSpPr>
          <p:spPr>
            <a:xfrm>
              <a:off x="0" y="-66675"/>
              <a:ext cx="2478142" cy="339494"/>
            </a:xfrm>
            <a:prstGeom prst="rect">
              <a:avLst/>
            </a:prstGeom>
          </p:spPr>
          <p:txBody>
            <a:bodyPr anchor="ctr" rtlCol="false" tIns="50800" lIns="50800" bIns="50800" rIns="50800"/>
            <a:lstStyle/>
            <a:p>
              <a:pPr algn="ctr">
                <a:lnSpc>
                  <a:spcPts val="3919"/>
                </a:lnSpc>
              </a:pPr>
              <a:r>
                <a:rPr lang="en-US" b="true" sz="2799">
                  <a:solidFill>
                    <a:srgbClr val="FFFFFF"/>
                  </a:solidFill>
                  <a:latin typeface="Glacial Indifference Bold"/>
                  <a:ea typeface="Glacial Indifference Bold"/>
                  <a:cs typeface="Glacial Indifference Bold"/>
                  <a:sym typeface="Glacial Indifference Bold"/>
                </a:rPr>
                <a:t>largest_region = max(regions, key=lambda r: r.area)</a:t>
              </a:r>
            </a:p>
          </p:txBody>
        </p:sp>
      </p:grpSp>
      <p:sp>
        <p:nvSpPr>
          <p:cNvPr name="Freeform 14" id="14"/>
          <p:cNvSpPr/>
          <p:nvPr/>
        </p:nvSpPr>
        <p:spPr>
          <a:xfrm flipH="true" flipV="false" rot="0">
            <a:off x="-468794" y="2224662"/>
            <a:ext cx="7231761" cy="8229600"/>
          </a:xfrm>
          <a:custGeom>
            <a:avLst/>
            <a:gdLst/>
            <a:ahLst/>
            <a:cxnLst/>
            <a:rect r="r" b="b" t="t" l="l"/>
            <a:pathLst>
              <a:path h="8229600" w="7231761">
                <a:moveTo>
                  <a:pt x="7231761" y="0"/>
                </a:moveTo>
                <a:lnTo>
                  <a:pt x="0" y="0"/>
                </a:lnTo>
                <a:lnTo>
                  <a:pt x="0" y="8229600"/>
                </a:lnTo>
                <a:lnTo>
                  <a:pt x="7231761" y="8229600"/>
                </a:lnTo>
                <a:lnTo>
                  <a:pt x="7231761" y="0"/>
                </a:lnTo>
                <a:close/>
              </a:path>
            </a:pathLst>
          </a:custGeom>
          <a:blipFill>
            <a:blip r:embed="rId5"/>
            <a:stretch>
              <a:fillRect l="0" t="0" r="0" b="0"/>
            </a:stretch>
          </a:blipFill>
        </p:spPr>
      </p:sp>
      <p:sp>
        <p:nvSpPr>
          <p:cNvPr name="TextBox 15" id="15"/>
          <p:cNvSpPr txBox="true"/>
          <p:nvPr/>
        </p:nvSpPr>
        <p:spPr>
          <a:xfrm rot="0">
            <a:off x="6952642" y="259336"/>
            <a:ext cx="11497798" cy="1689100"/>
          </a:xfrm>
          <a:prstGeom prst="rect">
            <a:avLst/>
          </a:prstGeom>
        </p:spPr>
        <p:txBody>
          <a:bodyPr anchor="t" rtlCol="false" tIns="0" lIns="0" bIns="0" rIns="0">
            <a:spAutoFit/>
          </a:bodyPr>
          <a:lstStyle/>
          <a:p>
            <a:pPr algn="l">
              <a:lnSpc>
                <a:spcPts val="6500"/>
              </a:lnSpc>
            </a:pPr>
            <a:r>
              <a:rPr lang="en-US" sz="6500" b="true">
                <a:solidFill>
                  <a:srgbClr val="12354D"/>
                </a:solidFill>
                <a:latin typeface="Glacial Indifference Bold"/>
                <a:ea typeface="Glacial Indifference Bold"/>
                <a:cs typeface="Glacial Indifference Bold"/>
                <a:sym typeface="Glacial Indifference Bold"/>
              </a:rPr>
              <a:t>Step 2.3: Largest Object Selection</a:t>
            </a:r>
          </a:p>
        </p:txBody>
      </p:sp>
      <p:sp>
        <p:nvSpPr>
          <p:cNvPr name="TextBox 16" id="16"/>
          <p:cNvSpPr txBox="true"/>
          <p:nvPr/>
        </p:nvSpPr>
        <p:spPr>
          <a:xfrm rot="0">
            <a:off x="7204605" y="3047898"/>
            <a:ext cx="10364162" cy="646430"/>
          </a:xfrm>
          <a:prstGeom prst="rect">
            <a:avLst/>
          </a:prstGeom>
        </p:spPr>
        <p:txBody>
          <a:bodyPr anchor="t" rtlCol="false" tIns="0" lIns="0" bIns="0" rIns="0">
            <a:spAutoFit/>
          </a:bodyPr>
          <a:lstStyle/>
          <a:p>
            <a:pPr algn="l">
              <a:lnSpc>
                <a:spcPts val="5320"/>
              </a:lnSpc>
            </a:pPr>
            <a:r>
              <a:rPr lang="en-US" sz="3800">
                <a:solidFill>
                  <a:srgbClr val="12354D"/>
                </a:solidFill>
                <a:latin typeface="Glacial Indifference"/>
                <a:ea typeface="Glacial Indifference"/>
                <a:cs typeface="Glacial Indifference"/>
                <a:sym typeface="Glacial Indifference"/>
              </a:rPr>
              <a:t>The breast is the largest object in the image</a:t>
            </a:r>
          </a:p>
        </p:txBody>
      </p:sp>
      <p:sp>
        <p:nvSpPr>
          <p:cNvPr name="TextBox 17" id="17"/>
          <p:cNvSpPr txBox="true"/>
          <p:nvPr/>
        </p:nvSpPr>
        <p:spPr>
          <a:xfrm rot="0">
            <a:off x="7394281" y="7156177"/>
            <a:ext cx="9522890" cy="1307580"/>
          </a:xfrm>
          <a:prstGeom prst="rect">
            <a:avLst/>
          </a:prstGeom>
        </p:spPr>
        <p:txBody>
          <a:bodyPr anchor="t" rtlCol="false" tIns="0" lIns="0" bIns="0" rIns="0">
            <a:spAutoFit/>
          </a:bodyPr>
          <a:lstStyle/>
          <a:p>
            <a:pPr algn="l" marL="809899" indent="-404949" lvl="1">
              <a:lnSpc>
                <a:spcPts val="5251"/>
              </a:lnSpc>
              <a:buFont typeface="Arial"/>
              <a:buChar char="•"/>
            </a:pPr>
            <a:r>
              <a:rPr lang="en-US" sz="3751">
                <a:solidFill>
                  <a:srgbClr val="12354D"/>
                </a:solidFill>
                <a:latin typeface="Glacial Indifference"/>
                <a:ea typeface="Glacial Indifference"/>
                <a:cs typeface="Glacial Indifference"/>
                <a:sym typeface="Glacial Indifference"/>
              </a:rPr>
              <a:t>Compute area of each component</a:t>
            </a:r>
          </a:p>
          <a:p>
            <a:pPr algn="l" marL="809899" indent="-404949" lvl="1">
              <a:lnSpc>
                <a:spcPts val="5251"/>
              </a:lnSpc>
              <a:buFont typeface="Arial"/>
              <a:buChar char="•"/>
            </a:pPr>
            <a:r>
              <a:rPr lang="en-US" sz="3751">
                <a:solidFill>
                  <a:srgbClr val="12354D"/>
                </a:solidFill>
                <a:latin typeface="Glacial Indifference"/>
                <a:ea typeface="Glacial Indifference"/>
                <a:cs typeface="Glacial Indifference"/>
                <a:sym typeface="Glacial Indifference"/>
              </a:rPr>
              <a:t>K</a:t>
            </a:r>
            <a:r>
              <a:rPr lang="en-US" sz="3751">
                <a:solidFill>
                  <a:srgbClr val="12354D"/>
                </a:solidFill>
                <a:latin typeface="Glacial Indifference"/>
                <a:ea typeface="Glacial Indifference"/>
                <a:cs typeface="Glacial Indifference"/>
                <a:sym typeface="Glacial Indifference"/>
              </a:rPr>
              <a:t>eep only the largest one</a:t>
            </a:r>
          </a:p>
        </p:txBody>
      </p:sp>
      <p:sp>
        <p:nvSpPr>
          <p:cNvPr name="TextBox 18" id="18"/>
          <p:cNvSpPr txBox="true"/>
          <p:nvPr/>
        </p:nvSpPr>
        <p:spPr>
          <a:xfrm rot="0">
            <a:off x="7263896" y="2310387"/>
            <a:ext cx="5235737" cy="669925"/>
          </a:xfrm>
          <a:prstGeom prst="rect">
            <a:avLst/>
          </a:prstGeom>
        </p:spPr>
        <p:txBody>
          <a:bodyPr anchor="t" rtlCol="false" tIns="0" lIns="0" bIns="0" rIns="0">
            <a:spAutoFit/>
          </a:bodyPr>
          <a:lstStyle/>
          <a:p>
            <a:pPr algn="l">
              <a:lnSpc>
                <a:spcPts val="5000"/>
              </a:lnSpc>
            </a:pPr>
            <a:r>
              <a:rPr lang="en-US" sz="5000" b="true">
                <a:solidFill>
                  <a:srgbClr val="12354D"/>
                </a:solidFill>
                <a:latin typeface="Glacial Indifference Bold"/>
                <a:ea typeface="Glacial Indifference Bold"/>
                <a:cs typeface="Glacial Indifference Bold"/>
                <a:sym typeface="Glacial Indifference Bold"/>
              </a:rPr>
              <a:t>Key Assumption</a:t>
            </a:r>
          </a:p>
        </p:txBody>
      </p:sp>
      <p:sp>
        <p:nvSpPr>
          <p:cNvPr name="TextBox 19" id="19"/>
          <p:cNvSpPr txBox="true"/>
          <p:nvPr/>
        </p:nvSpPr>
        <p:spPr>
          <a:xfrm rot="0">
            <a:off x="7204605" y="6324327"/>
            <a:ext cx="3810693" cy="669925"/>
          </a:xfrm>
          <a:prstGeom prst="rect">
            <a:avLst/>
          </a:prstGeom>
        </p:spPr>
        <p:txBody>
          <a:bodyPr anchor="t" rtlCol="false" tIns="0" lIns="0" bIns="0" rIns="0">
            <a:spAutoFit/>
          </a:bodyPr>
          <a:lstStyle/>
          <a:p>
            <a:pPr algn="l">
              <a:lnSpc>
                <a:spcPts val="5000"/>
              </a:lnSpc>
            </a:pPr>
            <a:r>
              <a:rPr lang="en-US" sz="5000" b="true">
                <a:solidFill>
                  <a:srgbClr val="12354D"/>
                </a:solidFill>
                <a:latin typeface="Glacial Indifference Bold"/>
                <a:ea typeface="Glacial Indifference Bold"/>
                <a:cs typeface="Glacial Indifference Bold"/>
                <a:sym typeface="Glacial Indifference Bold"/>
              </a:rPr>
              <a:t>Explanation</a:t>
            </a:r>
          </a:p>
        </p:txBody>
      </p:sp>
      <p:sp>
        <p:nvSpPr>
          <p:cNvPr name="Freeform 20" id="20"/>
          <p:cNvSpPr/>
          <p:nvPr/>
        </p:nvSpPr>
        <p:spPr>
          <a:xfrm flipH="false" flipV="false" rot="0">
            <a:off x="6762967" y="4154941"/>
            <a:ext cx="311254" cy="311254"/>
          </a:xfrm>
          <a:custGeom>
            <a:avLst/>
            <a:gdLst/>
            <a:ahLst/>
            <a:cxnLst/>
            <a:rect r="r" b="b" t="t" l="l"/>
            <a:pathLst>
              <a:path h="311254" w="311254">
                <a:moveTo>
                  <a:pt x="0" y="0"/>
                </a:moveTo>
                <a:lnTo>
                  <a:pt x="311254" y="0"/>
                </a:lnTo>
                <a:lnTo>
                  <a:pt x="311254" y="311254"/>
                </a:lnTo>
                <a:lnTo>
                  <a:pt x="0" y="3112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7263896" y="4018468"/>
            <a:ext cx="3191593" cy="669925"/>
          </a:xfrm>
          <a:prstGeom prst="rect">
            <a:avLst/>
          </a:prstGeom>
        </p:spPr>
        <p:txBody>
          <a:bodyPr anchor="t" rtlCol="false" tIns="0" lIns="0" bIns="0" rIns="0">
            <a:spAutoFit/>
          </a:bodyPr>
          <a:lstStyle/>
          <a:p>
            <a:pPr algn="l">
              <a:lnSpc>
                <a:spcPts val="5000"/>
              </a:lnSpc>
            </a:pPr>
            <a:r>
              <a:rPr lang="en-US" sz="5000" b="true">
                <a:solidFill>
                  <a:srgbClr val="12354D"/>
                </a:solidFill>
                <a:latin typeface="Glacial Indifference Bold"/>
                <a:ea typeface="Glacial Indifference Bold"/>
                <a:cs typeface="Glacial Indifference Bold"/>
                <a:sym typeface="Glacial Indifference Bold"/>
              </a:rPr>
              <a:t>Code:</a:t>
            </a:r>
          </a:p>
        </p:txBody>
      </p:sp>
    </p:spTree>
  </p:cSld>
  <p:clrMapOvr>
    <a:masterClrMapping/>
  </p:clrMapOvr>
  <p:transition spd="slow">
    <p:push dir="u"/>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grpSp>
        <p:nvGrpSpPr>
          <p:cNvPr name="Group 3" id="3"/>
          <p:cNvGrpSpPr/>
          <p:nvPr/>
        </p:nvGrpSpPr>
        <p:grpSpPr>
          <a:xfrm rot="0">
            <a:off x="6393198" y="-514350"/>
            <a:ext cx="12212869" cy="11316371"/>
            <a:chOff x="0" y="0"/>
            <a:chExt cx="3216558" cy="2980443"/>
          </a:xfrm>
        </p:grpSpPr>
        <p:sp>
          <p:nvSpPr>
            <p:cNvPr name="Freeform 4" id="4"/>
            <p:cNvSpPr/>
            <p:nvPr/>
          </p:nvSpPr>
          <p:spPr>
            <a:xfrm flipH="false" flipV="false" rot="0">
              <a:off x="0" y="0"/>
              <a:ext cx="3216558" cy="2980443"/>
            </a:xfrm>
            <a:custGeom>
              <a:avLst/>
              <a:gdLst/>
              <a:ahLst/>
              <a:cxnLst/>
              <a:rect r="r" b="b" t="t" l="l"/>
              <a:pathLst>
                <a:path h="2980443" w="3216558">
                  <a:moveTo>
                    <a:pt x="0" y="0"/>
                  </a:moveTo>
                  <a:lnTo>
                    <a:pt x="3216558" y="0"/>
                  </a:lnTo>
                  <a:lnTo>
                    <a:pt x="3216558" y="2980443"/>
                  </a:lnTo>
                  <a:lnTo>
                    <a:pt x="0" y="2980443"/>
                  </a:lnTo>
                  <a:close/>
                </a:path>
              </a:pathLst>
            </a:custGeom>
            <a:solidFill>
              <a:srgbClr val="FFFFFF"/>
            </a:solidFill>
          </p:spPr>
        </p:sp>
        <p:sp>
          <p:nvSpPr>
            <p:cNvPr name="TextBox 5" id="5"/>
            <p:cNvSpPr txBox="true"/>
            <p:nvPr/>
          </p:nvSpPr>
          <p:spPr>
            <a:xfrm>
              <a:off x="0" y="-47625"/>
              <a:ext cx="3216558" cy="3028068"/>
            </a:xfrm>
            <a:prstGeom prst="rect">
              <a:avLst/>
            </a:prstGeom>
          </p:spPr>
          <p:txBody>
            <a:bodyPr anchor="ctr" rtlCol="false" tIns="50800" lIns="50800" bIns="50800" rIns="50800"/>
            <a:lstStyle/>
            <a:p>
              <a:pPr algn="ctr">
                <a:lnSpc>
                  <a:spcPts val="3255"/>
                </a:lnSpc>
              </a:pPr>
            </a:p>
          </p:txBody>
        </p:sp>
      </p:grpSp>
      <p:sp>
        <p:nvSpPr>
          <p:cNvPr name="Freeform 6" id="6"/>
          <p:cNvSpPr/>
          <p:nvPr/>
        </p:nvSpPr>
        <p:spPr>
          <a:xfrm flipH="false" flipV="false" rot="0">
            <a:off x="6615335" y="1691209"/>
            <a:ext cx="311254" cy="311254"/>
          </a:xfrm>
          <a:custGeom>
            <a:avLst/>
            <a:gdLst/>
            <a:ahLst/>
            <a:cxnLst/>
            <a:rect r="r" b="b" t="t" l="l"/>
            <a:pathLst>
              <a:path h="311254" w="311254">
                <a:moveTo>
                  <a:pt x="0" y="0"/>
                </a:moveTo>
                <a:lnTo>
                  <a:pt x="311254" y="0"/>
                </a:lnTo>
                <a:lnTo>
                  <a:pt x="311254" y="311255"/>
                </a:lnTo>
                <a:lnTo>
                  <a:pt x="0" y="3112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733527" y="6019122"/>
            <a:ext cx="311254" cy="311254"/>
          </a:xfrm>
          <a:custGeom>
            <a:avLst/>
            <a:gdLst/>
            <a:ahLst/>
            <a:cxnLst/>
            <a:rect r="r" b="b" t="t" l="l"/>
            <a:pathLst>
              <a:path h="311254" w="311254">
                <a:moveTo>
                  <a:pt x="0" y="0"/>
                </a:moveTo>
                <a:lnTo>
                  <a:pt x="311254" y="0"/>
                </a:lnTo>
                <a:lnTo>
                  <a:pt x="311254" y="311254"/>
                </a:lnTo>
                <a:lnTo>
                  <a:pt x="0" y="3112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9144000" y="689032"/>
            <a:ext cx="679337" cy="67933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255"/>
                </a:lnSpc>
              </a:pPr>
            </a:p>
          </p:txBody>
        </p:sp>
      </p:grpSp>
      <p:grpSp>
        <p:nvGrpSpPr>
          <p:cNvPr name="Group 11" id="11"/>
          <p:cNvGrpSpPr/>
          <p:nvPr/>
        </p:nvGrpSpPr>
        <p:grpSpPr>
          <a:xfrm rot="0">
            <a:off x="6520119" y="3977071"/>
            <a:ext cx="11767881" cy="1044025"/>
            <a:chOff x="0" y="0"/>
            <a:chExt cx="3099359" cy="274970"/>
          </a:xfrm>
        </p:grpSpPr>
        <p:sp>
          <p:nvSpPr>
            <p:cNvPr name="Freeform 12" id="12"/>
            <p:cNvSpPr/>
            <p:nvPr/>
          </p:nvSpPr>
          <p:spPr>
            <a:xfrm flipH="false" flipV="false" rot="0">
              <a:off x="0" y="0"/>
              <a:ext cx="3099359" cy="274970"/>
            </a:xfrm>
            <a:custGeom>
              <a:avLst/>
              <a:gdLst/>
              <a:ahLst/>
              <a:cxnLst/>
              <a:rect r="r" b="b" t="t" l="l"/>
              <a:pathLst>
                <a:path h="274970" w="3099359">
                  <a:moveTo>
                    <a:pt x="33552" y="0"/>
                  </a:moveTo>
                  <a:lnTo>
                    <a:pt x="3065807" y="0"/>
                  </a:lnTo>
                  <a:cubicBezTo>
                    <a:pt x="3084338" y="0"/>
                    <a:pt x="3099359" y="15022"/>
                    <a:pt x="3099359" y="33552"/>
                  </a:cubicBezTo>
                  <a:lnTo>
                    <a:pt x="3099359" y="241417"/>
                  </a:lnTo>
                  <a:cubicBezTo>
                    <a:pt x="3099359" y="259948"/>
                    <a:pt x="3084338" y="274970"/>
                    <a:pt x="3065807" y="274970"/>
                  </a:cubicBezTo>
                  <a:lnTo>
                    <a:pt x="33552" y="274970"/>
                  </a:lnTo>
                  <a:cubicBezTo>
                    <a:pt x="15022" y="274970"/>
                    <a:pt x="0" y="259948"/>
                    <a:pt x="0" y="241417"/>
                  </a:cubicBezTo>
                  <a:lnTo>
                    <a:pt x="0" y="33552"/>
                  </a:lnTo>
                  <a:cubicBezTo>
                    <a:pt x="0" y="15022"/>
                    <a:pt x="15022" y="0"/>
                    <a:pt x="33552" y="0"/>
                  </a:cubicBezTo>
                  <a:close/>
                </a:path>
              </a:pathLst>
            </a:custGeom>
            <a:gradFill rotWithShape="true">
              <a:gsLst>
                <a:gs pos="0">
                  <a:srgbClr val="004AAD">
                    <a:alpha val="100000"/>
                  </a:srgbClr>
                </a:gs>
                <a:gs pos="100000">
                  <a:srgbClr val="CB6CE6">
                    <a:alpha val="100000"/>
                  </a:srgbClr>
                </a:gs>
              </a:gsLst>
              <a:lin ang="0"/>
            </a:gradFill>
          </p:spPr>
        </p:sp>
        <p:sp>
          <p:nvSpPr>
            <p:cNvPr name="TextBox 13" id="13"/>
            <p:cNvSpPr txBox="true"/>
            <p:nvPr/>
          </p:nvSpPr>
          <p:spPr>
            <a:xfrm>
              <a:off x="0" y="-66675"/>
              <a:ext cx="3099359" cy="341645"/>
            </a:xfrm>
            <a:prstGeom prst="rect">
              <a:avLst/>
            </a:prstGeom>
          </p:spPr>
          <p:txBody>
            <a:bodyPr anchor="ctr" rtlCol="false" tIns="50800" lIns="50800" bIns="50800" rIns="50800"/>
            <a:lstStyle/>
            <a:p>
              <a:pPr algn="ctr">
                <a:lnSpc>
                  <a:spcPts val="3919"/>
                </a:lnSpc>
              </a:pPr>
              <a:r>
                <a:rPr lang="en-US" b="true" sz="2799">
                  <a:solidFill>
                    <a:srgbClr val="FFFFFF"/>
                  </a:solidFill>
                  <a:latin typeface="Glacial Indifference Bold"/>
                  <a:ea typeface="Glacial Indifference Bold"/>
                  <a:cs typeface="Glacial Indifference Bold"/>
                  <a:sym typeface="Glacial Indifference Bold"/>
                </a:rPr>
                <a:t>clean_image = cv2.bitwise_and(image, image, mask=breast_mask)</a:t>
              </a:r>
            </a:p>
          </p:txBody>
        </p:sp>
      </p:grpSp>
      <p:sp>
        <p:nvSpPr>
          <p:cNvPr name="Freeform 14" id="14"/>
          <p:cNvSpPr/>
          <p:nvPr/>
        </p:nvSpPr>
        <p:spPr>
          <a:xfrm flipH="true" flipV="false" rot="0">
            <a:off x="-468794" y="2224662"/>
            <a:ext cx="7231761" cy="8229600"/>
          </a:xfrm>
          <a:custGeom>
            <a:avLst/>
            <a:gdLst/>
            <a:ahLst/>
            <a:cxnLst/>
            <a:rect r="r" b="b" t="t" l="l"/>
            <a:pathLst>
              <a:path h="8229600" w="7231761">
                <a:moveTo>
                  <a:pt x="7231761" y="0"/>
                </a:moveTo>
                <a:lnTo>
                  <a:pt x="0" y="0"/>
                </a:lnTo>
                <a:lnTo>
                  <a:pt x="0" y="8229600"/>
                </a:lnTo>
                <a:lnTo>
                  <a:pt x="7231761" y="8229600"/>
                </a:lnTo>
                <a:lnTo>
                  <a:pt x="7231761" y="0"/>
                </a:lnTo>
                <a:close/>
              </a:path>
            </a:pathLst>
          </a:custGeom>
          <a:blipFill>
            <a:blip r:embed="rId5"/>
            <a:stretch>
              <a:fillRect l="0" t="0" r="0" b="0"/>
            </a:stretch>
          </a:blipFill>
        </p:spPr>
      </p:sp>
      <p:sp>
        <p:nvSpPr>
          <p:cNvPr name="TextBox 15" id="15"/>
          <p:cNvSpPr txBox="true"/>
          <p:nvPr/>
        </p:nvSpPr>
        <p:spPr>
          <a:xfrm rot="0">
            <a:off x="6952642" y="259336"/>
            <a:ext cx="11497798" cy="869950"/>
          </a:xfrm>
          <a:prstGeom prst="rect">
            <a:avLst/>
          </a:prstGeom>
        </p:spPr>
        <p:txBody>
          <a:bodyPr anchor="t" rtlCol="false" tIns="0" lIns="0" bIns="0" rIns="0">
            <a:spAutoFit/>
          </a:bodyPr>
          <a:lstStyle/>
          <a:p>
            <a:pPr algn="l">
              <a:lnSpc>
                <a:spcPts val="6500"/>
              </a:lnSpc>
            </a:pPr>
            <a:r>
              <a:rPr lang="en-US" sz="6500" b="true">
                <a:solidFill>
                  <a:srgbClr val="12354D"/>
                </a:solidFill>
                <a:latin typeface="Glacial Indifference Bold"/>
                <a:ea typeface="Glacial Indifference Bold"/>
                <a:cs typeface="Glacial Indifference Bold"/>
                <a:sym typeface="Glacial Indifference Bold"/>
              </a:rPr>
              <a:t>Step 2.4: Masking the Image</a:t>
            </a:r>
          </a:p>
        </p:txBody>
      </p:sp>
      <p:sp>
        <p:nvSpPr>
          <p:cNvPr name="TextBox 16" id="16"/>
          <p:cNvSpPr txBox="true"/>
          <p:nvPr/>
        </p:nvSpPr>
        <p:spPr>
          <a:xfrm rot="0">
            <a:off x="7116265" y="2289241"/>
            <a:ext cx="10364162" cy="646430"/>
          </a:xfrm>
          <a:prstGeom prst="rect">
            <a:avLst/>
          </a:prstGeom>
        </p:spPr>
        <p:txBody>
          <a:bodyPr anchor="t" rtlCol="false" tIns="0" lIns="0" bIns="0" rIns="0">
            <a:spAutoFit/>
          </a:bodyPr>
          <a:lstStyle/>
          <a:p>
            <a:pPr algn="l">
              <a:lnSpc>
                <a:spcPts val="5320"/>
              </a:lnSpc>
            </a:pPr>
            <a:r>
              <a:rPr lang="en-US" sz="3800">
                <a:solidFill>
                  <a:srgbClr val="12354D"/>
                </a:solidFill>
                <a:latin typeface="Glacial Indifference"/>
                <a:ea typeface="Glacial Indifference"/>
                <a:cs typeface="Glacial Indifference"/>
                <a:sym typeface="Glacial Indifference"/>
              </a:rPr>
              <a:t>Remove artifacts and background completely</a:t>
            </a:r>
          </a:p>
        </p:txBody>
      </p:sp>
      <p:sp>
        <p:nvSpPr>
          <p:cNvPr name="TextBox 17" id="17"/>
          <p:cNvSpPr txBox="true"/>
          <p:nvPr/>
        </p:nvSpPr>
        <p:spPr>
          <a:xfrm rot="0">
            <a:off x="7263896" y="6771261"/>
            <a:ext cx="9522890" cy="1307580"/>
          </a:xfrm>
          <a:prstGeom prst="rect">
            <a:avLst/>
          </a:prstGeom>
        </p:spPr>
        <p:txBody>
          <a:bodyPr anchor="t" rtlCol="false" tIns="0" lIns="0" bIns="0" rIns="0">
            <a:spAutoFit/>
          </a:bodyPr>
          <a:lstStyle/>
          <a:p>
            <a:pPr algn="l" marL="809899" indent="-404949" lvl="1">
              <a:lnSpc>
                <a:spcPts val="5251"/>
              </a:lnSpc>
              <a:buFont typeface="Arial"/>
              <a:buChar char="•"/>
            </a:pPr>
            <a:r>
              <a:rPr lang="en-US" sz="3751">
                <a:solidFill>
                  <a:srgbClr val="12354D"/>
                </a:solidFill>
                <a:latin typeface="Glacial Indifference"/>
                <a:ea typeface="Glacial Indifference"/>
                <a:cs typeface="Glacial Indifference"/>
                <a:sym typeface="Glacial Indifference"/>
              </a:rPr>
              <a:t>Background pixels → 0</a:t>
            </a:r>
          </a:p>
          <a:p>
            <a:pPr algn="l" marL="809899" indent="-404949" lvl="1">
              <a:lnSpc>
                <a:spcPts val="5251"/>
              </a:lnSpc>
              <a:buFont typeface="Arial"/>
              <a:buChar char="•"/>
            </a:pPr>
            <a:r>
              <a:rPr lang="en-US" sz="3751">
                <a:solidFill>
                  <a:srgbClr val="12354D"/>
                </a:solidFill>
                <a:latin typeface="Glacial Indifference"/>
                <a:ea typeface="Glacial Indifference"/>
                <a:cs typeface="Glacial Indifference"/>
                <a:sym typeface="Glacial Indifference"/>
              </a:rPr>
              <a:t>Breast pixels → unchanged</a:t>
            </a:r>
          </a:p>
        </p:txBody>
      </p:sp>
      <p:sp>
        <p:nvSpPr>
          <p:cNvPr name="TextBox 18" id="18"/>
          <p:cNvSpPr txBox="true"/>
          <p:nvPr/>
        </p:nvSpPr>
        <p:spPr>
          <a:xfrm rot="0">
            <a:off x="7116265" y="1554736"/>
            <a:ext cx="5235737" cy="669925"/>
          </a:xfrm>
          <a:prstGeom prst="rect">
            <a:avLst/>
          </a:prstGeom>
        </p:spPr>
        <p:txBody>
          <a:bodyPr anchor="t" rtlCol="false" tIns="0" lIns="0" bIns="0" rIns="0">
            <a:spAutoFit/>
          </a:bodyPr>
          <a:lstStyle/>
          <a:p>
            <a:pPr algn="l">
              <a:lnSpc>
                <a:spcPts val="5000"/>
              </a:lnSpc>
            </a:pPr>
            <a:r>
              <a:rPr lang="en-US" sz="5000" b="true">
                <a:solidFill>
                  <a:srgbClr val="12354D"/>
                </a:solidFill>
                <a:latin typeface="Glacial Indifference Bold"/>
                <a:ea typeface="Glacial Indifference Bold"/>
                <a:cs typeface="Glacial Indifference Bold"/>
                <a:sym typeface="Glacial Indifference Bold"/>
              </a:rPr>
              <a:t>Objective</a:t>
            </a:r>
          </a:p>
        </p:txBody>
      </p:sp>
      <p:sp>
        <p:nvSpPr>
          <p:cNvPr name="TextBox 19" id="19"/>
          <p:cNvSpPr txBox="true"/>
          <p:nvPr/>
        </p:nvSpPr>
        <p:spPr>
          <a:xfrm rot="0">
            <a:off x="7175166" y="5834636"/>
            <a:ext cx="3810693" cy="669925"/>
          </a:xfrm>
          <a:prstGeom prst="rect">
            <a:avLst/>
          </a:prstGeom>
        </p:spPr>
        <p:txBody>
          <a:bodyPr anchor="t" rtlCol="false" tIns="0" lIns="0" bIns="0" rIns="0">
            <a:spAutoFit/>
          </a:bodyPr>
          <a:lstStyle/>
          <a:p>
            <a:pPr algn="l">
              <a:lnSpc>
                <a:spcPts val="5000"/>
              </a:lnSpc>
            </a:pPr>
            <a:r>
              <a:rPr lang="en-US" sz="5000" b="true">
                <a:solidFill>
                  <a:srgbClr val="12354D"/>
                </a:solidFill>
                <a:latin typeface="Glacial Indifference Bold"/>
                <a:ea typeface="Glacial Indifference Bold"/>
                <a:cs typeface="Glacial Indifference Bold"/>
                <a:sym typeface="Glacial Indifference Bold"/>
              </a:rPr>
              <a:t>Explanation</a:t>
            </a:r>
          </a:p>
        </p:txBody>
      </p:sp>
      <p:sp>
        <p:nvSpPr>
          <p:cNvPr name="Freeform 20" id="20"/>
          <p:cNvSpPr/>
          <p:nvPr/>
        </p:nvSpPr>
        <p:spPr>
          <a:xfrm flipH="false" flipV="false" rot="0">
            <a:off x="6762967" y="3300743"/>
            <a:ext cx="311254" cy="311254"/>
          </a:xfrm>
          <a:custGeom>
            <a:avLst/>
            <a:gdLst/>
            <a:ahLst/>
            <a:cxnLst/>
            <a:rect r="r" b="b" t="t" l="l"/>
            <a:pathLst>
              <a:path h="311254" w="311254">
                <a:moveTo>
                  <a:pt x="0" y="0"/>
                </a:moveTo>
                <a:lnTo>
                  <a:pt x="311254" y="0"/>
                </a:lnTo>
                <a:lnTo>
                  <a:pt x="311254" y="311255"/>
                </a:lnTo>
                <a:lnTo>
                  <a:pt x="0" y="3112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7263896" y="3164271"/>
            <a:ext cx="3191593" cy="669925"/>
          </a:xfrm>
          <a:prstGeom prst="rect">
            <a:avLst/>
          </a:prstGeom>
        </p:spPr>
        <p:txBody>
          <a:bodyPr anchor="t" rtlCol="false" tIns="0" lIns="0" bIns="0" rIns="0">
            <a:spAutoFit/>
          </a:bodyPr>
          <a:lstStyle/>
          <a:p>
            <a:pPr algn="l">
              <a:lnSpc>
                <a:spcPts val="5000"/>
              </a:lnSpc>
            </a:pPr>
            <a:r>
              <a:rPr lang="en-US" sz="5000" b="true">
                <a:solidFill>
                  <a:srgbClr val="12354D"/>
                </a:solidFill>
                <a:latin typeface="Glacial Indifference Bold"/>
                <a:ea typeface="Glacial Indifference Bold"/>
                <a:cs typeface="Glacial Indifference Bold"/>
                <a:sym typeface="Glacial Indifference Bold"/>
              </a:rPr>
              <a:t>Code:</a:t>
            </a:r>
          </a:p>
        </p:txBody>
      </p:sp>
    </p:spTree>
  </p:cSld>
  <p:clrMapOvr>
    <a:masterClrMapping/>
  </p:clrMapOvr>
  <p:transition spd="slow">
    <p:push dir="u"/>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03352" y="-446248"/>
            <a:ext cx="19309293" cy="7760706"/>
            <a:chOff x="0" y="0"/>
            <a:chExt cx="5085575" cy="2043972"/>
          </a:xfrm>
        </p:grpSpPr>
        <p:sp>
          <p:nvSpPr>
            <p:cNvPr name="Freeform 4" id="4"/>
            <p:cNvSpPr/>
            <p:nvPr/>
          </p:nvSpPr>
          <p:spPr>
            <a:xfrm flipH="false" flipV="false" rot="0">
              <a:off x="0" y="0"/>
              <a:ext cx="5085575" cy="2043972"/>
            </a:xfrm>
            <a:custGeom>
              <a:avLst/>
              <a:gdLst/>
              <a:ahLst/>
              <a:cxnLst/>
              <a:rect r="r" b="b" t="t" l="l"/>
              <a:pathLst>
                <a:path h="2043972" w="5085575">
                  <a:moveTo>
                    <a:pt x="0" y="0"/>
                  </a:moveTo>
                  <a:lnTo>
                    <a:pt x="5085575" y="0"/>
                  </a:lnTo>
                  <a:lnTo>
                    <a:pt x="5085575" y="2043972"/>
                  </a:lnTo>
                  <a:lnTo>
                    <a:pt x="0" y="2043972"/>
                  </a:lnTo>
                  <a:close/>
                </a:path>
              </a:pathLst>
            </a:custGeom>
            <a:solidFill>
              <a:srgbClr val="FFFFFF"/>
            </a:solidFill>
          </p:spPr>
        </p:sp>
        <p:sp>
          <p:nvSpPr>
            <p:cNvPr name="TextBox 5" id="5"/>
            <p:cNvSpPr txBox="true"/>
            <p:nvPr/>
          </p:nvSpPr>
          <p:spPr>
            <a:xfrm>
              <a:off x="0" y="-47625"/>
              <a:ext cx="5085575" cy="2091597"/>
            </a:xfrm>
            <a:prstGeom prst="rect">
              <a:avLst/>
            </a:prstGeom>
          </p:spPr>
          <p:txBody>
            <a:bodyPr anchor="ctr" rtlCol="false" tIns="50800" lIns="50800" bIns="50800" rIns="50800"/>
            <a:lstStyle/>
            <a:p>
              <a:pPr algn="ctr">
                <a:lnSpc>
                  <a:spcPts val="3255"/>
                </a:lnSpc>
              </a:pPr>
            </a:p>
          </p:txBody>
        </p:sp>
      </p:grpSp>
      <p:sp>
        <p:nvSpPr>
          <p:cNvPr name="Freeform 6" id="6"/>
          <p:cNvSpPr/>
          <p:nvPr/>
        </p:nvSpPr>
        <p:spPr>
          <a:xfrm flipH="false" flipV="false" rot="0">
            <a:off x="251079" y="2180365"/>
            <a:ext cx="401578" cy="401578"/>
          </a:xfrm>
          <a:custGeom>
            <a:avLst/>
            <a:gdLst/>
            <a:ahLst/>
            <a:cxnLst/>
            <a:rect r="r" b="b" t="t" l="l"/>
            <a:pathLst>
              <a:path h="401578" w="401578">
                <a:moveTo>
                  <a:pt x="0" y="0"/>
                </a:moveTo>
                <a:lnTo>
                  <a:pt x="401579" y="0"/>
                </a:lnTo>
                <a:lnTo>
                  <a:pt x="401579" y="401578"/>
                </a:lnTo>
                <a:lnTo>
                  <a:pt x="0" y="4015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6948974" y="634247"/>
            <a:ext cx="679337" cy="788905"/>
            <a:chOff x="0" y="0"/>
            <a:chExt cx="812800" cy="943895"/>
          </a:xfrm>
        </p:grpSpPr>
        <p:sp>
          <p:nvSpPr>
            <p:cNvPr name="Freeform 8" id="8"/>
            <p:cNvSpPr/>
            <p:nvPr/>
          </p:nvSpPr>
          <p:spPr>
            <a:xfrm flipH="false" flipV="false" rot="0">
              <a:off x="0" y="0"/>
              <a:ext cx="812800" cy="943895"/>
            </a:xfrm>
            <a:custGeom>
              <a:avLst/>
              <a:gdLst/>
              <a:ahLst/>
              <a:cxnLst/>
              <a:rect r="r" b="b" t="t" l="l"/>
              <a:pathLst>
                <a:path h="943895" w="812800">
                  <a:moveTo>
                    <a:pt x="406400" y="0"/>
                  </a:moveTo>
                  <a:cubicBezTo>
                    <a:pt x="181951" y="0"/>
                    <a:pt x="0" y="211298"/>
                    <a:pt x="0" y="471947"/>
                  </a:cubicBezTo>
                  <a:cubicBezTo>
                    <a:pt x="0" y="732597"/>
                    <a:pt x="181951" y="943895"/>
                    <a:pt x="406400" y="943895"/>
                  </a:cubicBezTo>
                  <a:cubicBezTo>
                    <a:pt x="630849" y="943895"/>
                    <a:pt x="812800" y="732597"/>
                    <a:pt x="812800" y="471947"/>
                  </a:cubicBezTo>
                  <a:cubicBezTo>
                    <a:pt x="812800" y="211298"/>
                    <a:pt x="630849" y="0"/>
                    <a:pt x="406400" y="0"/>
                  </a:cubicBezTo>
                  <a:close/>
                </a:path>
              </a:pathLst>
            </a:custGeom>
            <a:solidFill>
              <a:srgbClr val="FFFFFF"/>
            </a:solidFill>
          </p:spPr>
        </p:sp>
        <p:sp>
          <p:nvSpPr>
            <p:cNvPr name="TextBox 9" id="9"/>
            <p:cNvSpPr txBox="true"/>
            <p:nvPr/>
          </p:nvSpPr>
          <p:spPr>
            <a:xfrm>
              <a:off x="76200" y="40865"/>
              <a:ext cx="660400" cy="814539"/>
            </a:xfrm>
            <a:prstGeom prst="rect">
              <a:avLst/>
            </a:prstGeom>
          </p:spPr>
          <p:txBody>
            <a:bodyPr anchor="ctr" rtlCol="false" tIns="50800" lIns="50800" bIns="50800" rIns="50800"/>
            <a:lstStyle/>
            <a:p>
              <a:pPr algn="ctr">
                <a:lnSpc>
                  <a:spcPts val="3255"/>
                </a:lnSpc>
              </a:pPr>
            </a:p>
          </p:txBody>
        </p:sp>
      </p:grpSp>
      <p:sp>
        <p:nvSpPr>
          <p:cNvPr name="Freeform 10" id="10"/>
          <p:cNvSpPr/>
          <p:nvPr/>
        </p:nvSpPr>
        <p:spPr>
          <a:xfrm flipH="false" flipV="false" rot="0">
            <a:off x="16941937" y="6180330"/>
            <a:ext cx="1346063" cy="814531"/>
          </a:xfrm>
          <a:custGeom>
            <a:avLst/>
            <a:gdLst/>
            <a:ahLst/>
            <a:cxnLst/>
            <a:rect r="r" b="b" t="t" l="l"/>
            <a:pathLst>
              <a:path h="814531" w="1346063">
                <a:moveTo>
                  <a:pt x="0" y="0"/>
                </a:moveTo>
                <a:lnTo>
                  <a:pt x="1346063" y="0"/>
                </a:lnTo>
                <a:lnTo>
                  <a:pt x="1346063" y="814531"/>
                </a:lnTo>
                <a:lnTo>
                  <a:pt x="0" y="814531"/>
                </a:lnTo>
                <a:lnTo>
                  <a:pt x="0" y="0"/>
                </a:lnTo>
                <a:close/>
              </a:path>
            </a:pathLst>
          </a:custGeom>
          <a:blipFill>
            <a:blip r:embed="rId5">
              <a:extLst>
                <a:ext uri="{96DAC541-7B7A-43D3-8B79-37D633B846F1}">
                  <asvg:svgBlip xmlns:asvg="http://schemas.microsoft.com/office/drawing/2016/SVG/main" r:embed="rId6"/>
                </a:ext>
              </a:extLst>
            </a:blip>
            <a:stretch>
              <a:fillRect l="0" t="-97320" r="0" b="0"/>
            </a:stretch>
          </a:blipFill>
        </p:spPr>
      </p:sp>
      <p:sp>
        <p:nvSpPr>
          <p:cNvPr name="Freeform 11" id="11"/>
          <p:cNvSpPr/>
          <p:nvPr/>
        </p:nvSpPr>
        <p:spPr>
          <a:xfrm flipH="false" flipV="false" rot="2700000">
            <a:off x="3000507" y="5686078"/>
            <a:ext cx="4912090" cy="6237575"/>
          </a:xfrm>
          <a:custGeom>
            <a:avLst/>
            <a:gdLst/>
            <a:ahLst/>
            <a:cxnLst/>
            <a:rect r="r" b="b" t="t" l="l"/>
            <a:pathLst>
              <a:path h="6237575" w="4912090">
                <a:moveTo>
                  <a:pt x="0" y="0"/>
                </a:moveTo>
                <a:lnTo>
                  <a:pt x="4912090" y="0"/>
                </a:lnTo>
                <a:lnTo>
                  <a:pt x="4912090" y="6237575"/>
                </a:lnTo>
                <a:lnTo>
                  <a:pt x="0" y="62375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2700000">
            <a:off x="10334337" y="5686078"/>
            <a:ext cx="4912090" cy="6237575"/>
          </a:xfrm>
          <a:custGeom>
            <a:avLst/>
            <a:gdLst/>
            <a:ahLst/>
            <a:cxnLst/>
            <a:rect r="r" b="b" t="t" l="l"/>
            <a:pathLst>
              <a:path h="6237575" w="4912090">
                <a:moveTo>
                  <a:pt x="0" y="0"/>
                </a:moveTo>
                <a:lnTo>
                  <a:pt x="4912090" y="0"/>
                </a:lnTo>
                <a:lnTo>
                  <a:pt x="4912090" y="6237575"/>
                </a:lnTo>
                <a:lnTo>
                  <a:pt x="0" y="62375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2587053" y="3039832"/>
            <a:ext cx="13113893" cy="2531014"/>
          </a:xfrm>
          <a:prstGeom prst="rect">
            <a:avLst/>
          </a:prstGeom>
        </p:spPr>
        <p:txBody>
          <a:bodyPr anchor="t" rtlCol="false" tIns="0" lIns="0" bIns="0" rIns="0">
            <a:spAutoFit/>
          </a:bodyPr>
          <a:lstStyle/>
          <a:p>
            <a:pPr algn="l">
              <a:lnSpc>
                <a:spcPts val="5059"/>
              </a:lnSpc>
            </a:pPr>
            <a:r>
              <a:rPr lang="en-US" sz="3613">
                <a:solidFill>
                  <a:srgbClr val="12354D"/>
                </a:solidFill>
                <a:latin typeface="Glacial Indifference"/>
                <a:ea typeface="Glacial Indifference"/>
                <a:cs typeface="Glacial Indifference"/>
                <a:sym typeface="Glacial Indifference"/>
              </a:rPr>
              <a:t>The pectoral muscle appears with high intensity in mammogram images and has a visual appearance similar to d</a:t>
            </a:r>
            <a:r>
              <a:rPr lang="en-US" sz="3613">
                <a:solidFill>
                  <a:srgbClr val="12354D"/>
                </a:solidFill>
                <a:latin typeface="Glacial Indifference"/>
                <a:ea typeface="Glacial Indifference"/>
                <a:cs typeface="Glacial Indifference"/>
                <a:sym typeface="Glacial Indifference"/>
              </a:rPr>
              <a:t>ense breast tissue. If it is not removed, it can be incorrectly interpreted as an abnormal region, leading to false positives in automated analysis.</a:t>
            </a:r>
          </a:p>
        </p:txBody>
      </p:sp>
      <p:sp>
        <p:nvSpPr>
          <p:cNvPr name="TextBox 14" id="14"/>
          <p:cNvSpPr txBox="true"/>
          <p:nvPr/>
        </p:nvSpPr>
        <p:spPr>
          <a:xfrm rot="0">
            <a:off x="562334" y="278874"/>
            <a:ext cx="17286405" cy="869950"/>
          </a:xfrm>
          <a:prstGeom prst="rect">
            <a:avLst/>
          </a:prstGeom>
        </p:spPr>
        <p:txBody>
          <a:bodyPr anchor="t" rtlCol="false" tIns="0" lIns="0" bIns="0" rIns="0">
            <a:spAutoFit/>
          </a:bodyPr>
          <a:lstStyle/>
          <a:p>
            <a:pPr algn="l">
              <a:lnSpc>
                <a:spcPts val="6500"/>
              </a:lnSpc>
            </a:pPr>
            <a:r>
              <a:rPr lang="en-US" sz="6500" b="true">
                <a:solidFill>
                  <a:srgbClr val="12354D"/>
                </a:solidFill>
                <a:latin typeface="Glacial Indifference Bold"/>
                <a:ea typeface="Glacial Indifference Bold"/>
                <a:cs typeface="Glacial Indifference Bold"/>
                <a:sym typeface="Glacial Indifference Bold"/>
              </a:rPr>
              <a:t>Step 3: Pectoral Muscle Removal</a:t>
            </a:r>
          </a:p>
        </p:txBody>
      </p:sp>
      <p:sp>
        <p:nvSpPr>
          <p:cNvPr name="TextBox 15" id="15"/>
          <p:cNvSpPr txBox="true"/>
          <p:nvPr/>
        </p:nvSpPr>
        <p:spPr>
          <a:xfrm rot="0">
            <a:off x="897770" y="1954508"/>
            <a:ext cx="6698296" cy="758042"/>
          </a:xfrm>
          <a:prstGeom prst="rect">
            <a:avLst/>
          </a:prstGeom>
        </p:spPr>
        <p:txBody>
          <a:bodyPr anchor="t" rtlCol="false" tIns="0" lIns="0" bIns="0" rIns="0">
            <a:spAutoFit/>
          </a:bodyPr>
          <a:lstStyle/>
          <a:p>
            <a:pPr algn="l">
              <a:lnSpc>
                <a:spcPts val="6141"/>
              </a:lnSpc>
            </a:pPr>
            <a:r>
              <a:rPr lang="en-US" sz="4386" b="true">
                <a:solidFill>
                  <a:srgbClr val="12354D"/>
                </a:solidFill>
                <a:latin typeface="Glacial Indifference Bold"/>
                <a:ea typeface="Glacial Indifference Bold"/>
                <a:cs typeface="Glacial Indifference Bold"/>
                <a:sym typeface="Glacial Indifference Bold"/>
              </a:rPr>
              <a:t>Why Is This Important?</a:t>
            </a:r>
          </a:p>
        </p:txBody>
      </p:sp>
    </p:spTree>
  </p:cSld>
  <p:clrMapOvr>
    <a:masterClrMapping/>
  </p:clrMapOvr>
  <p:transition spd="slow">
    <p:push dir="u"/>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03352" y="-514350"/>
            <a:ext cx="11597119" cy="11316371"/>
            <a:chOff x="0" y="0"/>
            <a:chExt cx="3054385" cy="2980443"/>
          </a:xfrm>
        </p:grpSpPr>
        <p:sp>
          <p:nvSpPr>
            <p:cNvPr name="Freeform 4" id="4"/>
            <p:cNvSpPr/>
            <p:nvPr/>
          </p:nvSpPr>
          <p:spPr>
            <a:xfrm flipH="false" flipV="false" rot="0">
              <a:off x="0" y="0"/>
              <a:ext cx="3054385" cy="2980443"/>
            </a:xfrm>
            <a:custGeom>
              <a:avLst/>
              <a:gdLst/>
              <a:ahLst/>
              <a:cxnLst/>
              <a:rect r="r" b="b" t="t" l="l"/>
              <a:pathLst>
                <a:path h="2980443" w="3054385">
                  <a:moveTo>
                    <a:pt x="0" y="0"/>
                  </a:moveTo>
                  <a:lnTo>
                    <a:pt x="3054385" y="0"/>
                  </a:lnTo>
                  <a:lnTo>
                    <a:pt x="3054385" y="2980443"/>
                  </a:lnTo>
                  <a:lnTo>
                    <a:pt x="0" y="2980443"/>
                  </a:lnTo>
                  <a:close/>
                </a:path>
              </a:pathLst>
            </a:custGeom>
            <a:solidFill>
              <a:srgbClr val="FFFFFF"/>
            </a:solidFill>
          </p:spPr>
        </p:sp>
        <p:sp>
          <p:nvSpPr>
            <p:cNvPr name="TextBox 5" id="5"/>
            <p:cNvSpPr txBox="true"/>
            <p:nvPr/>
          </p:nvSpPr>
          <p:spPr>
            <a:xfrm>
              <a:off x="0" y="-47625"/>
              <a:ext cx="3054385" cy="3028068"/>
            </a:xfrm>
            <a:prstGeom prst="rect">
              <a:avLst/>
            </a:prstGeom>
          </p:spPr>
          <p:txBody>
            <a:bodyPr anchor="ctr" rtlCol="false" tIns="50800" lIns="50800" bIns="50800" rIns="50800"/>
            <a:lstStyle/>
            <a:p>
              <a:pPr algn="ctr">
                <a:lnSpc>
                  <a:spcPts val="3255"/>
                </a:lnSpc>
              </a:pPr>
            </a:p>
          </p:txBody>
        </p:sp>
      </p:grpSp>
      <p:sp>
        <p:nvSpPr>
          <p:cNvPr name="Freeform 6" id="6"/>
          <p:cNvSpPr/>
          <p:nvPr/>
        </p:nvSpPr>
        <p:spPr>
          <a:xfrm flipH="false" flipV="false" rot="0">
            <a:off x="202590" y="1587393"/>
            <a:ext cx="552016" cy="552016"/>
          </a:xfrm>
          <a:custGeom>
            <a:avLst/>
            <a:gdLst/>
            <a:ahLst/>
            <a:cxnLst/>
            <a:rect r="r" b="b" t="t" l="l"/>
            <a:pathLst>
              <a:path h="552016" w="552016">
                <a:moveTo>
                  <a:pt x="0" y="0"/>
                </a:moveTo>
                <a:lnTo>
                  <a:pt x="552016" y="0"/>
                </a:lnTo>
                <a:lnTo>
                  <a:pt x="552016" y="552016"/>
                </a:lnTo>
                <a:lnTo>
                  <a:pt x="0" y="5520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148940" y="8745228"/>
            <a:ext cx="1990120" cy="1204264"/>
          </a:xfrm>
          <a:custGeom>
            <a:avLst/>
            <a:gdLst/>
            <a:ahLst/>
            <a:cxnLst/>
            <a:rect r="r" b="b" t="t" l="l"/>
            <a:pathLst>
              <a:path h="1204264" w="1990120">
                <a:moveTo>
                  <a:pt x="0" y="0"/>
                </a:moveTo>
                <a:lnTo>
                  <a:pt x="1990120" y="0"/>
                </a:lnTo>
                <a:lnTo>
                  <a:pt x="1990120" y="1204264"/>
                </a:lnTo>
                <a:lnTo>
                  <a:pt x="0" y="1204264"/>
                </a:lnTo>
                <a:lnTo>
                  <a:pt x="0" y="0"/>
                </a:lnTo>
                <a:close/>
              </a:path>
            </a:pathLst>
          </a:custGeom>
          <a:blipFill>
            <a:blip r:embed="rId5">
              <a:extLst>
                <a:ext uri="{96DAC541-7B7A-43D3-8B79-37D633B846F1}">
                  <asvg:svgBlip xmlns:asvg="http://schemas.microsoft.com/office/drawing/2016/SVG/main" r:embed="rId6"/>
                </a:ext>
              </a:extLst>
            </a:blip>
            <a:stretch>
              <a:fillRect l="0" t="-97320" r="0" b="0"/>
            </a:stretch>
          </a:blipFill>
        </p:spPr>
      </p:sp>
      <p:sp>
        <p:nvSpPr>
          <p:cNvPr name="Freeform 8" id="8"/>
          <p:cNvSpPr/>
          <p:nvPr/>
        </p:nvSpPr>
        <p:spPr>
          <a:xfrm flipH="false" flipV="false" rot="0">
            <a:off x="11336642" y="3000557"/>
            <a:ext cx="6763344" cy="5427584"/>
          </a:xfrm>
          <a:custGeom>
            <a:avLst/>
            <a:gdLst/>
            <a:ahLst/>
            <a:cxnLst/>
            <a:rect r="r" b="b" t="t" l="l"/>
            <a:pathLst>
              <a:path h="5427584" w="6763344">
                <a:moveTo>
                  <a:pt x="0" y="0"/>
                </a:moveTo>
                <a:lnTo>
                  <a:pt x="6763344" y="0"/>
                </a:lnTo>
                <a:lnTo>
                  <a:pt x="6763344" y="5427583"/>
                </a:lnTo>
                <a:lnTo>
                  <a:pt x="0" y="5427583"/>
                </a:lnTo>
                <a:lnTo>
                  <a:pt x="0" y="0"/>
                </a:lnTo>
                <a:close/>
              </a:path>
            </a:pathLst>
          </a:custGeom>
          <a:blipFill>
            <a:blip r:embed="rId7"/>
            <a:stretch>
              <a:fillRect l="0" t="0" r="0" b="0"/>
            </a:stretch>
          </a:blipFill>
        </p:spPr>
      </p:sp>
      <p:sp>
        <p:nvSpPr>
          <p:cNvPr name="TextBox 9" id="9"/>
          <p:cNvSpPr txBox="true"/>
          <p:nvPr/>
        </p:nvSpPr>
        <p:spPr>
          <a:xfrm rot="0">
            <a:off x="0" y="214219"/>
            <a:ext cx="11336642" cy="819150"/>
          </a:xfrm>
          <a:prstGeom prst="rect">
            <a:avLst/>
          </a:prstGeom>
        </p:spPr>
        <p:txBody>
          <a:bodyPr anchor="t" rtlCol="false" tIns="0" lIns="0" bIns="0" rIns="0">
            <a:spAutoFit/>
          </a:bodyPr>
          <a:lstStyle/>
          <a:p>
            <a:pPr algn="l">
              <a:lnSpc>
                <a:spcPts val="6000"/>
              </a:lnSpc>
            </a:pPr>
            <a:r>
              <a:rPr lang="en-US" sz="6000" b="true">
                <a:solidFill>
                  <a:srgbClr val="12354D"/>
                </a:solidFill>
                <a:latin typeface="Glacial Indifference Bold"/>
                <a:ea typeface="Glacial Indifference Bold"/>
                <a:cs typeface="Glacial Indifference Bold"/>
                <a:sym typeface="Glacial Indifference Bold"/>
              </a:rPr>
              <a:t>Step 3.1: Flip Right MLO Images</a:t>
            </a:r>
          </a:p>
        </p:txBody>
      </p:sp>
      <p:sp>
        <p:nvSpPr>
          <p:cNvPr name="TextBox 10" id="10"/>
          <p:cNvSpPr txBox="true"/>
          <p:nvPr/>
        </p:nvSpPr>
        <p:spPr>
          <a:xfrm rot="0">
            <a:off x="1030614" y="2245386"/>
            <a:ext cx="8331855" cy="679885"/>
          </a:xfrm>
          <a:prstGeom prst="rect">
            <a:avLst/>
          </a:prstGeom>
        </p:spPr>
        <p:txBody>
          <a:bodyPr anchor="t" rtlCol="false" tIns="0" lIns="0" bIns="0" rIns="0">
            <a:spAutoFit/>
          </a:bodyPr>
          <a:lstStyle/>
          <a:p>
            <a:pPr algn="l">
              <a:lnSpc>
                <a:spcPts val="5626"/>
              </a:lnSpc>
            </a:pPr>
            <a:r>
              <a:rPr lang="en-US" sz="4018">
                <a:solidFill>
                  <a:srgbClr val="12354D"/>
                </a:solidFill>
                <a:latin typeface="Glacial Indifference"/>
                <a:ea typeface="Glacial Indifference"/>
                <a:cs typeface="Glacial Indifference"/>
                <a:sym typeface="Glacial Indifference"/>
              </a:rPr>
              <a:t>Standardize orientation</a:t>
            </a:r>
          </a:p>
        </p:txBody>
      </p:sp>
      <p:sp>
        <p:nvSpPr>
          <p:cNvPr name="TextBox 11" id="11"/>
          <p:cNvSpPr txBox="true"/>
          <p:nvPr/>
        </p:nvSpPr>
        <p:spPr>
          <a:xfrm rot="0">
            <a:off x="904932" y="1444295"/>
            <a:ext cx="2818471" cy="761138"/>
          </a:xfrm>
          <a:prstGeom prst="rect">
            <a:avLst/>
          </a:prstGeom>
        </p:spPr>
        <p:txBody>
          <a:bodyPr anchor="t" rtlCol="false" tIns="0" lIns="0" bIns="0" rIns="0">
            <a:spAutoFit/>
          </a:bodyPr>
          <a:lstStyle/>
          <a:p>
            <a:pPr algn="l">
              <a:lnSpc>
                <a:spcPts val="6153"/>
              </a:lnSpc>
            </a:pPr>
            <a:r>
              <a:rPr lang="en-US" sz="4395" b="true">
                <a:solidFill>
                  <a:srgbClr val="12354D"/>
                </a:solidFill>
                <a:latin typeface="Glacial Indifference Bold"/>
                <a:ea typeface="Glacial Indifference Bold"/>
                <a:cs typeface="Glacial Indifference Bold"/>
                <a:sym typeface="Glacial Indifference Bold"/>
              </a:rPr>
              <a:t>Objective</a:t>
            </a:r>
          </a:p>
        </p:txBody>
      </p:sp>
      <p:sp>
        <p:nvSpPr>
          <p:cNvPr name="Freeform 12" id="12"/>
          <p:cNvSpPr/>
          <p:nvPr/>
        </p:nvSpPr>
        <p:spPr>
          <a:xfrm flipH="false" flipV="false" rot="0">
            <a:off x="202590" y="3089274"/>
            <a:ext cx="552016" cy="552016"/>
          </a:xfrm>
          <a:custGeom>
            <a:avLst/>
            <a:gdLst/>
            <a:ahLst/>
            <a:cxnLst/>
            <a:rect r="r" b="b" t="t" l="l"/>
            <a:pathLst>
              <a:path h="552016" w="552016">
                <a:moveTo>
                  <a:pt x="0" y="0"/>
                </a:moveTo>
                <a:lnTo>
                  <a:pt x="552016" y="0"/>
                </a:lnTo>
                <a:lnTo>
                  <a:pt x="552016" y="552016"/>
                </a:lnTo>
                <a:lnTo>
                  <a:pt x="0" y="5520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904932" y="2946175"/>
            <a:ext cx="2818471" cy="761138"/>
          </a:xfrm>
          <a:prstGeom prst="rect">
            <a:avLst/>
          </a:prstGeom>
        </p:spPr>
        <p:txBody>
          <a:bodyPr anchor="t" rtlCol="false" tIns="0" lIns="0" bIns="0" rIns="0">
            <a:spAutoFit/>
          </a:bodyPr>
          <a:lstStyle/>
          <a:p>
            <a:pPr algn="l">
              <a:lnSpc>
                <a:spcPts val="6153"/>
              </a:lnSpc>
            </a:pPr>
            <a:r>
              <a:rPr lang="en-US" sz="4395" b="true">
                <a:solidFill>
                  <a:srgbClr val="12354D"/>
                </a:solidFill>
                <a:latin typeface="Glacial Indifference Bold"/>
                <a:ea typeface="Glacial Indifference Bold"/>
                <a:cs typeface="Glacial Indifference Bold"/>
                <a:sym typeface="Glacial Indifference Bold"/>
              </a:rPr>
              <a:t>Code</a:t>
            </a:r>
          </a:p>
        </p:txBody>
      </p:sp>
      <p:grpSp>
        <p:nvGrpSpPr>
          <p:cNvPr name="Group 14" id="14"/>
          <p:cNvGrpSpPr/>
          <p:nvPr/>
        </p:nvGrpSpPr>
        <p:grpSpPr>
          <a:xfrm rot="0">
            <a:off x="1630959" y="3808951"/>
            <a:ext cx="8802364" cy="1430134"/>
            <a:chOff x="0" y="0"/>
            <a:chExt cx="1846002" cy="299923"/>
          </a:xfrm>
        </p:grpSpPr>
        <p:sp>
          <p:nvSpPr>
            <p:cNvPr name="Freeform 15" id="15"/>
            <p:cNvSpPr/>
            <p:nvPr/>
          </p:nvSpPr>
          <p:spPr>
            <a:xfrm flipH="false" flipV="false" rot="0">
              <a:off x="0" y="0"/>
              <a:ext cx="1846002" cy="299923"/>
            </a:xfrm>
            <a:custGeom>
              <a:avLst/>
              <a:gdLst/>
              <a:ahLst/>
              <a:cxnLst/>
              <a:rect r="r" b="b" t="t" l="l"/>
              <a:pathLst>
                <a:path h="299923" w="1846002">
                  <a:moveTo>
                    <a:pt x="44856" y="0"/>
                  </a:moveTo>
                  <a:lnTo>
                    <a:pt x="1801146" y="0"/>
                  </a:lnTo>
                  <a:cubicBezTo>
                    <a:pt x="1813043" y="0"/>
                    <a:pt x="1824452" y="4726"/>
                    <a:pt x="1832864" y="13138"/>
                  </a:cubicBezTo>
                  <a:cubicBezTo>
                    <a:pt x="1841277" y="21550"/>
                    <a:pt x="1846002" y="32959"/>
                    <a:pt x="1846002" y="44856"/>
                  </a:cubicBezTo>
                  <a:lnTo>
                    <a:pt x="1846002" y="255067"/>
                  </a:lnTo>
                  <a:cubicBezTo>
                    <a:pt x="1846002" y="279840"/>
                    <a:pt x="1825920" y="299923"/>
                    <a:pt x="1801146" y="299923"/>
                  </a:cubicBezTo>
                  <a:lnTo>
                    <a:pt x="44856" y="299923"/>
                  </a:lnTo>
                  <a:cubicBezTo>
                    <a:pt x="20083" y="299923"/>
                    <a:pt x="0" y="279840"/>
                    <a:pt x="0" y="255067"/>
                  </a:cubicBezTo>
                  <a:lnTo>
                    <a:pt x="0" y="44856"/>
                  </a:lnTo>
                  <a:cubicBezTo>
                    <a:pt x="0" y="20083"/>
                    <a:pt x="20083" y="0"/>
                    <a:pt x="44856" y="0"/>
                  </a:cubicBezTo>
                  <a:close/>
                </a:path>
              </a:pathLst>
            </a:custGeom>
            <a:gradFill rotWithShape="true">
              <a:gsLst>
                <a:gs pos="0">
                  <a:srgbClr val="004AAD">
                    <a:alpha val="100000"/>
                  </a:srgbClr>
                </a:gs>
                <a:gs pos="100000">
                  <a:srgbClr val="CB6CE6">
                    <a:alpha val="100000"/>
                  </a:srgbClr>
                </a:gs>
              </a:gsLst>
              <a:lin ang="0"/>
            </a:gradFill>
          </p:spPr>
        </p:sp>
        <p:sp>
          <p:nvSpPr>
            <p:cNvPr name="TextBox 16" id="16"/>
            <p:cNvSpPr txBox="true"/>
            <p:nvPr/>
          </p:nvSpPr>
          <p:spPr>
            <a:xfrm>
              <a:off x="0" y="-85725"/>
              <a:ext cx="1846002" cy="385648"/>
            </a:xfrm>
            <a:prstGeom prst="rect">
              <a:avLst/>
            </a:prstGeom>
          </p:spPr>
          <p:txBody>
            <a:bodyPr anchor="ctr" rtlCol="false" tIns="50800" lIns="50800" bIns="50800" rIns="50800"/>
            <a:lstStyle/>
            <a:p>
              <a:pPr algn="ctr">
                <a:lnSpc>
                  <a:spcPts val="6299"/>
                </a:lnSpc>
              </a:pPr>
              <a:r>
                <a:rPr lang="en-US" b="true" sz="4500">
                  <a:solidFill>
                    <a:srgbClr val="FFFFFF"/>
                  </a:solidFill>
                  <a:latin typeface="Glacial Indifference Bold"/>
                  <a:ea typeface="Glacial Indifference Bold"/>
                  <a:cs typeface="Glacial Indifference Bold"/>
                  <a:sym typeface="Glacial Indifference Bold"/>
                </a:rPr>
                <a:t>image = cv2.flip(image, 1)</a:t>
              </a:r>
            </a:p>
          </p:txBody>
        </p:sp>
      </p:grpSp>
      <p:sp>
        <p:nvSpPr>
          <p:cNvPr name="Freeform 17" id="17"/>
          <p:cNvSpPr/>
          <p:nvPr/>
        </p:nvSpPr>
        <p:spPr>
          <a:xfrm flipH="false" flipV="false" rot="0">
            <a:off x="478598" y="5780507"/>
            <a:ext cx="552016" cy="552016"/>
          </a:xfrm>
          <a:custGeom>
            <a:avLst/>
            <a:gdLst/>
            <a:ahLst/>
            <a:cxnLst/>
            <a:rect r="r" b="b" t="t" l="l"/>
            <a:pathLst>
              <a:path h="552016" w="552016">
                <a:moveTo>
                  <a:pt x="0" y="0"/>
                </a:moveTo>
                <a:lnTo>
                  <a:pt x="552016" y="0"/>
                </a:lnTo>
                <a:lnTo>
                  <a:pt x="552016" y="552016"/>
                </a:lnTo>
                <a:lnTo>
                  <a:pt x="0" y="5520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8" id="18"/>
          <p:cNvSpPr txBox="true"/>
          <p:nvPr/>
        </p:nvSpPr>
        <p:spPr>
          <a:xfrm rot="0">
            <a:off x="1180940" y="5637409"/>
            <a:ext cx="3581745" cy="761138"/>
          </a:xfrm>
          <a:prstGeom prst="rect">
            <a:avLst/>
          </a:prstGeom>
        </p:spPr>
        <p:txBody>
          <a:bodyPr anchor="t" rtlCol="false" tIns="0" lIns="0" bIns="0" rIns="0">
            <a:spAutoFit/>
          </a:bodyPr>
          <a:lstStyle/>
          <a:p>
            <a:pPr algn="l">
              <a:lnSpc>
                <a:spcPts val="6153"/>
              </a:lnSpc>
            </a:pPr>
            <a:r>
              <a:rPr lang="en-US" sz="4395" b="true">
                <a:solidFill>
                  <a:srgbClr val="12354D"/>
                </a:solidFill>
                <a:latin typeface="Glacial Indifference Bold"/>
                <a:ea typeface="Glacial Indifference Bold"/>
                <a:cs typeface="Glacial Indifference Bold"/>
                <a:sym typeface="Glacial Indifference Bold"/>
              </a:rPr>
              <a:t>Explanation</a:t>
            </a:r>
          </a:p>
        </p:txBody>
      </p:sp>
      <p:sp>
        <p:nvSpPr>
          <p:cNvPr name="TextBox 19" id="19"/>
          <p:cNvSpPr txBox="true"/>
          <p:nvPr/>
        </p:nvSpPr>
        <p:spPr>
          <a:xfrm rot="0">
            <a:off x="1240067" y="6544623"/>
            <a:ext cx="8331855" cy="1385646"/>
          </a:xfrm>
          <a:prstGeom prst="rect">
            <a:avLst/>
          </a:prstGeom>
        </p:spPr>
        <p:txBody>
          <a:bodyPr anchor="t" rtlCol="false" tIns="0" lIns="0" bIns="0" rIns="0">
            <a:spAutoFit/>
          </a:bodyPr>
          <a:lstStyle/>
          <a:p>
            <a:pPr algn="l">
              <a:lnSpc>
                <a:spcPts val="5626"/>
              </a:lnSpc>
            </a:pPr>
            <a:r>
              <a:rPr lang="en-US" sz="4018">
                <a:solidFill>
                  <a:srgbClr val="12354D"/>
                </a:solidFill>
                <a:latin typeface="Glacial Indifference"/>
                <a:ea typeface="Glacial Indifference"/>
                <a:cs typeface="Glacial Indifference"/>
                <a:sym typeface="Glacial Indifference"/>
              </a:rPr>
              <a:t>Ensures pectoral muscle is always in the upper-left corner</a:t>
            </a:r>
          </a:p>
        </p:txBody>
      </p:sp>
    </p:spTree>
  </p:cSld>
  <p:clrMapOvr>
    <a:masterClrMapping/>
  </p:clrMapOvr>
  <p:transition spd="slow">
    <p:push dir="d"/>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03352" y="-514350"/>
            <a:ext cx="11597119" cy="11316371"/>
            <a:chOff x="0" y="0"/>
            <a:chExt cx="3054385" cy="2980443"/>
          </a:xfrm>
        </p:grpSpPr>
        <p:sp>
          <p:nvSpPr>
            <p:cNvPr name="Freeform 4" id="4"/>
            <p:cNvSpPr/>
            <p:nvPr/>
          </p:nvSpPr>
          <p:spPr>
            <a:xfrm flipH="false" flipV="false" rot="0">
              <a:off x="0" y="0"/>
              <a:ext cx="3054385" cy="2980443"/>
            </a:xfrm>
            <a:custGeom>
              <a:avLst/>
              <a:gdLst/>
              <a:ahLst/>
              <a:cxnLst/>
              <a:rect r="r" b="b" t="t" l="l"/>
              <a:pathLst>
                <a:path h="2980443" w="3054385">
                  <a:moveTo>
                    <a:pt x="0" y="0"/>
                  </a:moveTo>
                  <a:lnTo>
                    <a:pt x="3054385" y="0"/>
                  </a:lnTo>
                  <a:lnTo>
                    <a:pt x="3054385" y="2980443"/>
                  </a:lnTo>
                  <a:lnTo>
                    <a:pt x="0" y="2980443"/>
                  </a:lnTo>
                  <a:close/>
                </a:path>
              </a:pathLst>
            </a:custGeom>
            <a:solidFill>
              <a:srgbClr val="FFFFFF"/>
            </a:solidFill>
          </p:spPr>
        </p:sp>
        <p:sp>
          <p:nvSpPr>
            <p:cNvPr name="TextBox 5" id="5"/>
            <p:cNvSpPr txBox="true"/>
            <p:nvPr/>
          </p:nvSpPr>
          <p:spPr>
            <a:xfrm>
              <a:off x="0" y="-47625"/>
              <a:ext cx="3054385" cy="3028068"/>
            </a:xfrm>
            <a:prstGeom prst="rect">
              <a:avLst/>
            </a:prstGeom>
          </p:spPr>
          <p:txBody>
            <a:bodyPr anchor="ctr" rtlCol="false" tIns="50800" lIns="50800" bIns="50800" rIns="50800"/>
            <a:lstStyle/>
            <a:p>
              <a:pPr algn="ctr">
                <a:lnSpc>
                  <a:spcPts val="3255"/>
                </a:lnSpc>
              </a:pPr>
            </a:p>
          </p:txBody>
        </p:sp>
      </p:grpSp>
      <p:sp>
        <p:nvSpPr>
          <p:cNvPr name="Freeform 6" id="6"/>
          <p:cNvSpPr/>
          <p:nvPr/>
        </p:nvSpPr>
        <p:spPr>
          <a:xfrm flipH="false" flipV="false" rot="0">
            <a:off x="202590" y="1587393"/>
            <a:ext cx="552016" cy="552016"/>
          </a:xfrm>
          <a:custGeom>
            <a:avLst/>
            <a:gdLst/>
            <a:ahLst/>
            <a:cxnLst/>
            <a:rect r="r" b="b" t="t" l="l"/>
            <a:pathLst>
              <a:path h="552016" w="552016">
                <a:moveTo>
                  <a:pt x="0" y="0"/>
                </a:moveTo>
                <a:lnTo>
                  <a:pt x="552016" y="0"/>
                </a:lnTo>
                <a:lnTo>
                  <a:pt x="552016" y="552016"/>
                </a:lnTo>
                <a:lnTo>
                  <a:pt x="0" y="5520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148940" y="8745228"/>
            <a:ext cx="1990120" cy="1204264"/>
          </a:xfrm>
          <a:custGeom>
            <a:avLst/>
            <a:gdLst/>
            <a:ahLst/>
            <a:cxnLst/>
            <a:rect r="r" b="b" t="t" l="l"/>
            <a:pathLst>
              <a:path h="1204264" w="1990120">
                <a:moveTo>
                  <a:pt x="0" y="0"/>
                </a:moveTo>
                <a:lnTo>
                  <a:pt x="1990120" y="0"/>
                </a:lnTo>
                <a:lnTo>
                  <a:pt x="1990120" y="1204264"/>
                </a:lnTo>
                <a:lnTo>
                  <a:pt x="0" y="1204264"/>
                </a:lnTo>
                <a:lnTo>
                  <a:pt x="0" y="0"/>
                </a:lnTo>
                <a:close/>
              </a:path>
            </a:pathLst>
          </a:custGeom>
          <a:blipFill>
            <a:blip r:embed="rId5">
              <a:extLst>
                <a:ext uri="{96DAC541-7B7A-43D3-8B79-37D633B846F1}">
                  <asvg:svgBlip xmlns:asvg="http://schemas.microsoft.com/office/drawing/2016/SVG/main" r:embed="rId6"/>
                </a:ext>
              </a:extLst>
            </a:blip>
            <a:stretch>
              <a:fillRect l="0" t="-97320" r="0" b="0"/>
            </a:stretch>
          </a:blipFill>
        </p:spPr>
      </p:sp>
      <p:sp>
        <p:nvSpPr>
          <p:cNvPr name="Freeform 8" id="8"/>
          <p:cNvSpPr/>
          <p:nvPr/>
        </p:nvSpPr>
        <p:spPr>
          <a:xfrm flipH="false" flipV="false" rot="0">
            <a:off x="11336642" y="3000557"/>
            <a:ext cx="6763344" cy="5427584"/>
          </a:xfrm>
          <a:custGeom>
            <a:avLst/>
            <a:gdLst/>
            <a:ahLst/>
            <a:cxnLst/>
            <a:rect r="r" b="b" t="t" l="l"/>
            <a:pathLst>
              <a:path h="5427584" w="6763344">
                <a:moveTo>
                  <a:pt x="0" y="0"/>
                </a:moveTo>
                <a:lnTo>
                  <a:pt x="6763344" y="0"/>
                </a:lnTo>
                <a:lnTo>
                  <a:pt x="6763344" y="5427583"/>
                </a:lnTo>
                <a:lnTo>
                  <a:pt x="0" y="5427583"/>
                </a:lnTo>
                <a:lnTo>
                  <a:pt x="0" y="0"/>
                </a:lnTo>
                <a:close/>
              </a:path>
            </a:pathLst>
          </a:custGeom>
          <a:blipFill>
            <a:blip r:embed="rId7"/>
            <a:stretch>
              <a:fillRect l="0" t="0" r="0" b="0"/>
            </a:stretch>
          </a:blipFill>
        </p:spPr>
      </p:sp>
      <p:sp>
        <p:nvSpPr>
          <p:cNvPr name="TextBox 9" id="9"/>
          <p:cNvSpPr txBox="true"/>
          <p:nvPr/>
        </p:nvSpPr>
        <p:spPr>
          <a:xfrm rot="0">
            <a:off x="0" y="214219"/>
            <a:ext cx="11336642" cy="819150"/>
          </a:xfrm>
          <a:prstGeom prst="rect">
            <a:avLst/>
          </a:prstGeom>
        </p:spPr>
        <p:txBody>
          <a:bodyPr anchor="t" rtlCol="false" tIns="0" lIns="0" bIns="0" rIns="0">
            <a:spAutoFit/>
          </a:bodyPr>
          <a:lstStyle/>
          <a:p>
            <a:pPr algn="l">
              <a:lnSpc>
                <a:spcPts val="6000"/>
              </a:lnSpc>
            </a:pPr>
            <a:r>
              <a:rPr lang="en-US" sz="6000" b="true">
                <a:solidFill>
                  <a:srgbClr val="12354D"/>
                </a:solidFill>
                <a:latin typeface="Glacial Indifference Bold"/>
                <a:ea typeface="Glacial Indifference Bold"/>
                <a:cs typeface="Glacial Indifference Bold"/>
                <a:sym typeface="Glacial Indifference Bold"/>
              </a:rPr>
              <a:t>Step 3.2: Quadrant Division</a:t>
            </a:r>
          </a:p>
        </p:txBody>
      </p:sp>
      <p:sp>
        <p:nvSpPr>
          <p:cNvPr name="TextBox 10" id="10"/>
          <p:cNvSpPr txBox="true"/>
          <p:nvPr/>
        </p:nvSpPr>
        <p:spPr>
          <a:xfrm rot="0">
            <a:off x="1030614" y="2245386"/>
            <a:ext cx="8331855" cy="2091407"/>
          </a:xfrm>
          <a:prstGeom prst="rect">
            <a:avLst/>
          </a:prstGeom>
        </p:spPr>
        <p:txBody>
          <a:bodyPr anchor="t" rtlCol="false" tIns="0" lIns="0" bIns="0" rIns="0">
            <a:spAutoFit/>
          </a:bodyPr>
          <a:lstStyle/>
          <a:p>
            <a:pPr algn="l" marL="867648" indent="-433824" lvl="1">
              <a:lnSpc>
                <a:spcPts val="5626"/>
              </a:lnSpc>
              <a:buFont typeface="Arial"/>
              <a:buChar char="•"/>
            </a:pPr>
            <a:r>
              <a:rPr lang="en-US" sz="4018">
                <a:solidFill>
                  <a:srgbClr val="12354D"/>
                </a:solidFill>
                <a:latin typeface="Glacial Indifference"/>
                <a:ea typeface="Glacial Indifference"/>
                <a:cs typeface="Glacial Indifference"/>
                <a:sym typeface="Glacial Indifference"/>
              </a:rPr>
              <a:t>Pectoral muscle exists only in upper-left region</a:t>
            </a:r>
          </a:p>
          <a:p>
            <a:pPr algn="l">
              <a:lnSpc>
                <a:spcPts val="5626"/>
              </a:lnSpc>
            </a:pPr>
          </a:p>
        </p:txBody>
      </p:sp>
      <p:sp>
        <p:nvSpPr>
          <p:cNvPr name="TextBox 11" id="11"/>
          <p:cNvSpPr txBox="true"/>
          <p:nvPr/>
        </p:nvSpPr>
        <p:spPr>
          <a:xfrm rot="0">
            <a:off x="904932" y="1444295"/>
            <a:ext cx="2818471" cy="761138"/>
          </a:xfrm>
          <a:prstGeom prst="rect">
            <a:avLst/>
          </a:prstGeom>
        </p:spPr>
        <p:txBody>
          <a:bodyPr anchor="t" rtlCol="false" tIns="0" lIns="0" bIns="0" rIns="0">
            <a:spAutoFit/>
          </a:bodyPr>
          <a:lstStyle/>
          <a:p>
            <a:pPr algn="l">
              <a:lnSpc>
                <a:spcPts val="6153"/>
              </a:lnSpc>
            </a:pPr>
            <a:r>
              <a:rPr lang="en-US" sz="4395" b="true">
                <a:solidFill>
                  <a:srgbClr val="12354D"/>
                </a:solidFill>
                <a:latin typeface="Glacial Indifference Bold"/>
                <a:ea typeface="Glacial Indifference Bold"/>
                <a:cs typeface="Glacial Indifference Bold"/>
                <a:sym typeface="Glacial Indifference Bold"/>
              </a:rPr>
              <a:t>Idea</a:t>
            </a:r>
          </a:p>
        </p:txBody>
      </p:sp>
      <p:sp>
        <p:nvSpPr>
          <p:cNvPr name="Freeform 12" id="12"/>
          <p:cNvSpPr/>
          <p:nvPr/>
        </p:nvSpPr>
        <p:spPr>
          <a:xfrm flipH="false" flipV="false" rot="0">
            <a:off x="202590" y="3904233"/>
            <a:ext cx="552016" cy="552016"/>
          </a:xfrm>
          <a:custGeom>
            <a:avLst/>
            <a:gdLst/>
            <a:ahLst/>
            <a:cxnLst/>
            <a:rect r="r" b="b" t="t" l="l"/>
            <a:pathLst>
              <a:path h="552016" w="552016">
                <a:moveTo>
                  <a:pt x="0" y="0"/>
                </a:moveTo>
                <a:lnTo>
                  <a:pt x="552016" y="0"/>
                </a:lnTo>
                <a:lnTo>
                  <a:pt x="552016" y="552016"/>
                </a:lnTo>
                <a:lnTo>
                  <a:pt x="0" y="5520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904932" y="3761135"/>
            <a:ext cx="2818471" cy="761138"/>
          </a:xfrm>
          <a:prstGeom prst="rect">
            <a:avLst/>
          </a:prstGeom>
        </p:spPr>
        <p:txBody>
          <a:bodyPr anchor="t" rtlCol="false" tIns="0" lIns="0" bIns="0" rIns="0">
            <a:spAutoFit/>
          </a:bodyPr>
          <a:lstStyle/>
          <a:p>
            <a:pPr algn="l">
              <a:lnSpc>
                <a:spcPts val="6153"/>
              </a:lnSpc>
            </a:pPr>
            <a:r>
              <a:rPr lang="en-US" sz="4395" b="true">
                <a:solidFill>
                  <a:srgbClr val="12354D"/>
                </a:solidFill>
                <a:latin typeface="Glacial Indifference Bold"/>
                <a:ea typeface="Glacial Indifference Bold"/>
                <a:cs typeface="Glacial Indifference Bold"/>
                <a:sym typeface="Glacial Indifference Bold"/>
              </a:rPr>
              <a:t>Code</a:t>
            </a:r>
          </a:p>
        </p:txBody>
      </p:sp>
      <p:grpSp>
        <p:nvGrpSpPr>
          <p:cNvPr name="Group 14" id="14"/>
          <p:cNvGrpSpPr/>
          <p:nvPr/>
        </p:nvGrpSpPr>
        <p:grpSpPr>
          <a:xfrm rot="0">
            <a:off x="1630959" y="4623911"/>
            <a:ext cx="8802364" cy="1430134"/>
            <a:chOff x="0" y="0"/>
            <a:chExt cx="1846002" cy="299923"/>
          </a:xfrm>
        </p:grpSpPr>
        <p:sp>
          <p:nvSpPr>
            <p:cNvPr name="Freeform 15" id="15"/>
            <p:cNvSpPr/>
            <p:nvPr/>
          </p:nvSpPr>
          <p:spPr>
            <a:xfrm flipH="false" flipV="false" rot="0">
              <a:off x="0" y="0"/>
              <a:ext cx="1846002" cy="299923"/>
            </a:xfrm>
            <a:custGeom>
              <a:avLst/>
              <a:gdLst/>
              <a:ahLst/>
              <a:cxnLst/>
              <a:rect r="r" b="b" t="t" l="l"/>
              <a:pathLst>
                <a:path h="299923" w="1846002">
                  <a:moveTo>
                    <a:pt x="44856" y="0"/>
                  </a:moveTo>
                  <a:lnTo>
                    <a:pt x="1801146" y="0"/>
                  </a:lnTo>
                  <a:cubicBezTo>
                    <a:pt x="1813043" y="0"/>
                    <a:pt x="1824452" y="4726"/>
                    <a:pt x="1832864" y="13138"/>
                  </a:cubicBezTo>
                  <a:cubicBezTo>
                    <a:pt x="1841277" y="21550"/>
                    <a:pt x="1846002" y="32959"/>
                    <a:pt x="1846002" y="44856"/>
                  </a:cubicBezTo>
                  <a:lnTo>
                    <a:pt x="1846002" y="255067"/>
                  </a:lnTo>
                  <a:cubicBezTo>
                    <a:pt x="1846002" y="279840"/>
                    <a:pt x="1825920" y="299923"/>
                    <a:pt x="1801146" y="299923"/>
                  </a:cubicBezTo>
                  <a:lnTo>
                    <a:pt x="44856" y="299923"/>
                  </a:lnTo>
                  <a:cubicBezTo>
                    <a:pt x="20083" y="299923"/>
                    <a:pt x="0" y="279840"/>
                    <a:pt x="0" y="255067"/>
                  </a:cubicBezTo>
                  <a:lnTo>
                    <a:pt x="0" y="44856"/>
                  </a:lnTo>
                  <a:cubicBezTo>
                    <a:pt x="0" y="20083"/>
                    <a:pt x="20083" y="0"/>
                    <a:pt x="44856" y="0"/>
                  </a:cubicBezTo>
                  <a:close/>
                </a:path>
              </a:pathLst>
            </a:custGeom>
            <a:gradFill rotWithShape="true">
              <a:gsLst>
                <a:gs pos="0">
                  <a:srgbClr val="004AAD">
                    <a:alpha val="100000"/>
                  </a:srgbClr>
                </a:gs>
                <a:gs pos="100000">
                  <a:srgbClr val="CB6CE6">
                    <a:alpha val="100000"/>
                  </a:srgbClr>
                </a:gs>
              </a:gsLst>
              <a:lin ang="0"/>
            </a:gradFill>
          </p:spPr>
        </p:sp>
        <p:sp>
          <p:nvSpPr>
            <p:cNvPr name="TextBox 16" id="16"/>
            <p:cNvSpPr txBox="true"/>
            <p:nvPr/>
          </p:nvSpPr>
          <p:spPr>
            <a:xfrm>
              <a:off x="0" y="-85725"/>
              <a:ext cx="1846002" cy="385648"/>
            </a:xfrm>
            <a:prstGeom prst="rect">
              <a:avLst/>
            </a:prstGeom>
          </p:spPr>
          <p:txBody>
            <a:bodyPr anchor="ctr" rtlCol="false" tIns="50800" lIns="50800" bIns="50800" rIns="50800"/>
            <a:lstStyle/>
            <a:p>
              <a:pPr algn="ctr">
                <a:lnSpc>
                  <a:spcPts val="6299"/>
                </a:lnSpc>
              </a:pPr>
              <a:r>
                <a:rPr lang="en-US" b="true" sz="4500">
                  <a:solidFill>
                    <a:srgbClr val="FFFFFF"/>
                  </a:solidFill>
                  <a:latin typeface="Glacial Indifference Bold"/>
                  <a:ea typeface="Glacial Indifference Bold"/>
                  <a:cs typeface="Glacial Indifference Bold"/>
                  <a:sym typeface="Glacial Indifference Bold"/>
                </a:rPr>
                <a:t>quadrant = image[:h//2, :w//2]</a:t>
              </a:r>
            </a:p>
          </p:txBody>
        </p:sp>
      </p:grpSp>
      <p:sp>
        <p:nvSpPr>
          <p:cNvPr name="Freeform 17" id="17"/>
          <p:cNvSpPr/>
          <p:nvPr/>
        </p:nvSpPr>
        <p:spPr>
          <a:xfrm flipH="false" flipV="false" rot="0">
            <a:off x="478598" y="6595467"/>
            <a:ext cx="552016" cy="552016"/>
          </a:xfrm>
          <a:custGeom>
            <a:avLst/>
            <a:gdLst/>
            <a:ahLst/>
            <a:cxnLst/>
            <a:rect r="r" b="b" t="t" l="l"/>
            <a:pathLst>
              <a:path h="552016" w="552016">
                <a:moveTo>
                  <a:pt x="0" y="0"/>
                </a:moveTo>
                <a:lnTo>
                  <a:pt x="552016" y="0"/>
                </a:lnTo>
                <a:lnTo>
                  <a:pt x="552016" y="552016"/>
                </a:lnTo>
                <a:lnTo>
                  <a:pt x="0" y="5520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8" id="18"/>
          <p:cNvSpPr txBox="true"/>
          <p:nvPr/>
        </p:nvSpPr>
        <p:spPr>
          <a:xfrm rot="0">
            <a:off x="1180940" y="6452369"/>
            <a:ext cx="3581745" cy="761138"/>
          </a:xfrm>
          <a:prstGeom prst="rect">
            <a:avLst/>
          </a:prstGeom>
        </p:spPr>
        <p:txBody>
          <a:bodyPr anchor="t" rtlCol="false" tIns="0" lIns="0" bIns="0" rIns="0">
            <a:spAutoFit/>
          </a:bodyPr>
          <a:lstStyle/>
          <a:p>
            <a:pPr algn="l">
              <a:lnSpc>
                <a:spcPts val="6153"/>
              </a:lnSpc>
            </a:pPr>
            <a:r>
              <a:rPr lang="en-US" sz="4395" b="true">
                <a:solidFill>
                  <a:srgbClr val="12354D"/>
                </a:solidFill>
                <a:latin typeface="Glacial Indifference Bold"/>
                <a:ea typeface="Glacial Indifference Bold"/>
                <a:cs typeface="Glacial Indifference Bold"/>
                <a:sym typeface="Glacial Indifference Bold"/>
              </a:rPr>
              <a:t>Result</a:t>
            </a:r>
          </a:p>
        </p:txBody>
      </p:sp>
      <p:sp>
        <p:nvSpPr>
          <p:cNvPr name="TextBox 19" id="19"/>
          <p:cNvSpPr txBox="true"/>
          <p:nvPr/>
        </p:nvSpPr>
        <p:spPr>
          <a:xfrm rot="0">
            <a:off x="1240067" y="7359582"/>
            <a:ext cx="8331855" cy="2463800"/>
          </a:xfrm>
          <a:prstGeom prst="rect">
            <a:avLst/>
          </a:prstGeom>
        </p:spPr>
        <p:txBody>
          <a:bodyPr anchor="t" rtlCol="false" tIns="0" lIns="0" bIns="0" rIns="0">
            <a:spAutoFit/>
          </a:bodyPr>
          <a:lstStyle/>
          <a:p>
            <a:pPr algn="l">
              <a:lnSpc>
                <a:spcPts val="4900"/>
              </a:lnSpc>
            </a:pPr>
            <a:r>
              <a:rPr lang="en-US" sz="3500">
                <a:solidFill>
                  <a:srgbClr val="12354D"/>
                </a:solidFill>
                <a:latin typeface="Glacial Indifference"/>
                <a:ea typeface="Glacial Indifference"/>
                <a:cs typeface="Glacial Indifference"/>
                <a:sym typeface="Glacial Indifference"/>
              </a:rPr>
              <a:t>By isolating the breast region, the search area is significantly reduced, which leads to faster processing and improved accuracy in subsequent analysis.</a:t>
            </a:r>
          </a:p>
        </p:txBody>
      </p:sp>
    </p:spTree>
  </p:cSld>
  <p:clrMapOvr>
    <a:masterClrMapping/>
  </p:clrMapOvr>
  <p:transition spd="slow">
    <p:push dir="u"/>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03352" y="-514350"/>
            <a:ext cx="11597119" cy="11316371"/>
            <a:chOff x="0" y="0"/>
            <a:chExt cx="3054385" cy="2980443"/>
          </a:xfrm>
        </p:grpSpPr>
        <p:sp>
          <p:nvSpPr>
            <p:cNvPr name="Freeform 4" id="4"/>
            <p:cNvSpPr/>
            <p:nvPr/>
          </p:nvSpPr>
          <p:spPr>
            <a:xfrm flipH="false" flipV="false" rot="0">
              <a:off x="0" y="0"/>
              <a:ext cx="3054385" cy="2980443"/>
            </a:xfrm>
            <a:custGeom>
              <a:avLst/>
              <a:gdLst/>
              <a:ahLst/>
              <a:cxnLst/>
              <a:rect r="r" b="b" t="t" l="l"/>
              <a:pathLst>
                <a:path h="2980443" w="3054385">
                  <a:moveTo>
                    <a:pt x="0" y="0"/>
                  </a:moveTo>
                  <a:lnTo>
                    <a:pt x="3054385" y="0"/>
                  </a:lnTo>
                  <a:lnTo>
                    <a:pt x="3054385" y="2980443"/>
                  </a:lnTo>
                  <a:lnTo>
                    <a:pt x="0" y="2980443"/>
                  </a:lnTo>
                  <a:close/>
                </a:path>
              </a:pathLst>
            </a:custGeom>
            <a:solidFill>
              <a:srgbClr val="FFFFFF"/>
            </a:solidFill>
          </p:spPr>
        </p:sp>
        <p:sp>
          <p:nvSpPr>
            <p:cNvPr name="TextBox 5" id="5"/>
            <p:cNvSpPr txBox="true"/>
            <p:nvPr/>
          </p:nvSpPr>
          <p:spPr>
            <a:xfrm>
              <a:off x="0" y="-47625"/>
              <a:ext cx="3054385" cy="3028068"/>
            </a:xfrm>
            <a:prstGeom prst="rect">
              <a:avLst/>
            </a:prstGeom>
          </p:spPr>
          <p:txBody>
            <a:bodyPr anchor="ctr" rtlCol="false" tIns="50800" lIns="50800" bIns="50800" rIns="50800"/>
            <a:lstStyle/>
            <a:p>
              <a:pPr algn="ctr">
                <a:lnSpc>
                  <a:spcPts val="3255"/>
                </a:lnSpc>
              </a:pPr>
            </a:p>
          </p:txBody>
        </p:sp>
      </p:grpSp>
      <p:sp>
        <p:nvSpPr>
          <p:cNvPr name="Freeform 6" id="6"/>
          <p:cNvSpPr/>
          <p:nvPr/>
        </p:nvSpPr>
        <p:spPr>
          <a:xfrm flipH="false" flipV="false" rot="0">
            <a:off x="225100" y="2349621"/>
            <a:ext cx="552016" cy="552016"/>
          </a:xfrm>
          <a:custGeom>
            <a:avLst/>
            <a:gdLst/>
            <a:ahLst/>
            <a:cxnLst/>
            <a:rect r="r" b="b" t="t" l="l"/>
            <a:pathLst>
              <a:path h="552016" w="552016">
                <a:moveTo>
                  <a:pt x="0" y="0"/>
                </a:moveTo>
                <a:lnTo>
                  <a:pt x="552016" y="0"/>
                </a:lnTo>
                <a:lnTo>
                  <a:pt x="552016" y="552016"/>
                </a:lnTo>
                <a:lnTo>
                  <a:pt x="0" y="5520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148940" y="8745228"/>
            <a:ext cx="1990120" cy="1204264"/>
          </a:xfrm>
          <a:custGeom>
            <a:avLst/>
            <a:gdLst/>
            <a:ahLst/>
            <a:cxnLst/>
            <a:rect r="r" b="b" t="t" l="l"/>
            <a:pathLst>
              <a:path h="1204264" w="1990120">
                <a:moveTo>
                  <a:pt x="0" y="0"/>
                </a:moveTo>
                <a:lnTo>
                  <a:pt x="1990120" y="0"/>
                </a:lnTo>
                <a:lnTo>
                  <a:pt x="1990120" y="1204264"/>
                </a:lnTo>
                <a:lnTo>
                  <a:pt x="0" y="1204264"/>
                </a:lnTo>
                <a:lnTo>
                  <a:pt x="0" y="0"/>
                </a:lnTo>
                <a:close/>
              </a:path>
            </a:pathLst>
          </a:custGeom>
          <a:blipFill>
            <a:blip r:embed="rId5">
              <a:extLst>
                <a:ext uri="{96DAC541-7B7A-43D3-8B79-37D633B846F1}">
                  <asvg:svgBlip xmlns:asvg="http://schemas.microsoft.com/office/drawing/2016/SVG/main" r:embed="rId6"/>
                </a:ext>
              </a:extLst>
            </a:blip>
            <a:stretch>
              <a:fillRect l="0" t="-97320" r="0" b="0"/>
            </a:stretch>
          </a:blipFill>
        </p:spPr>
      </p:sp>
      <p:sp>
        <p:nvSpPr>
          <p:cNvPr name="Freeform 8" id="8"/>
          <p:cNvSpPr/>
          <p:nvPr/>
        </p:nvSpPr>
        <p:spPr>
          <a:xfrm flipH="false" flipV="false" rot="0">
            <a:off x="11336642" y="3000557"/>
            <a:ext cx="6763344" cy="5427584"/>
          </a:xfrm>
          <a:custGeom>
            <a:avLst/>
            <a:gdLst/>
            <a:ahLst/>
            <a:cxnLst/>
            <a:rect r="r" b="b" t="t" l="l"/>
            <a:pathLst>
              <a:path h="5427584" w="6763344">
                <a:moveTo>
                  <a:pt x="0" y="0"/>
                </a:moveTo>
                <a:lnTo>
                  <a:pt x="6763344" y="0"/>
                </a:lnTo>
                <a:lnTo>
                  <a:pt x="6763344" y="5427583"/>
                </a:lnTo>
                <a:lnTo>
                  <a:pt x="0" y="5427583"/>
                </a:lnTo>
                <a:lnTo>
                  <a:pt x="0" y="0"/>
                </a:lnTo>
                <a:close/>
              </a:path>
            </a:pathLst>
          </a:custGeom>
          <a:blipFill>
            <a:blip r:embed="rId7"/>
            <a:stretch>
              <a:fillRect l="0" t="0" r="0" b="0"/>
            </a:stretch>
          </a:blipFill>
        </p:spPr>
      </p:sp>
      <p:sp>
        <p:nvSpPr>
          <p:cNvPr name="TextBox 9" id="9"/>
          <p:cNvSpPr txBox="true"/>
          <p:nvPr/>
        </p:nvSpPr>
        <p:spPr>
          <a:xfrm rot="0">
            <a:off x="0" y="204694"/>
            <a:ext cx="11336642" cy="1298575"/>
          </a:xfrm>
          <a:prstGeom prst="rect">
            <a:avLst/>
          </a:prstGeom>
        </p:spPr>
        <p:txBody>
          <a:bodyPr anchor="t" rtlCol="false" tIns="0" lIns="0" bIns="0" rIns="0">
            <a:spAutoFit/>
          </a:bodyPr>
          <a:lstStyle/>
          <a:p>
            <a:pPr algn="l">
              <a:lnSpc>
                <a:spcPts val="5000"/>
              </a:lnSpc>
            </a:pPr>
            <a:r>
              <a:rPr lang="en-US" sz="5000" b="true">
                <a:solidFill>
                  <a:srgbClr val="12354D"/>
                </a:solidFill>
                <a:latin typeface="Glacial Indifference Bold"/>
                <a:ea typeface="Glacial Indifference Bold"/>
                <a:cs typeface="Glacial Indifference Bold"/>
                <a:sym typeface="Glacial Indifference Bold"/>
              </a:rPr>
              <a:t>Step 3.3: Triangular Localization (LTRPM)</a:t>
            </a:r>
          </a:p>
        </p:txBody>
      </p:sp>
      <p:sp>
        <p:nvSpPr>
          <p:cNvPr name="TextBox 10" id="10"/>
          <p:cNvSpPr txBox="true"/>
          <p:nvPr/>
        </p:nvSpPr>
        <p:spPr>
          <a:xfrm rot="0">
            <a:off x="1053124" y="3007614"/>
            <a:ext cx="8331855" cy="1385646"/>
          </a:xfrm>
          <a:prstGeom prst="rect">
            <a:avLst/>
          </a:prstGeom>
        </p:spPr>
        <p:txBody>
          <a:bodyPr anchor="t" rtlCol="false" tIns="0" lIns="0" bIns="0" rIns="0">
            <a:spAutoFit/>
          </a:bodyPr>
          <a:lstStyle/>
          <a:p>
            <a:pPr algn="l">
              <a:lnSpc>
                <a:spcPts val="5626"/>
              </a:lnSpc>
            </a:pPr>
            <a:r>
              <a:rPr lang="en-US" sz="4018">
                <a:solidFill>
                  <a:srgbClr val="12354D"/>
                </a:solidFill>
                <a:latin typeface="Glacial Indifference"/>
                <a:ea typeface="Glacial Indifference"/>
                <a:cs typeface="Glacial Indifference"/>
                <a:sym typeface="Glacial Indifference"/>
              </a:rPr>
              <a:t>Match anatomical shape of the pectoral muscle</a:t>
            </a:r>
          </a:p>
        </p:txBody>
      </p:sp>
      <p:sp>
        <p:nvSpPr>
          <p:cNvPr name="TextBox 11" id="11"/>
          <p:cNvSpPr txBox="true"/>
          <p:nvPr/>
        </p:nvSpPr>
        <p:spPr>
          <a:xfrm rot="0">
            <a:off x="927442" y="2206523"/>
            <a:ext cx="2818471" cy="761138"/>
          </a:xfrm>
          <a:prstGeom prst="rect">
            <a:avLst/>
          </a:prstGeom>
        </p:spPr>
        <p:txBody>
          <a:bodyPr anchor="t" rtlCol="false" tIns="0" lIns="0" bIns="0" rIns="0">
            <a:spAutoFit/>
          </a:bodyPr>
          <a:lstStyle/>
          <a:p>
            <a:pPr algn="l">
              <a:lnSpc>
                <a:spcPts val="6153"/>
              </a:lnSpc>
            </a:pPr>
            <a:r>
              <a:rPr lang="en-US" sz="4395" b="true">
                <a:solidFill>
                  <a:srgbClr val="12354D"/>
                </a:solidFill>
                <a:latin typeface="Glacial Indifference Bold"/>
                <a:ea typeface="Glacial Indifference Bold"/>
                <a:cs typeface="Glacial Indifference Bold"/>
                <a:sym typeface="Glacial Indifference Bold"/>
              </a:rPr>
              <a:t>Objective</a:t>
            </a:r>
          </a:p>
        </p:txBody>
      </p:sp>
      <p:sp>
        <p:nvSpPr>
          <p:cNvPr name="Freeform 12" id="12"/>
          <p:cNvSpPr/>
          <p:nvPr/>
        </p:nvSpPr>
        <p:spPr>
          <a:xfrm flipH="false" flipV="false" rot="0">
            <a:off x="225100" y="4666461"/>
            <a:ext cx="552016" cy="552016"/>
          </a:xfrm>
          <a:custGeom>
            <a:avLst/>
            <a:gdLst/>
            <a:ahLst/>
            <a:cxnLst/>
            <a:rect r="r" b="b" t="t" l="l"/>
            <a:pathLst>
              <a:path h="552016" w="552016">
                <a:moveTo>
                  <a:pt x="0" y="0"/>
                </a:moveTo>
                <a:lnTo>
                  <a:pt x="552016" y="0"/>
                </a:lnTo>
                <a:lnTo>
                  <a:pt x="552016" y="552016"/>
                </a:lnTo>
                <a:lnTo>
                  <a:pt x="0" y="5520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927442" y="4523363"/>
            <a:ext cx="2818471" cy="761138"/>
          </a:xfrm>
          <a:prstGeom prst="rect">
            <a:avLst/>
          </a:prstGeom>
        </p:spPr>
        <p:txBody>
          <a:bodyPr anchor="t" rtlCol="false" tIns="0" lIns="0" bIns="0" rIns="0">
            <a:spAutoFit/>
          </a:bodyPr>
          <a:lstStyle/>
          <a:p>
            <a:pPr algn="l">
              <a:lnSpc>
                <a:spcPts val="6153"/>
              </a:lnSpc>
            </a:pPr>
            <a:r>
              <a:rPr lang="en-US" sz="4395" b="true">
                <a:solidFill>
                  <a:srgbClr val="12354D"/>
                </a:solidFill>
                <a:latin typeface="Glacial Indifference Bold"/>
                <a:ea typeface="Glacial Indifference Bold"/>
                <a:cs typeface="Glacial Indifference Bold"/>
                <a:sym typeface="Glacial Indifference Bold"/>
              </a:rPr>
              <a:t>Idea</a:t>
            </a:r>
          </a:p>
        </p:txBody>
      </p:sp>
      <p:sp>
        <p:nvSpPr>
          <p:cNvPr name="Freeform 14" id="14"/>
          <p:cNvSpPr/>
          <p:nvPr/>
        </p:nvSpPr>
        <p:spPr>
          <a:xfrm flipH="false" flipV="false" rot="0">
            <a:off x="501108" y="7357695"/>
            <a:ext cx="552016" cy="552016"/>
          </a:xfrm>
          <a:custGeom>
            <a:avLst/>
            <a:gdLst/>
            <a:ahLst/>
            <a:cxnLst/>
            <a:rect r="r" b="b" t="t" l="l"/>
            <a:pathLst>
              <a:path h="552016" w="552016">
                <a:moveTo>
                  <a:pt x="0" y="0"/>
                </a:moveTo>
                <a:lnTo>
                  <a:pt x="552016" y="0"/>
                </a:lnTo>
                <a:lnTo>
                  <a:pt x="552016" y="552016"/>
                </a:lnTo>
                <a:lnTo>
                  <a:pt x="0" y="5520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203450" y="7214597"/>
            <a:ext cx="3581745" cy="761138"/>
          </a:xfrm>
          <a:prstGeom prst="rect">
            <a:avLst/>
          </a:prstGeom>
        </p:spPr>
        <p:txBody>
          <a:bodyPr anchor="t" rtlCol="false" tIns="0" lIns="0" bIns="0" rIns="0">
            <a:spAutoFit/>
          </a:bodyPr>
          <a:lstStyle/>
          <a:p>
            <a:pPr algn="l">
              <a:lnSpc>
                <a:spcPts val="6153"/>
              </a:lnSpc>
            </a:pPr>
            <a:r>
              <a:rPr lang="en-US" sz="4395" b="true">
                <a:solidFill>
                  <a:srgbClr val="12354D"/>
                </a:solidFill>
                <a:latin typeface="Glacial Indifference Bold"/>
                <a:ea typeface="Glacial Indifference Bold"/>
                <a:cs typeface="Glacial Indifference Bold"/>
                <a:sym typeface="Glacial Indifference Bold"/>
              </a:rPr>
              <a:t>Benefit</a:t>
            </a:r>
          </a:p>
        </p:txBody>
      </p:sp>
      <p:sp>
        <p:nvSpPr>
          <p:cNvPr name="TextBox 16" id="16"/>
          <p:cNvSpPr txBox="true"/>
          <p:nvPr/>
        </p:nvSpPr>
        <p:spPr>
          <a:xfrm rot="0">
            <a:off x="1262577" y="8121810"/>
            <a:ext cx="8331855" cy="1225550"/>
          </a:xfrm>
          <a:prstGeom prst="rect">
            <a:avLst/>
          </a:prstGeom>
        </p:spPr>
        <p:txBody>
          <a:bodyPr anchor="t" rtlCol="false" tIns="0" lIns="0" bIns="0" rIns="0">
            <a:spAutoFit/>
          </a:bodyPr>
          <a:lstStyle/>
          <a:p>
            <a:pPr algn="l">
              <a:lnSpc>
                <a:spcPts val="4900"/>
              </a:lnSpc>
            </a:pPr>
            <a:r>
              <a:rPr lang="en-US" sz="3500">
                <a:solidFill>
                  <a:srgbClr val="12354D"/>
                </a:solidFill>
                <a:latin typeface="Glacial Indifference"/>
                <a:ea typeface="Glacial Indifference"/>
                <a:cs typeface="Glacial Indifference"/>
                <a:sym typeface="Glacial Indifference"/>
              </a:rPr>
              <a:t>Minimizes loss of breast tissue</a:t>
            </a:r>
          </a:p>
          <a:p>
            <a:pPr algn="l">
              <a:lnSpc>
                <a:spcPts val="4900"/>
              </a:lnSpc>
            </a:pPr>
          </a:p>
        </p:txBody>
      </p:sp>
      <p:sp>
        <p:nvSpPr>
          <p:cNvPr name="TextBox 17" id="17"/>
          <p:cNvSpPr txBox="true"/>
          <p:nvPr/>
        </p:nvSpPr>
        <p:spPr>
          <a:xfrm rot="0">
            <a:off x="1203450" y="5436901"/>
            <a:ext cx="8331855" cy="1225550"/>
          </a:xfrm>
          <a:prstGeom prst="rect">
            <a:avLst/>
          </a:prstGeom>
        </p:spPr>
        <p:txBody>
          <a:bodyPr anchor="t" rtlCol="false" tIns="0" lIns="0" bIns="0" rIns="0">
            <a:spAutoFit/>
          </a:bodyPr>
          <a:lstStyle/>
          <a:p>
            <a:pPr algn="l">
              <a:lnSpc>
                <a:spcPts val="4900"/>
              </a:lnSpc>
            </a:pPr>
            <a:r>
              <a:rPr lang="en-US" sz="3500">
                <a:solidFill>
                  <a:srgbClr val="12354D"/>
                </a:solidFill>
                <a:latin typeface="Glacial Indifference"/>
                <a:ea typeface="Glacial Indifference"/>
                <a:cs typeface="Glacial Indifference"/>
                <a:sym typeface="Glacial Indifference"/>
              </a:rPr>
              <a:t>Keep only upper-left triangular region</a:t>
            </a:r>
          </a:p>
          <a:p>
            <a:pPr algn="l">
              <a:lnSpc>
                <a:spcPts val="4900"/>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03352" y="-514350"/>
            <a:ext cx="11597119" cy="11316371"/>
            <a:chOff x="0" y="0"/>
            <a:chExt cx="3054385" cy="2980443"/>
          </a:xfrm>
        </p:grpSpPr>
        <p:sp>
          <p:nvSpPr>
            <p:cNvPr name="Freeform 4" id="4"/>
            <p:cNvSpPr/>
            <p:nvPr/>
          </p:nvSpPr>
          <p:spPr>
            <a:xfrm flipH="false" flipV="false" rot="0">
              <a:off x="0" y="0"/>
              <a:ext cx="3054385" cy="2980443"/>
            </a:xfrm>
            <a:custGeom>
              <a:avLst/>
              <a:gdLst/>
              <a:ahLst/>
              <a:cxnLst/>
              <a:rect r="r" b="b" t="t" l="l"/>
              <a:pathLst>
                <a:path h="2980443" w="3054385">
                  <a:moveTo>
                    <a:pt x="0" y="0"/>
                  </a:moveTo>
                  <a:lnTo>
                    <a:pt x="3054385" y="0"/>
                  </a:lnTo>
                  <a:lnTo>
                    <a:pt x="3054385" y="2980443"/>
                  </a:lnTo>
                  <a:lnTo>
                    <a:pt x="0" y="2980443"/>
                  </a:lnTo>
                  <a:close/>
                </a:path>
              </a:pathLst>
            </a:custGeom>
            <a:solidFill>
              <a:srgbClr val="FFFFFF"/>
            </a:solidFill>
          </p:spPr>
        </p:sp>
        <p:sp>
          <p:nvSpPr>
            <p:cNvPr name="TextBox 5" id="5"/>
            <p:cNvSpPr txBox="true"/>
            <p:nvPr/>
          </p:nvSpPr>
          <p:spPr>
            <a:xfrm>
              <a:off x="0" y="-47625"/>
              <a:ext cx="3054385" cy="3028068"/>
            </a:xfrm>
            <a:prstGeom prst="rect">
              <a:avLst/>
            </a:prstGeom>
          </p:spPr>
          <p:txBody>
            <a:bodyPr anchor="ctr" rtlCol="false" tIns="50800" lIns="50800" bIns="50800" rIns="50800"/>
            <a:lstStyle/>
            <a:p>
              <a:pPr algn="ctr">
                <a:lnSpc>
                  <a:spcPts val="3255"/>
                </a:lnSpc>
              </a:pPr>
            </a:p>
          </p:txBody>
        </p:sp>
      </p:grpSp>
      <p:sp>
        <p:nvSpPr>
          <p:cNvPr name="Freeform 6" id="6"/>
          <p:cNvSpPr/>
          <p:nvPr/>
        </p:nvSpPr>
        <p:spPr>
          <a:xfrm flipH="false" flipV="false" rot="0">
            <a:off x="202590" y="1587393"/>
            <a:ext cx="552016" cy="552016"/>
          </a:xfrm>
          <a:custGeom>
            <a:avLst/>
            <a:gdLst/>
            <a:ahLst/>
            <a:cxnLst/>
            <a:rect r="r" b="b" t="t" l="l"/>
            <a:pathLst>
              <a:path h="552016" w="552016">
                <a:moveTo>
                  <a:pt x="0" y="0"/>
                </a:moveTo>
                <a:lnTo>
                  <a:pt x="552016" y="0"/>
                </a:lnTo>
                <a:lnTo>
                  <a:pt x="552016" y="552016"/>
                </a:lnTo>
                <a:lnTo>
                  <a:pt x="0" y="5520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821869" y="8967746"/>
            <a:ext cx="1990120" cy="1204264"/>
          </a:xfrm>
          <a:custGeom>
            <a:avLst/>
            <a:gdLst/>
            <a:ahLst/>
            <a:cxnLst/>
            <a:rect r="r" b="b" t="t" l="l"/>
            <a:pathLst>
              <a:path h="1204264" w="1990120">
                <a:moveTo>
                  <a:pt x="0" y="0"/>
                </a:moveTo>
                <a:lnTo>
                  <a:pt x="1990120" y="0"/>
                </a:lnTo>
                <a:lnTo>
                  <a:pt x="1990120" y="1204264"/>
                </a:lnTo>
                <a:lnTo>
                  <a:pt x="0" y="1204264"/>
                </a:lnTo>
                <a:lnTo>
                  <a:pt x="0" y="0"/>
                </a:lnTo>
                <a:close/>
              </a:path>
            </a:pathLst>
          </a:custGeom>
          <a:blipFill>
            <a:blip r:embed="rId5">
              <a:extLst>
                <a:ext uri="{96DAC541-7B7A-43D3-8B79-37D633B846F1}">
                  <asvg:svgBlip xmlns:asvg="http://schemas.microsoft.com/office/drawing/2016/SVG/main" r:embed="rId6"/>
                </a:ext>
              </a:extLst>
            </a:blip>
            <a:stretch>
              <a:fillRect l="0" t="-97320" r="0" b="0"/>
            </a:stretch>
          </a:blipFill>
        </p:spPr>
      </p:sp>
      <p:sp>
        <p:nvSpPr>
          <p:cNvPr name="Freeform 8" id="8"/>
          <p:cNvSpPr/>
          <p:nvPr/>
        </p:nvSpPr>
        <p:spPr>
          <a:xfrm flipH="false" flipV="false" rot="0">
            <a:off x="11336642" y="3000557"/>
            <a:ext cx="6763344" cy="5427584"/>
          </a:xfrm>
          <a:custGeom>
            <a:avLst/>
            <a:gdLst/>
            <a:ahLst/>
            <a:cxnLst/>
            <a:rect r="r" b="b" t="t" l="l"/>
            <a:pathLst>
              <a:path h="5427584" w="6763344">
                <a:moveTo>
                  <a:pt x="0" y="0"/>
                </a:moveTo>
                <a:lnTo>
                  <a:pt x="6763344" y="0"/>
                </a:lnTo>
                <a:lnTo>
                  <a:pt x="6763344" y="5427583"/>
                </a:lnTo>
                <a:lnTo>
                  <a:pt x="0" y="5427583"/>
                </a:lnTo>
                <a:lnTo>
                  <a:pt x="0" y="0"/>
                </a:lnTo>
                <a:close/>
              </a:path>
            </a:pathLst>
          </a:custGeom>
          <a:blipFill>
            <a:blip r:embed="rId7"/>
            <a:stretch>
              <a:fillRect l="0" t="0" r="0" b="0"/>
            </a:stretch>
          </a:blipFill>
        </p:spPr>
      </p:sp>
      <p:sp>
        <p:nvSpPr>
          <p:cNvPr name="TextBox 9" id="9"/>
          <p:cNvSpPr txBox="true"/>
          <p:nvPr/>
        </p:nvSpPr>
        <p:spPr>
          <a:xfrm rot="0">
            <a:off x="0" y="204694"/>
            <a:ext cx="11336642" cy="1298575"/>
          </a:xfrm>
          <a:prstGeom prst="rect">
            <a:avLst/>
          </a:prstGeom>
        </p:spPr>
        <p:txBody>
          <a:bodyPr anchor="t" rtlCol="false" tIns="0" lIns="0" bIns="0" rIns="0">
            <a:spAutoFit/>
          </a:bodyPr>
          <a:lstStyle/>
          <a:p>
            <a:pPr algn="l">
              <a:lnSpc>
                <a:spcPts val="5000"/>
              </a:lnSpc>
            </a:pPr>
            <a:r>
              <a:rPr lang="en-US" sz="5000" b="true">
                <a:solidFill>
                  <a:srgbClr val="12354D"/>
                </a:solidFill>
                <a:latin typeface="Glacial Indifference Bold"/>
                <a:ea typeface="Glacial Indifference Bold"/>
                <a:cs typeface="Glacial Indifference Bold"/>
                <a:sym typeface="Glacial Indifference Bold"/>
              </a:rPr>
              <a:t>Step 3.4: Seeded Region Growing (SRG)</a:t>
            </a:r>
          </a:p>
        </p:txBody>
      </p:sp>
      <p:sp>
        <p:nvSpPr>
          <p:cNvPr name="TextBox 10" id="10"/>
          <p:cNvSpPr txBox="true"/>
          <p:nvPr/>
        </p:nvSpPr>
        <p:spPr>
          <a:xfrm rot="0">
            <a:off x="1030614" y="2245386"/>
            <a:ext cx="8331855" cy="679885"/>
          </a:xfrm>
          <a:prstGeom prst="rect">
            <a:avLst/>
          </a:prstGeom>
        </p:spPr>
        <p:txBody>
          <a:bodyPr anchor="t" rtlCol="false" tIns="0" lIns="0" bIns="0" rIns="0">
            <a:spAutoFit/>
          </a:bodyPr>
          <a:lstStyle/>
          <a:p>
            <a:pPr algn="l">
              <a:lnSpc>
                <a:spcPts val="5626"/>
              </a:lnSpc>
            </a:pPr>
            <a:r>
              <a:rPr lang="en-US" sz="4018">
                <a:solidFill>
                  <a:srgbClr val="12354D"/>
                </a:solidFill>
                <a:latin typeface="Glacial Indifference"/>
                <a:ea typeface="Glacial Indifference"/>
                <a:cs typeface="Glacial Indifference"/>
                <a:sym typeface="Glacial Indifference"/>
              </a:rPr>
              <a:t>Segment only the pectoral muscle</a:t>
            </a:r>
          </a:p>
        </p:txBody>
      </p:sp>
      <p:sp>
        <p:nvSpPr>
          <p:cNvPr name="TextBox 11" id="11"/>
          <p:cNvSpPr txBox="true"/>
          <p:nvPr/>
        </p:nvSpPr>
        <p:spPr>
          <a:xfrm rot="0">
            <a:off x="904932" y="1444295"/>
            <a:ext cx="2818471" cy="761138"/>
          </a:xfrm>
          <a:prstGeom prst="rect">
            <a:avLst/>
          </a:prstGeom>
        </p:spPr>
        <p:txBody>
          <a:bodyPr anchor="t" rtlCol="false" tIns="0" lIns="0" bIns="0" rIns="0">
            <a:spAutoFit/>
          </a:bodyPr>
          <a:lstStyle/>
          <a:p>
            <a:pPr algn="l">
              <a:lnSpc>
                <a:spcPts val="6153"/>
              </a:lnSpc>
            </a:pPr>
            <a:r>
              <a:rPr lang="en-US" sz="4395" b="true">
                <a:solidFill>
                  <a:srgbClr val="12354D"/>
                </a:solidFill>
                <a:latin typeface="Glacial Indifference Bold"/>
                <a:ea typeface="Glacial Indifference Bold"/>
                <a:cs typeface="Glacial Indifference Bold"/>
                <a:sym typeface="Glacial Indifference Bold"/>
              </a:rPr>
              <a:t>Objective</a:t>
            </a:r>
          </a:p>
        </p:txBody>
      </p:sp>
      <p:sp>
        <p:nvSpPr>
          <p:cNvPr name="Freeform 12" id="12"/>
          <p:cNvSpPr/>
          <p:nvPr/>
        </p:nvSpPr>
        <p:spPr>
          <a:xfrm flipH="false" flipV="false" rot="0">
            <a:off x="290629" y="3564536"/>
            <a:ext cx="552016" cy="552016"/>
          </a:xfrm>
          <a:custGeom>
            <a:avLst/>
            <a:gdLst/>
            <a:ahLst/>
            <a:cxnLst/>
            <a:rect r="r" b="b" t="t" l="l"/>
            <a:pathLst>
              <a:path h="552016" w="552016">
                <a:moveTo>
                  <a:pt x="0" y="0"/>
                </a:moveTo>
                <a:lnTo>
                  <a:pt x="552016" y="0"/>
                </a:lnTo>
                <a:lnTo>
                  <a:pt x="552016" y="552016"/>
                </a:lnTo>
                <a:lnTo>
                  <a:pt x="0" y="5520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992971" y="3421438"/>
            <a:ext cx="2818471" cy="761138"/>
          </a:xfrm>
          <a:prstGeom prst="rect">
            <a:avLst/>
          </a:prstGeom>
        </p:spPr>
        <p:txBody>
          <a:bodyPr anchor="t" rtlCol="false" tIns="0" lIns="0" bIns="0" rIns="0">
            <a:spAutoFit/>
          </a:bodyPr>
          <a:lstStyle/>
          <a:p>
            <a:pPr algn="l">
              <a:lnSpc>
                <a:spcPts val="6153"/>
              </a:lnSpc>
            </a:pPr>
            <a:r>
              <a:rPr lang="en-US" sz="4395" b="true">
                <a:solidFill>
                  <a:srgbClr val="12354D"/>
                </a:solidFill>
                <a:latin typeface="Glacial Indifference Bold"/>
                <a:ea typeface="Glacial Indifference Bold"/>
                <a:cs typeface="Glacial Indifference Bold"/>
                <a:sym typeface="Glacial Indifference Bold"/>
              </a:rPr>
              <a:t>Code</a:t>
            </a:r>
          </a:p>
        </p:txBody>
      </p:sp>
      <p:grpSp>
        <p:nvGrpSpPr>
          <p:cNvPr name="Group 14" id="14"/>
          <p:cNvGrpSpPr/>
          <p:nvPr/>
        </p:nvGrpSpPr>
        <p:grpSpPr>
          <a:xfrm rot="0">
            <a:off x="290629" y="4296876"/>
            <a:ext cx="10521361" cy="1430134"/>
            <a:chOff x="0" y="0"/>
            <a:chExt cx="2206505" cy="299923"/>
          </a:xfrm>
        </p:grpSpPr>
        <p:sp>
          <p:nvSpPr>
            <p:cNvPr name="Freeform 15" id="15"/>
            <p:cNvSpPr/>
            <p:nvPr/>
          </p:nvSpPr>
          <p:spPr>
            <a:xfrm flipH="false" flipV="false" rot="0">
              <a:off x="0" y="0"/>
              <a:ext cx="2206505" cy="299923"/>
            </a:xfrm>
            <a:custGeom>
              <a:avLst/>
              <a:gdLst/>
              <a:ahLst/>
              <a:cxnLst/>
              <a:rect r="r" b="b" t="t" l="l"/>
              <a:pathLst>
                <a:path h="299923" w="2206505">
                  <a:moveTo>
                    <a:pt x="37527" y="0"/>
                  </a:moveTo>
                  <a:lnTo>
                    <a:pt x="2168978" y="0"/>
                  </a:lnTo>
                  <a:cubicBezTo>
                    <a:pt x="2178930" y="0"/>
                    <a:pt x="2188476" y="3954"/>
                    <a:pt x="2195513" y="10991"/>
                  </a:cubicBezTo>
                  <a:cubicBezTo>
                    <a:pt x="2202551" y="18029"/>
                    <a:pt x="2206505" y="27574"/>
                    <a:pt x="2206505" y="37527"/>
                  </a:cubicBezTo>
                  <a:lnTo>
                    <a:pt x="2206505" y="262396"/>
                  </a:lnTo>
                  <a:cubicBezTo>
                    <a:pt x="2206505" y="272349"/>
                    <a:pt x="2202551" y="281894"/>
                    <a:pt x="2195513" y="288932"/>
                  </a:cubicBezTo>
                  <a:cubicBezTo>
                    <a:pt x="2188476" y="295969"/>
                    <a:pt x="2178930" y="299923"/>
                    <a:pt x="2168978" y="299923"/>
                  </a:cubicBezTo>
                  <a:lnTo>
                    <a:pt x="37527" y="299923"/>
                  </a:lnTo>
                  <a:cubicBezTo>
                    <a:pt x="27574" y="299923"/>
                    <a:pt x="18029" y="295969"/>
                    <a:pt x="10991" y="288932"/>
                  </a:cubicBezTo>
                  <a:cubicBezTo>
                    <a:pt x="3954" y="281894"/>
                    <a:pt x="0" y="272349"/>
                    <a:pt x="0" y="262396"/>
                  </a:cubicBezTo>
                  <a:lnTo>
                    <a:pt x="0" y="37527"/>
                  </a:lnTo>
                  <a:cubicBezTo>
                    <a:pt x="0" y="27574"/>
                    <a:pt x="3954" y="18029"/>
                    <a:pt x="10991" y="10991"/>
                  </a:cubicBezTo>
                  <a:cubicBezTo>
                    <a:pt x="18029" y="3954"/>
                    <a:pt x="27574" y="0"/>
                    <a:pt x="37527" y="0"/>
                  </a:cubicBezTo>
                  <a:close/>
                </a:path>
              </a:pathLst>
            </a:custGeom>
            <a:gradFill rotWithShape="true">
              <a:gsLst>
                <a:gs pos="0">
                  <a:srgbClr val="004AAD">
                    <a:alpha val="100000"/>
                  </a:srgbClr>
                </a:gs>
                <a:gs pos="100000">
                  <a:srgbClr val="CB6CE6">
                    <a:alpha val="100000"/>
                  </a:srgbClr>
                </a:gs>
              </a:gsLst>
              <a:lin ang="0"/>
            </a:gradFill>
          </p:spPr>
        </p:sp>
        <p:sp>
          <p:nvSpPr>
            <p:cNvPr name="TextBox 16" id="16"/>
            <p:cNvSpPr txBox="true"/>
            <p:nvPr/>
          </p:nvSpPr>
          <p:spPr>
            <a:xfrm>
              <a:off x="0" y="-66675"/>
              <a:ext cx="2206505" cy="366598"/>
            </a:xfrm>
            <a:prstGeom prst="rect">
              <a:avLst/>
            </a:prstGeom>
          </p:spPr>
          <p:txBody>
            <a:bodyPr anchor="ctr" rtlCol="false" tIns="50800" lIns="50800" bIns="50800" rIns="50800"/>
            <a:lstStyle/>
            <a:p>
              <a:pPr algn="ctr">
                <a:lnSpc>
                  <a:spcPts val="4200"/>
                </a:lnSpc>
              </a:pPr>
              <a:r>
                <a:rPr lang="en-US" b="true" sz="3000">
                  <a:solidFill>
                    <a:srgbClr val="FFFFFF"/>
                  </a:solidFill>
                  <a:latin typeface="Glacial Indifference Bold"/>
                  <a:ea typeface="Glacial Indifference Bold"/>
                  <a:cs typeface="Glacial Indifference Bold"/>
                  <a:sym typeface="Glacial Indifference Bold"/>
                </a:rPr>
                <a:t>muscle_mask = flood(image, seed_point, tolerance=0.15)</a:t>
              </a:r>
            </a:p>
          </p:txBody>
        </p:sp>
      </p:grpSp>
      <p:sp>
        <p:nvSpPr>
          <p:cNvPr name="Freeform 17" id="17"/>
          <p:cNvSpPr/>
          <p:nvPr/>
        </p:nvSpPr>
        <p:spPr>
          <a:xfrm flipH="false" flipV="false" rot="0">
            <a:off x="478598" y="6054630"/>
            <a:ext cx="552016" cy="552016"/>
          </a:xfrm>
          <a:custGeom>
            <a:avLst/>
            <a:gdLst/>
            <a:ahLst/>
            <a:cxnLst/>
            <a:rect r="r" b="b" t="t" l="l"/>
            <a:pathLst>
              <a:path h="552016" w="552016">
                <a:moveTo>
                  <a:pt x="0" y="0"/>
                </a:moveTo>
                <a:lnTo>
                  <a:pt x="552016" y="0"/>
                </a:lnTo>
                <a:lnTo>
                  <a:pt x="552016" y="552016"/>
                </a:lnTo>
                <a:lnTo>
                  <a:pt x="0" y="5520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8" id="18"/>
          <p:cNvSpPr txBox="true"/>
          <p:nvPr/>
        </p:nvSpPr>
        <p:spPr>
          <a:xfrm rot="0">
            <a:off x="1180940" y="5911531"/>
            <a:ext cx="3581745" cy="761138"/>
          </a:xfrm>
          <a:prstGeom prst="rect">
            <a:avLst/>
          </a:prstGeom>
        </p:spPr>
        <p:txBody>
          <a:bodyPr anchor="t" rtlCol="false" tIns="0" lIns="0" bIns="0" rIns="0">
            <a:spAutoFit/>
          </a:bodyPr>
          <a:lstStyle/>
          <a:p>
            <a:pPr algn="l">
              <a:lnSpc>
                <a:spcPts val="6153"/>
              </a:lnSpc>
            </a:pPr>
            <a:r>
              <a:rPr lang="en-US" sz="4395" b="true">
                <a:solidFill>
                  <a:srgbClr val="12354D"/>
                </a:solidFill>
                <a:latin typeface="Glacial Indifference Bold"/>
                <a:ea typeface="Glacial Indifference Bold"/>
                <a:cs typeface="Glacial Indifference Bold"/>
                <a:sym typeface="Glacial Indifference Bold"/>
              </a:rPr>
              <a:t>Explanation</a:t>
            </a:r>
          </a:p>
        </p:txBody>
      </p:sp>
      <p:sp>
        <p:nvSpPr>
          <p:cNvPr name="TextBox 19" id="19"/>
          <p:cNvSpPr txBox="true"/>
          <p:nvPr/>
        </p:nvSpPr>
        <p:spPr>
          <a:xfrm rot="0">
            <a:off x="992971" y="6469960"/>
            <a:ext cx="8331855" cy="3702050"/>
          </a:xfrm>
          <a:prstGeom prst="rect">
            <a:avLst/>
          </a:prstGeom>
        </p:spPr>
        <p:txBody>
          <a:bodyPr anchor="t" rtlCol="false" tIns="0" lIns="0" bIns="0" rIns="0">
            <a:spAutoFit/>
          </a:bodyPr>
          <a:lstStyle/>
          <a:p>
            <a:pPr algn="l">
              <a:lnSpc>
                <a:spcPts val="4900"/>
              </a:lnSpc>
            </a:pPr>
            <a:r>
              <a:rPr lang="en-US" sz="3500">
                <a:solidFill>
                  <a:srgbClr val="12354D"/>
                </a:solidFill>
                <a:latin typeface="Glacial Indifference"/>
                <a:ea typeface="Glacial Indifference"/>
                <a:cs typeface="Glacial Indifference"/>
                <a:sym typeface="Glacial Indifference"/>
              </a:rPr>
              <a:t>The region growing process starts from a seed point selected as the brightest pixel. The region then expands by including neighboring pixels whose intensity values are similar, allowing accurate segmentation of the target area.</a:t>
            </a:r>
          </a:p>
        </p:txBody>
      </p:sp>
    </p:spTree>
  </p:cSld>
  <p:clrMapOvr>
    <a:masterClrMapping/>
  </p:clrMapOvr>
  <p:transition spd="slow">
    <p:push dir="u"/>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03352" y="-514350"/>
            <a:ext cx="11597119" cy="11316371"/>
            <a:chOff x="0" y="0"/>
            <a:chExt cx="3054385" cy="2980443"/>
          </a:xfrm>
        </p:grpSpPr>
        <p:sp>
          <p:nvSpPr>
            <p:cNvPr name="Freeform 4" id="4"/>
            <p:cNvSpPr/>
            <p:nvPr/>
          </p:nvSpPr>
          <p:spPr>
            <a:xfrm flipH="false" flipV="false" rot="0">
              <a:off x="0" y="0"/>
              <a:ext cx="3054385" cy="2980443"/>
            </a:xfrm>
            <a:custGeom>
              <a:avLst/>
              <a:gdLst/>
              <a:ahLst/>
              <a:cxnLst/>
              <a:rect r="r" b="b" t="t" l="l"/>
              <a:pathLst>
                <a:path h="2980443" w="3054385">
                  <a:moveTo>
                    <a:pt x="0" y="0"/>
                  </a:moveTo>
                  <a:lnTo>
                    <a:pt x="3054385" y="0"/>
                  </a:lnTo>
                  <a:lnTo>
                    <a:pt x="3054385" y="2980443"/>
                  </a:lnTo>
                  <a:lnTo>
                    <a:pt x="0" y="2980443"/>
                  </a:lnTo>
                  <a:close/>
                </a:path>
              </a:pathLst>
            </a:custGeom>
            <a:solidFill>
              <a:srgbClr val="FFFFFF"/>
            </a:solidFill>
          </p:spPr>
        </p:sp>
        <p:sp>
          <p:nvSpPr>
            <p:cNvPr name="TextBox 5" id="5"/>
            <p:cNvSpPr txBox="true"/>
            <p:nvPr/>
          </p:nvSpPr>
          <p:spPr>
            <a:xfrm>
              <a:off x="0" y="-47625"/>
              <a:ext cx="3054385" cy="3028068"/>
            </a:xfrm>
            <a:prstGeom prst="rect">
              <a:avLst/>
            </a:prstGeom>
          </p:spPr>
          <p:txBody>
            <a:bodyPr anchor="ctr" rtlCol="false" tIns="50800" lIns="50800" bIns="50800" rIns="50800"/>
            <a:lstStyle/>
            <a:p>
              <a:pPr algn="ctr">
                <a:lnSpc>
                  <a:spcPts val="3255"/>
                </a:lnSpc>
              </a:pPr>
            </a:p>
          </p:txBody>
        </p:sp>
      </p:grpSp>
      <p:sp>
        <p:nvSpPr>
          <p:cNvPr name="Freeform 6" id="6"/>
          <p:cNvSpPr/>
          <p:nvPr/>
        </p:nvSpPr>
        <p:spPr>
          <a:xfrm flipH="false" flipV="false" rot="0">
            <a:off x="8148940" y="8745228"/>
            <a:ext cx="1990120" cy="1204264"/>
          </a:xfrm>
          <a:custGeom>
            <a:avLst/>
            <a:gdLst/>
            <a:ahLst/>
            <a:cxnLst/>
            <a:rect r="r" b="b" t="t" l="l"/>
            <a:pathLst>
              <a:path h="1204264" w="1990120">
                <a:moveTo>
                  <a:pt x="0" y="0"/>
                </a:moveTo>
                <a:lnTo>
                  <a:pt x="1990120" y="0"/>
                </a:lnTo>
                <a:lnTo>
                  <a:pt x="1990120" y="1204264"/>
                </a:lnTo>
                <a:lnTo>
                  <a:pt x="0" y="1204264"/>
                </a:lnTo>
                <a:lnTo>
                  <a:pt x="0" y="0"/>
                </a:lnTo>
                <a:close/>
              </a:path>
            </a:pathLst>
          </a:custGeom>
          <a:blipFill>
            <a:blip r:embed="rId3">
              <a:extLst>
                <a:ext uri="{96DAC541-7B7A-43D3-8B79-37D633B846F1}">
                  <asvg:svgBlip xmlns:asvg="http://schemas.microsoft.com/office/drawing/2016/SVG/main" r:embed="rId4"/>
                </a:ext>
              </a:extLst>
            </a:blip>
            <a:stretch>
              <a:fillRect l="0" t="-97320" r="0" b="0"/>
            </a:stretch>
          </a:blipFill>
        </p:spPr>
      </p:sp>
      <p:sp>
        <p:nvSpPr>
          <p:cNvPr name="Freeform 7" id="7"/>
          <p:cNvSpPr/>
          <p:nvPr/>
        </p:nvSpPr>
        <p:spPr>
          <a:xfrm flipH="false" flipV="false" rot="0">
            <a:off x="11336642" y="3000557"/>
            <a:ext cx="6763344" cy="5427584"/>
          </a:xfrm>
          <a:custGeom>
            <a:avLst/>
            <a:gdLst/>
            <a:ahLst/>
            <a:cxnLst/>
            <a:rect r="r" b="b" t="t" l="l"/>
            <a:pathLst>
              <a:path h="5427584" w="6763344">
                <a:moveTo>
                  <a:pt x="0" y="0"/>
                </a:moveTo>
                <a:lnTo>
                  <a:pt x="6763344" y="0"/>
                </a:lnTo>
                <a:lnTo>
                  <a:pt x="6763344" y="5427583"/>
                </a:lnTo>
                <a:lnTo>
                  <a:pt x="0" y="5427583"/>
                </a:lnTo>
                <a:lnTo>
                  <a:pt x="0" y="0"/>
                </a:lnTo>
                <a:close/>
              </a:path>
            </a:pathLst>
          </a:custGeom>
          <a:blipFill>
            <a:blip r:embed="rId5"/>
            <a:stretch>
              <a:fillRect l="0" t="0" r="0" b="0"/>
            </a:stretch>
          </a:blipFill>
        </p:spPr>
      </p:sp>
      <p:sp>
        <p:nvSpPr>
          <p:cNvPr name="TextBox 8" id="8"/>
          <p:cNvSpPr txBox="true"/>
          <p:nvPr/>
        </p:nvSpPr>
        <p:spPr>
          <a:xfrm rot="0">
            <a:off x="0" y="214219"/>
            <a:ext cx="11336642" cy="819150"/>
          </a:xfrm>
          <a:prstGeom prst="rect">
            <a:avLst/>
          </a:prstGeom>
        </p:spPr>
        <p:txBody>
          <a:bodyPr anchor="t" rtlCol="false" tIns="0" lIns="0" bIns="0" rIns="0">
            <a:spAutoFit/>
          </a:bodyPr>
          <a:lstStyle/>
          <a:p>
            <a:pPr algn="l">
              <a:lnSpc>
                <a:spcPts val="6000"/>
              </a:lnSpc>
            </a:pPr>
            <a:r>
              <a:rPr lang="en-US" sz="6000" b="true">
                <a:solidFill>
                  <a:srgbClr val="12354D"/>
                </a:solidFill>
                <a:latin typeface="Glacial Indifference Bold"/>
                <a:ea typeface="Glacial Indifference Bold"/>
                <a:cs typeface="Glacial Indifference Bold"/>
                <a:sym typeface="Glacial Indifference Bold"/>
              </a:rPr>
              <a:t>Step 3.5: Remove Muscle</a:t>
            </a:r>
          </a:p>
        </p:txBody>
      </p:sp>
      <p:sp>
        <p:nvSpPr>
          <p:cNvPr name="Freeform 9" id="9"/>
          <p:cNvSpPr/>
          <p:nvPr/>
        </p:nvSpPr>
        <p:spPr>
          <a:xfrm flipH="false" flipV="false" rot="0">
            <a:off x="279842" y="1585699"/>
            <a:ext cx="552016" cy="552016"/>
          </a:xfrm>
          <a:custGeom>
            <a:avLst/>
            <a:gdLst/>
            <a:ahLst/>
            <a:cxnLst/>
            <a:rect r="r" b="b" t="t" l="l"/>
            <a:pathLst>
              <a:path h="552016" w="552016">
                <a:moveTo>
                  <a:pt x="0" y="0"/>
                </a:moveTo>
                <a:lnTo>
                  <a:pt x="552016" y="0"/>
                </a:lnTo>
                <a:lnTo>
                  <a:pt x="552016" y="552016"/>
                </a:lnTo>
                <a:lnTo>
                  <a:pt x="0" y="5520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982184" y="1442601"/>
            <a:ext cx="2818471" cy="761138"/>
          </a:xfrm>
          <a:prstGeom prst="rect">
            <a:avLst/>
          </a:prstGeom>
        </p:spPr>
        <p:txBody>
          <a:bodyPr anchor="t" rtlCol="false" tIns="0" lIns="0" bIns="0" rIns="0">
            <a:spAutoFit/>
          </a:bodyPr>
          <a:lstStyle/>
          <a:p>
            <a:pPr algn="l">
              <a:lnSpc>
                <a:spcPts val="6153"/>
              </a:lnSpc>
            </a:pPr>
            <a:r>
              <a:rPr lang="en-US" sz="4395" b="true">
                <a:solidFill>
                  <a:srgbClr val="12354D"/>
                </a:solidFill>
                <a:latin typeface="Glacial Indifference Bold"/>
                <a:ea typeface="Glacial Indifference Bold"/>
                <a:cs typeface="Glacial Indifference Bold"/>
                <a:sym typeface="Glacial Indifference Bold"/>
              </a:rPr>
              <a:t>Code</a:t>
            </a:r>
          </a:p>
        </p:txBody>
      </p:sp>
      <p:grpSp>
        <p:nvGrpSpPr>
          <p:cNvPr name="Group 11" id="11"/>
          <p:cNvGrpSpPr/>
          <p:nvPr/>
        </p:nvGrpSpPr>
        <p:grpSpPr>
          <a:xfrm rot="0">
            <a:off x="279842" y="2705427"/>
            <a:ext cx="10230732" cy="1430134"/>
            <a:chOff x="0" y="0"/>
            <a:chExt cx="2145555" cy="299923"/>
          </a:xfrm>
        </p:grpSpPr>
        <p:sp>
          <p:nvSpPr>
            <p:cNvPr name="Freeform 12" id="12"/>
            <p:cNvSpPr/>
            <p:nvPr/>
          </p:nvSpPr>
          <p:spPr>
            <a:xfrm flipH="false" flipV="false" rot="0">
              <a:off x="0" y="0"/>
              <a:ext cx="2145555" cy="299923"/>
            </a:xfrm>
            <a:custGeom>
              <a:avLst/>
              <a:gdLst/>
              <a:ahLst/>
              <a:cxnLst/>
              <a:rect r="r" b="b" t="t" l="l"/>
              <a:pathLst>
                <a:path h="299923" w="2145555">
                  <a:moveTo>
                    <a:pt x="38593" y="0"/>
                  </a:moveTo>
                  <a:lnTo>
                    <a:pt x="2106962" y="0"/>
                  </a:lnTo>
                  <a:cubicBezTo>
                    <a:pt x="2128276" y="0"/>
                    <a:pt x="2145555" y="17279"/>
                    <a:pt x="2145555" y="38593"/>
                  </a:cubicBezTo>
                  <a:lnTo>
                    <a:pt x="2145555" y="261330"/>
                  </a:lnTo>
                  <a:cubicBezTo>
                    <a:pt x="2145555" y="271565"/>
                    <a:pt x="2141489" y="281382"/>
                    <a:pt x="2134251" y="288619"/>
                  </a:cubicBezTo>
                  <a:cubicBezTo>
                    <a:pt x="2127014" y="295857"/>
                    <a:pt x="2117197" y="299923"/>
                    <a:pt x="2106962" y="299923"/>
                  </a:cubicBezTo>
                  <a:lnTo>
                    <a:pt x="38593" y="299923"/>
                  </a:lnTo>
                  <a:cubicBezTo>
                    <a:pt x="28358" y="299923"/>
                    <a:pt x="18541" y="295857"/>
                    <a:pt x="11304" y="288619"/>
                  </a:cubicBezTo>
                  <a:cubicBezTo>
                    <a:pt x="4066" y="281382"/>
                    <a:pt x="0" y="271565"/>
                    <a:pt x="0" y="261330"/>
                  </a:cubicBezTo>
                  <a:lnTo>
                    <a:pt x="0" y="38593"/>
                  </a:lnTo>
                  <a:cubicBezTo>
                    <a:pt x="0" y="28358"/>
                    <a:pt x="4066" y="18541"/>
                    <a:pt x="11304" y="11304"/>
                  </a:cubicBezTo>
                  <a:cubicBezTo>
                    <a:pt x="18541" y="4066"/>
                    <a:pt x="28358" y="0"/>
                    <a:pt x="38593" y="0"/>
                  </a:cubicBezTo>
                  <a:close/>
                </a:path>
              </a:pathLst>
            </a:custGeom>
            <a:gradFill rotWithShape="true">
              <a:gsLst>
                <a:gs pos="0">
                  <a:srgbClr val="004AAD">
                    <a:alpha val="100000"/>
                  </a:srgbClr>
                </a:gs>
                <a:gs pos="100000">
                  <a:srgbClr val="CB6CE6">
                    <a:alpha val="100000"/>
                  </a:srgbClr>
                </a:gs>
              </a:gsLst>
              <a:lin ang="0"/>
            </a:gradFill>
          </p:spPr>
        </p:sp>
        <p:sp>
          <p:nvSpPr>
            <p:cNvPr name="TextBox 13" id="13"/>
            <p:cNvSpPr txBox="true"/>
            <p:nvPr/>
          </p:nvSpPr>
          <p:spPr>
            <a:xfrm>
              <a:off x="0" y="-76200"/>
              <a:ext cx="2145555" cy="376123"/>
            </a:xfrm>
            <a:prstGeom prst="rect">
              <a:avLst/>
            </a:prstGeom>
          </p:spPr>
          <p:txBody>
            <a:bodyPr anchor="ctr" rtlCol="false" tIns="50800" lIns="50800" bIns="50800" rIns="50800"/>
            <a:lstStyle/>
            <a:p>
              <a:pPr algn="ctr">
                <a:lnSpc>
                  <a:spcPts val="4900"/>
                </a:lnSpc>
              </a:pPr>
              <a:r>
                <a:rPr lang="en-US" sz="3500" b="true">
                  <a:solidFill>
                    <a:srgbClr val="FFFFFF"/>
                  </a:solidFill>
                  <a:latin typeface="Glacial Indifference Bold"/>
                  <a:ea typeface="Glacial Indifference Bold"/>
                  <a:cs typeface="Glacial Indifference Bold"/>
                  <a:sym typeface="Glacial Indifference Bold"/>
                </a:rPr>
                <a:t>final_image = cv2.bitwise_and</a:t>
              </a:r>
            </a:p>
            <a:p>
              <a:pPr algn="ctr">
                <a:lnSpc>
                  <a:spcPts val="4900"/>
                </a:lnSpc>
              </a:pPr>
              <a:r>
                <a:rPr lang="en-US" b="true" sz="3500">
                  <a:solidFill>
                    <a:srgbClr val="FFFFFF"/>
                  </a:solidFill>
                  <a:latin typeface="Glacial Indifference Bold"/>
                  <a:ea typeface="Glacial Indifference Bold"/>
                  <a:cs typeface="Glacial Indifference Bold"/>
                  <a:sym typeface="Glacial Indifference Bold"/>
                </a:rPr>
                <a:t>(image, image, mask=~muscle_mask)</a:t>
              </a:r>
            </a:p>
          </p:txBody>
        </p:sp>
      </p:grpSp>
      <p:sp>
        <p:nvSpPr>
          <p:cNvPr name="Freeform 14" id="14"/>
          <p:cNvSpPr/>
          <p:nvPr/>
        </p:nvSpPr>
        <p:spPr>
          <a:xfrm flipH="false" flipV="false" rot="0">
            <a:off x="279842" y="4858740"/>
            <a:ext cx="552016" cy="552016"/>
          </a:xfrm>
          <a:custGeom>
            <a:avLst/>
            <a:gdLst/>
            <a:ahLst/>
            <a:cxnLst/>
            <a:rect r="r" b="b" t="t" l="l"/>
            <a:pathLst>
              <a:path h="552016" w="552016">
                <a:moveTo>
                  <a:pt x="0" y="0"/>
                </a:moveTo>
                <a:lnTo>
                  <a:pt x="552016" y="0"/>
                </a:lnTo>
                <a:lnTo>
                  <a:pt x="552016" y="552016"/>
                </a:lnTo>
                <a:lnTo>
                  <a:pt x="0" y="5520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982184" y="4715642"/>
            <a:ext cx="3581745" cy="761138"/>
          </a:xfrm>
          <a:prstGeom prst="rect">
            <a:avLst/>
          </a:prstGeom>
        </p:spPr>
        <p:txBody>
          <a:bodyPr anchor="t" rtlCol="false" tIns="0" lIns="0" bIns="0" rIns="0">
            <a:spAutoFit/>
          </a:bodyPr>
          <a:lstStyle/>
          <a:p>
            <a:pPr algn="l">
              <a:lnSpc>
                <a:spcPts val="6153"/>
              </a:lnSpc>
            </a:pPr>
            <a:r>
              <a:rPr lang="en-US" sz="4395" b="true">
                <a:solidFill>
                  <a:srgbClr val="12354D"/>
                </a:solidFill>
                <a:latin typeface="Glacial Indifference Bold"/>
                <a:ea typeface="Glacial Indifference Bold"/>
                <a:cs typeface="Glacial Indifference Bold"/>
                <a:sym typeface="Glacial Indifference Bold"/>
              </a:rPr>
              <a:t>Result</a:t>
            </a:r>
          </a:p>
        </p:txBody>
      </p:sp>
      <p:sp>
        <p:nvSpPr>
          <p:cNvPr name="TextBox 16" id="16"/>
          <p:cNvSpPr txBox="true"/>
          <p:nvPr/>
        </p:nvSpPr>
        <p:spPr>
          <a:xfrm rot="0">
            <a:off x="1028700" y="5638148"/>
            <a:ext cx="8331855" cy="1844675"/>
          </a:xfrm>
          <a:prstGeom prst="rect">
            <a:avLst/>
          </a:prstGeom>
        </p:spPr>
        <p:txBody>
          <a:bodyPr anchor="t" rtlCol="false" tIns="0" lIns="0" bIns="0" rIns="0">
            <a:spAutoFit/>
          </a:bodyPr>
          <a:lstStyle/>
          <a:p>
            <a:pPr algn="l">
              <a:lnSpc>
                <a:spcPts val="4900"/>
              </a:lnSpc>
            </a:pPr>
            <a:r>
              <a:rPr lang="en-US" sz="3500">
                <a:solidFill>
                  <a:srgbClr val="12354D"/>
                </a:solidFill>
                <a:latin typeface="Glacial Indifference"/>
                <a:ea typeface="Glacial Indifference"/>
                <a:cs typeface="Glacial Indifference"/>
                <a:sym typeface="Glacial Indifference"/>
              </a:rPr>
              <a:t>The pectoral muscle is successfully removed while preserving the breast tissue for further analysis.</a:t>
            </a:r>
          </a:p>
        </p:txBody>
      </p:sp>
    </p:spTree>
  </p:cSld>
  <p:clrMapOvr>
    <a:masterClrMapping/>
  </p:clrMapOvr>
  <p:transition spd="slow">
    <p:push dir="u"/>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03352" y="-514350"/>
            <a:ext cx="11597119" cy="11316371"/>
            <a:chOff x="0" y="0"/>
            <a:chExt cx="3054385" cy="2980443"/>
          </a:xfrm>
        </p:grpSpPr>
        <p:sp>
          <p:nvSpPr>
            <p:cNvPr name="Freeform 4" id="4"/>
            <p:cNvSpPr/>
            <p:nvPr/>
          </p:nvSpPr>
          <p:spPr>
            <a:xfrm flipH="false" flipV="false" rot="0">
              <a:off x="0" y="0"/>
              <a:ext cx="3054385" cy="2980443"/>
            </a:xfrm>
            <a:custGeom>
              <a:avLst/>
              <a:gdLst/>
              <a:ahLst/>
              <a:cxnLst/>
              <a:rect r="r" b="b" t="t" l="l"/>
              <a:pathLst>
                <a:path h="2980443" w="3054385">
                  <a:moveTo>
                    <a:pt x="0" y="0"/>
                  </a:moveTo>
                  <a:lnTo>
                    <a:pt x="3054385" y="0"/>
                  </a:lnTo>
                  <a:lnTo>
                    <a:pt x="3054385" y="2980443"/>
                  </a:lnTo>
                  <a:lnTo>
                    <a:pt x="0" y="2980443"/>
                  </a:lnTo>
                  <a:close/>
                </a:path>
              </a:pathLst>
            </a:custGeom>
            <a:solidFill>
              <a:srgbClr val="FFFFFF"/>
            </a:solidFill>
          </p:spPr>
        </p:sp>
        <p:sp>
          <p:nvSpPr>
            <p:cNvPr name="TextBox 5" id="5"/>
            <p:cNvSpPr txBox="true"/>
            <p:nvPr/>
          </p:nvSpPr>
          <p:spPr>
            <a:xfrm>
              <a:off x="0" y="-47625"/>
              <a:ext cx="3054385" cy="3028068"/>
            </a:xfrm>
            <a:prstGeom prst="rect">
              <a:avLst/>
            </a:prstGeom>
          </p:spPr>
          <p:txBody>
            <a:bodyPr anchor="ctr" rtlCol="false" tIns="50800" lIns="50800" bIns="50800" rIns="50800"/>
            <a:lstStyle/>
            <a:p>
              <a:pPr algn="ctr">
                <a:lnSpc>
                  <a:spcPts val="3255"/>
                </a:lnSpc>
              </a:pPr>
            </a:p>
          </p:txBody>
        </p:sp>
      </p:grpSp>
      <p:sp>
        <p:nvSpPr>
          <p:cNvPr name="Freeform 6" id="6"/>
          <p:cNvSpPr/>
          <p:nvPr/>
        </p:nvSpPr>
        <p:spPr>
          <a:xfrm flipH="false" flipV="false" rot="0">
            <a:off x="202590" y="1587393"/>
            <a:ext cx="552016" cy="552016"/>
          </a:xfrm>
          <a:custGeom>
            <a:avLst/>
            <a:gdLst/>
            <a:ahLst/>
            <a:cxnLst/>
            <a:rect r="r" b="b" t="t" l="l"/>
            <a:pathLst>
              <a:path h="552016" w="552016">
                <a:moveTo>
                  <a:pt x="0" y="0"/>
                </a:moveTo>
                <a:lnTo>
                  <a:pt x="552016" y="0"/>
                </a:lnTo>
                <a:lnTo>
                  <a:pt x="552016" y="552016"/>
                </a:lnTo>
                <a:lnTo>
                  <a:pt x="0" y="5520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821869" y="8967746"/>
            <a:ext cx="1990120" cy="1204264"/>
          </a:xfrm>
          <a:custGeom>
            <a:avLst/>
            <a:gdLst/>
            <a:ahLst/>
            <a:cxnLst/>
            <a:rect r="r" b="b" t="t" l="l"/>
            <a:pathLst>
              <a:path h="1204264" w="1990120">
                <a:moveTo>
                  <a:pt x="0" y="0"/>
                </a:moveTo>
                <a:lnTo>
                  <a:pt x="1990120" y="0"/>
                </a:lnTo>
                <a:lnTo>
                  <a:pt x="1990120" y="1204264"/>
                </a:lnTo>
                <a:lnTo>
                  <a:pt x="0" y="1204264"/>
                </a:lnTo>
                <a:lnTo>
                  <a:pt x="0" y="0"/>
                </a:lnTo>
                <a:close/>
              </a:path>
            </a:pathLst>
          </a:custGeom>
          <a:blipFill>
            <a:blip r:embed="rId5">
              <a:extLst>
                <a:ext uri="{96DAC541-7B7A-43D3-8B79-37D633B846F1}">
                  <asvg:svgBlip xmlns:asvg="http://schemas.microsoft.com/office/drawing/2016/SVG/main" r:embed="rId6"/>
                </a:ext>
              </a:extLst>
            </a:blip>
            <a:stretch>
              <a:fillRect l="0" t="-97320" r="0" b="0"/>
            </a:stretch>
          </a:blipFill>
        </p:spPr>
      </p:sp>
      <p:sp>
        <p:nvSpPr>
          <p:cNvPr name="Freeform 8" id="8"/>
          <p:cNvSpPr/>
          <p:nvPr/>
        </p:nvSpPr>
        <p:spPr>
          <a:xfrm flipH="false" flipV="false" rot="0">
            <a:off x="11336642" y="3000557"/>
            <a:ext cx="6763344" cy="5427584"/>
          </a:xfrm>
          <a:custGeom>
            <a:avLst/>
            <a:gdLst/>
            <a:ahLst/>
            <a:cxnLst/>
            <a:rect r="r" b="b" t="t" l="l"/>
            <a:pathLst>
              <a:path h="5427584" w="6763344">
                <a:moveTo>
                  <a:pt x="0" y="0"/>
                </a:moveTo>
                <a:lnTo>
                  <a:pt x="6763344" y="0"/>
                </a:lnTo>
                <a:lnTo>
                  <a:pt x="6763344" y="5427583"/>
                </a:lnTo>
                <a:lnTo>
                  <a:pt x="0" y="5427583"/>
                </a:lnTo>
                <a:lnTo>
                  <a:pt x="0" y="0"/>
                </a:lnTo>
                <a:close/>
              </a:path>
            </a:pathLst>
          </a:custGeom>
          <a:blipFill>
            <a:blip r:embed="rId7"/>
            <a:stretch>
              <a:fillRect l="0" t="0" r="0" b="0"/>
            </a:stretch>
          </a:blipFill>
        </p:spPr>
      </p:sp>
      <p:sp>
        <p:nvSpPr>
          <p:cNvPr name="TextBox 9" id="9"/>
          <p:cNvSpPr txBox="true"/>
          <p:nvPr/>
        </p:nvSpPr>
        <p:spPr>
          <a:xfrm rot="0">
            <a:off x="0" y="204694"/>
            <a:ext cx="11336642" cy="669925"/>
          </a:xfrm>
          <a:prstGeom prst="rect">
            <a:avLst/>
          </a:prstGeom>
        </p:spPr>
        <p:txBody>
          <a:bodyPr anchor="t" rtlCol="false" tIns="0" lIns="0" bIns="0" rIns="0">
            <a:spAutoFit/>
          </a:bodyPr>
          <a:lstStyle/>
          <a:p>
            <a:pPr algn="l">
              <a:lnSpc>
                <a:spcPts val="5000"/>
              </a:lnSpc>
            </a:pPr>
            <a:r>
              <a:rPr lang="en-US" sz="5000" b="true">
                <a:solidFill>
                  <a:srgbClr val="12354D"/>
                </a:solidFill>
                <a:latin typeface="Glacial Indifference Bold"/>
                <a:ea typeface="Glacial Indifference Bold"/>
                <a:cs typeface="Glacial Indifference Bold"/>
                <a:sym typeface="Glacial Indifference Bold"/>
              </a:rPr>
              <a:t>Step 3.6: ROI Cropping &amp; Resizing</a:t>
            </a:r>
          </a:p>
        </p:txBody>
      </p:sp>
      <p:sp>
        <p:nvSpPr>
          <p:cNvPr name="TextBox 10" id="10"/>
          <p:cNvSpPr txBox="true"/>
          <p:nvPr/>
        </p:nvSpPr>
        <p:spPr>
          <a:xfrm rot="0">
            <a:off x="1030614" y="2245386"/>
            <a:ext cx="8331855" cy="1385646"/>
          </a:xfrm>
          <a:prstGeom prst="rect">
            <a:avLst/>
          </a:prstGeom>
        </p:spPr>
        <p:txBody>
          <a:bodyPr anchor="t" rtlCol="false" tIns="0" lIns="0" bIns="0" rIns="0">
            <a:spAutoFit/>
          </a:bodyPr>
          <a:lstStyle/>
          <a:p>
            <a:pPr algn="l" marL="867648" indent="-433824" lvl="1">
              <a:lnSpc>
                <a:spcPts val="5626"/>
              </a:lnSpc>
              <a:buFont typeface="Arial"/>
              <a:buChar char="•"/>
            </a:pPr>
            <a:r>
              <a:rPr lang="en-US" sz="4018">
                <a:solidFill>
                  <a:srgbClr val="12354D"/>
                </a:solidFill>
                <a:latin typeface="Glacial Indifference"/>
                <a:ea typeface="Glacial Indifference"/>
                <a:cs typeface="Glacial Indifference"/>
                <a:sym typeface="Glacial Indifference"/>
              </a:rPr>
              <a:t>Keep only useful breast tissue</a:t>
            </a:r>
          </a:p>
          <a:p>
            <a:pPr algn="l" marL="867648" indent="-433824" lvl="1">
              <a:lnSpc>
                <a:spcPts val="5626"/>
              </a:lnSpc>
              <a:buFont typeface="Arial"/>
              <a:buChar char="•"/>
            </a:pPr>
            <a:r>
              <a:rPr lang="en-US" sz="4018">
                <a:solidFill>
                  <a:srgbClr val="12354D"/>
                </a:solidFill>
                <a:latin typeface="Glacial Indifference"/>
                <a:ea typeface="Glacial Indifference"/>
                <a:cs typeface="Glacial Indifference"/>
                <a:sym typeface="Glacial Indifference"/>
              </a:rPr>
              <a:t>Standardize image size</a:t>
            </a:r>
          </a:p>
        </p:txBody>
      </p:sp>
      <p:sp>
        <p:nvSpPr>
          <p:cNvPr name="TextBox 11" id="11"/>
          <p:cNvSpPr txBox="true"/>
          <p:nvPr/>
        </p:nvSpPr>
        <p:spPr>
          <a:xfrm rot="0">
            <a:off x="904932" y="1444295"/>
            <a:ext cx="2818471" cy="761138"/>
          </a:xfrm>
          <a:prstGeom prst="rect">
            <a:avLst/>
          </a:prstGeom>
        </p:spPr>
        <p:txBody>
          <a:bodyPr anchor="t" rtlCol="false" tIns="0" lIns="0" bIns="0" rIns="0">
            <a:spAutoFit/>
          </a:bodyPr>
          <a:lstStyle/>
          <a:p>
            <a:pPr algn="l">
              <a:lnSpc>
                <a:spcPts val="6153"/>
              </a:lnSpc>
            </a:pPr>
            <a:r>
              <a:rPr lang="en-US" sz="4395" b="true">
                <a:solidFill>
                  <a:srgbClr val="12354D"/>
                </a:solidFill>
                <a:latin typeface="Glacial Indifference Bold"/>
                <a:ea typeface="Glacial Indifference Bold"/>
                <a:cs typeface="Glacial Indifference Bold"/>
                <a:sym typeface="Glacial Indifference Bold"/>
              </a:rPr>
              <a:t>Objective</a:t>
            </a:r>
          </a:p>
        </p:txBody>
      </p:sp>
      <p:sp>
        <p:nvSpPr>
          <p:cNvPr name="Freeform 12" id="12"/>
          <p:cNvSpPr/>
          <p:nvPr/>
        </p:nvSpPr>
        <p:spPr>
          <a:xfrm flipH="false" flipV="false" rot="0">
            <a:off x="290629" y="4086523"/>
            <a:ext cx="552016" cy="552016"/>
          </a:xfrm>
          <a:custGeom>
            <a:avLst/>
            <a:gdLst/>
            <a:ahLst/>
            <a:cxnLst/>
            <a:rect r="r" b="b" t="t" l="l"/>
            <a:pathLst>
              <a:path h="552016" w="552016">
                <a:moveTo>
                  <a:pt x="0" y="0"/>
                </a:moveTo>
                <a:lnTo>
                  <a:pt x="552016" y="0"/>
                </a:lnTo>
                <a:lnTo>
                  <a:pt x="552016" y="552016"/>
                </a:lnTo>
                <a:lnTo>
                  <a:pt x="0" y="5520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992971" y="3943425"/>
            <a:ext cx="2818471" cy="761138"/>
          </a:xfrm>
          <a:prstGeom prst="rect">
            <a:avLst/>
          </a:prstGeom>
        </p:spPr>
        <p:txBody>
          <a:bodyPr anchor="t" rtlCol="false" tIns="0" lIns="0" bIns="0" rIns="0">
            <a:spAutoFit/>
          </a:bodyPr>
          <a:lstStyle/>
          <a:p>
            <a:pPr algn="l">
              <a:lnSpc>
                <a:spcPts val="6153"/>
              </a:lnSpc>
            </a:pPr>
            <a:r>
              <a:rPr lang="en-US" sz="4395" b="true">
                <a:solidFill>
                  <a:srgbClr val="12354D"/>
                </a:solidFill>
                <a:latin typeface="Glacial Indifference Bold"/>
                <a:ea typeface="Glacial Indifference Bold"/>
                <a:cs typeface="Glacial Indifference Bold"/>
                <a:sym typeface="Glacial Indifference Bold"/>
              </a:rPr>
              <a:t>Code</a:t>
            </a:r>
          </a:p>
        </p:txBody>
      </p:sp>
      <p:grpSp>
        <p:nvGrpSpPr>
          <p:cNvPr name="Group 14" id="14"/>
          <p:cNvGrpSpPr/>
          <p:nvPr/>
        </p:nvGrpSpPr>
        <p:grpSpPr>
          <a:xfrm rot="0">
            <a:off x="1767414" y="4818862"/>
            <a:ext cx="7595056" cy="1832695"/>
            <a:chOff x="0" y="0"/>
            <a:chExt cx="1592810" cy="384347"/>
          </a:xfrm>
        </p:grpSpPr>
        <p:sp>
          <p:nvSpPr>
            <p:cNvPr name="Freeform 15" id="15"/>
            <p:cNvSpPr/>
            <p:nvPr/>
          </p:nvSpPr>
          <p:spPr>
            <a:xfrm flipH="false" flipV="false" rot="0">
              <a:off x="0" y="0"/>
              <a:ext cx="1592810" cy="384347"/>
            </a:xfrm>
            <a:custGeom>
              <a:avLst/>
              <a:gdLst/>
              <a:ahLst/>
              <a:cxnLst/>
              <a:rect r="r" b="b" t="t" l="l"/>
              <a:pathLst>
                <a:path h="384347" w="1592810">
                  <a:moveTo>
                    <a:pt x="51986" y="0"/>
                  </a:moveTo>
                  <a:lnTo>
                    <a:pt x="1540824" y="0"/>
                  </a:lnTo>
                  <a:cubicBezTo>
                    <a:pt x="1569535" y="0"/>
                    <a:pt x="1592810" y="23275"/>
                    <a:pt x="1592810" y="51986"/>
                  </a:cubicBezTo>
                  <a:lnTo>
                    <a:pt x="1592810" y="332360"/>
                  </a:lnTo>
                  <a:cubicBezTo>
                    <a:pt x="1592810" y="346148"/>
                    <a:pt x="1587333" y="359371"/>
                    <a:pt x="1577583" y="369120"/>
                  </a:cubicBezTo>
                  <a:cubicBezTo>
                    <a:pt x="1567834" y="378870"/>
                    <a:pt x="1554611" y="384347"/>
                    <a:pt x="1540824" y="384347"/>
                  </a:cubicBezTo>
                  <a:lnTo>
                    <a:pt x="51986" y="384347"/>
                  </a:lnTo>
                  <a:cubicBezTo>
                    <a:pt x="23275" y="384347"/>
                    <a:pt x="0" y="361072"/>
                    <a:pt x="0" y="332360"/>
                  </a:cubicBezTo>
                  <a:lnTo>
                    <a:pt x="0" y="51986"/>
                  </a:lnTo>
                  <a:cubicBezTo>
                    <a:pt x="0" y="23275"/>
                    <a:pt x="23275" y="0"/>
                    <a:pt x="51986" y="0"/>
                  </a:cubicBezTo>
                  <a:close/>
                </a:path>
              </a:pathLst>
            </a:custGeom>
            <a:gradFill rotWithShape="true">
              <a:gsLst>
                <a:gs pos="0">
                  <a:srgbClr val="004AAD">
                    <a:alpha val="100000"/>
                  </a:srgbClr>
                </a:gs>
                <a:gs pos="100000">
                  <a:srgbClr val="CB6CE6">
                    <a:alpha val="100000"/>
                  </a:srgbClr>
                </a:gs>
              </a:gsLst>
              <a:lin ang="0"/>
            </a:gradFill>
          </p:spPr>
        </p:sp>
        <p:sp>
          <p:nvSpPr>
            <p:cNvPr name="TextBox 16" id="16"/>
            <p:cNvSpPr txBox="true"/>
            <p:nvPr/>
          </p:nvSpPr>
          <p:spPr>
            <a:xfrm>
              <a:off x="0" y="-85725"/>
              <a:ext cx="1592810" cy="470072"/>
            </a:xfrm>
            <a:prstGeom prst="rect">
              <a:avLst/>
            </a:prstGeom>
          </p:spPr>
          <p:txBody>
            <a:bodyPr anchor="ctr" rtlCol="false" tIns="50800" lIns="50800" bIns="50800" rIns="50800"/>
            <a:lstStyle/>
            <a:p>
              <a:pPr algn="ctr">
                <a:lnSpc>
                  <a:spcPts val="5599"/>
                </a:lnSpc>
              </a:pPr>
              <a:r>
                <a:rPr lang="en-US" sz="3999" b="true">
                  <a:solidFill>
                    <a:srgbClr val="FFFFFF"/>
                  </a:solidFill>
                  <a:latin typeface="Glacial Indifference Bold"/>
                  <a:ea typeface="Glacial Indifference Bold"/>
                  <a:cs typeface="Glacial Indifference Bold"/>
                  <a:sym typeface="Glacial Indifference Bold"/>
                </a:rPr>
                <a:t>roi = image[y:y+h, x:x+w]</a:t>
              </a:r>
            </a:p>
            <a:p>
              <a:pPr algn="ctr">
                <a:lnSpc>
                  <a:spcPts val="5599"/>
                </a:lnSpc>
              </a:pPr>
              <a:r>
                <a:rPr lang="en-US" b="true" sz="3999">
                  <a:solidFill>
                    <a:srgbClr val="FFFFFF"/>
                  </a:solidFill>
                  <a:latin typeface="Glacial Indifference Bold"/>
                  <a:ea typeface="Glacial Indifference Bold"/>
                  <a:cs typeface="Glacial Indifference Bold"/>
                  <a:sym typeface="Glacial Indifference Bold"/>
                </a:rPr>
                <a:t>resized = resize(roi, (512, 512))</a:t>
              </a:r>
            </a:p>
          </p:txBody>
        </p:sp>
      </p:grpSp>
    </p:spTree>
  </p:cSld>
  <p:clrMapOvr>
    <a:masterClrMapping/>
  </p:clrMapOvr>
  <p:transition spd="slow">
    <p:push dir="u"/>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grpSp>
        <p:nvGrpSpPr>
          <p:cNvPr name="Group 3" id="3"/>
          <p:cNvGrpSpPr/>
          <p:nvPr/>
        </p:nvGrpSpPr>
        <p:grpSpPr>
          <a:xfrm rot="0">
            <a:off x="7658821" y="-514350"/>
            <a:ext cx="10947246" cy="11316371"/>
            <a:chOff x="0" y="0"/>
            <a:chExt cx="2883225" cy="2980443"/>
          </a:xfrm>
        </p:grpSpPr>
        <p:sp>
          <p:nvSpPr>
            <p:cNvPr name="Freeform 4" id="4"/>
            <p:cNvSpPr/>
            <p:nvPr/>
          </p:nvSpPr>
          <p:spPr>
            <a:xfrm flipH="false" flipV="false" rot="0">
              <a:off x="0" y="0"/>
              <a:ext cx="2883225" cy="2980443"/>
            </a:xfrm>
            <a:custGeom>
              <a:avLst/>
              <a:gdLst/>
              <a:ahLst/>
              <a:cxnLst/>
              <a:rect r="r" b="b" t="t" l="l"/>
              <a:pathLst>
                <a:path h="2980443" w="2883225">
                  <a:moveTo>
                    <a:pt x="0" y="0"/>
                  </a:moveTo>
                  <a:lnTo>
                    <a:pt x="2883225" y="0"/>
                  </a:lnTo>
                  <a:lnTo>
                    <a:pt x="2883225" y="2980443"/>
                  </a:lnTo>
                  <a:lnTo>
                    <a:pt x="0" y="2980443"/>
                  </a:lnTo>
                  <a:close/>
                </a:path>
              </a:pathLst>
            </a:custGeom>
            <a:solidFill>
              <a:srgbClr val="FFFFFF"/>
            </a:solidFill>
          </p:spPr>
        </p:sp>
        <p:sp>
          <p:nvSpPr>
            <p:cNvPr name="TextBox 5" id="5"/>
            <p:cNvSpPr txBox="true"/>
            <p:nvPr/>
          </p:nvSpPr>
          <p:spPr>
            <a:xfrm>
              <a:off x="0" y="-47625"/>
              <a:ext cx="2883225" cy="3028068"/>
            </a:xfrm>
            <a:prstGeom prst="rect">
              <a:avLst/>
            </a:prstGeom>
          </p:spPr>
          <p:txBody>
            <a:bodyPr anchor="ctr" rtlCol="false" tIns="50800" lIns="50800" bIns="50800" rIns="50800"/>
            <a:lstStyle/>
            <a:p>
              <a:pPr algn="ctr">
                <a:lnSpc>
                  <a:spcPts val="3255"/>
                </a:lnSpc>
              </a:pPr>
            </a:p>
          </p:txBody>
        </p:sp>
      </p:grpSp>
      <p:sp>
        <p:nvSpPr>
          <p:cNvPr name="Freeform 6" id="6"/>
          <p:cNvSpPr/>
          <p:nvPr/>
        </p:nvSpPr>
        <p:spPr>
          <a:xfrm flipH="false" flipV="false" rot="0">
            <a:off x="7658821" y="8994323"/>
            <a:ext cx="1485179" cy="898714"/>
          </a:xfrm>
          <a:custGeom>
            <a:avLst/>
            <a:gdLst/>
            <a:ahLst/>
            <a:cxnLst/>
            <a:rect r="r" b="b" t="t" l="l"/>
            <a:pathLst>
              <a:path h="898714" w="1485179">
                <a:moveTo>
                  <a:pt x="0" y="0"/>
                </a:moveTo>
                <a:lnTo>
                  <a:pt x="1485179" y="0"/>
                </a:lnTo>
                <a:lnTo>
                  <a:pt x="1485179" y="898714"/>
                </a:lnTo>
                <a:lnTo>
                  <a:pt x="0" y="898714"/>
                </a:lnTo>
                <a:lnTo>
                  <a:pt x="0" y="0"/>
                </a:lnTo>
                <a:close/>
              </a:path>
            </a:pathLst>
          </a:custGeom>
          <a:blipFill>
            <a:blip r:embed="rId3">
              <a:extLst>
                <a:ext uri="{96DAC541-7B7A-43D3-8B79-37D633B846F1}">
                  <asvg:svgBlip xmlns:asvg="http://schemas.microsoft.com/office/drawing/2016/SVG/main" r:embed="rId4"/>
                </a:ext>
              </a:extLst>
            </a:blip>
            <a:stretch>
              <a:fillRect l="0" t="-97320" r="0" b="0"/>
            </a:stretch>
          </a:blipFill>
        </p:spPr>
      </p:sp>
      <p:sp>
        <p:nvSpPr>
          <p:cNvPr name="Freeform 7" id="7"/>
          <p:cNvSpPr/>
          <p:nvPr/>
        </p:nvSpPr>
        <p:spPr>
          <a:xfrm flipH="false" flipV="false" rot="0">
            <a:off x="16681085" y="395801"/>
            <a:ext cx="1428797" cy="864596"/>
          </a:xfrm>
          <a:custGeom>
            <a:avLst/>
            <a:gdLst/>
            <a:ahLst/>
            <a:cxnLst/>
            <a:rect r="r" b="b" t="t" l="l"/>
            <a:pathLst>
              <a:path h="864596" w="1428797">
                <a:moveTo>
                  <a:pt x="0" y="0"/>
                </a:moveTo>
                <a:lnTo>
                  <a:pt x="1428797" y="0"/>
                </a:lnTo>
                <a:lnTo>
                  <a:pt x="1428797" y="864596"/>
                </a:lnTo>
                <a:lnTo>
                  <a:pt x="0" y="864596"/>
                </a:lnTo>
                <a:lnTo>
                  <a:pt x="0" y="0"/>
                </a:lnTo>
                <a:close/>
              </a:path>
            </a:pathLst>
          </a:custGeom>
          <a:blipFill>
            <a:blip r:embed="rId3">
              <a:extLst>
                <a:ext uri="{96DAC541-7B7A-43D3-8B79-37D633B846F1}">
                  <asvg:svgBlip xmlns:asvg="http://schemas.microsoft.com/office/drawing/2016/SVG/main" r:embed="rId4"/>
                </a:ext>
              </a:extLst>
            </a:blip>
            <a:stretch>
              <a:fillRect l="0" t="-97320" r="0" b="0"/>
            </a:stretch>
          </a:blipFill>
        </p:spPr>
      </p:sp>
      <p:sp>
        <p:nvSpPr>
          <p:cNvPr name="Freeform 8" id="8"/>
          <p:cNvSpPr/>
          <p:nvPr/>
        </p:nvSpPr>
        <p:spPr>
          <a:xfrm flipH="false" flipV="false" rot="0">
            <a:off x="1119871" y="2543028"/>
            <a:ext cx="5664174" cy="5839355"/>
          </a:xfrm>
          <a:custGeom>
            <a:avLst/>
            <a:gdLst/>
            <a:ahLst/>
            <a:cxnLst/>
            <a:rect r="r" b="b" t="t" l="l"/>
            <a:pathLst>
              <a:path h="5839355" w="5664174">
                <a:moveTo>
                  <a:pt x="0" y="0"/>
                </a:moveTo>
                <a:lnTo>
                  <a:pt x="5664174" y="0"/>
                </a:lnTo>
                <a:lnTo>
                  <a:pt x="5664174" y="5839355"/>
                </a:lnTo>
                <a:lnTo>
                  <a:pt x="0" y="58393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8028366" y="260000"/>
            <a:ext cx="6764816" cy="1317172"/>
          </a:xfrm>
          <a:prstGeom prst="rect">
            <a:avLst/>
          </a:prstGeom>
        </p:spPr>
        <p:txBody>
          <a:bodyPr anchor="t" rtlCol="false" tIns="0" lIns="0" bIns="0" rIns="0">
            <a:spAutoFit/>
          </a:bodyPr>
          <a:lstStyle/>
          <a:p>
            <a:pPr algn="l">
              <a:lnSpc>
                <a:spcPts val="9857"/>
              </a:lnSpc>
            </a:pPr>
            <a:r>
              <a:rPr lang="en-US" sz="9857" b="true">
                <a:solidFill>
                  <a:srgbClr val="12354D"/>
                </a:solidFill>
                <a:latin typeface="Glacial Indifference Bold"/>
                <a:ea typeface="Glacial Indifference Bold"/>
                <a:cs typeface="Glacial Indifference Bold"/>
                <a:sym typeface="Glacial Indifference Bold"/>
              </a:rPr>
              <a:t>Final Result</a:t>
            </a:r>
          </a:p>
        </p:txBody>
      </p:sp>
      <p:sp>
        <p:nvSpPr>
          <p:cNvPr name="TextBox 10" id="10"/>
          <p:cNvSpPr txBox="true"/>
          <p:nvPr/>
        </p:nvSpPr>
        <p:spPr>
          <a:xfrm rot="0">
            <a:off x="8028366" y="2457303"/>
            <a:ext cx="3382408" cy="688975"/>
          </a:xfrm>
          <a:prstGeom prst="rect">
            <a:avLst/>
          </a:prstGeom>
        </p:spPr>
        <p:txBody>
          <a:bodyPr anchor="t" rtlCol="false" tIns="0" lIns="0" bIns="0" rIns="0">
            <a:spAutoFit/>
          </a:bodyPr>
          <a:lstStyle/>
          <a:p>
            <a:pPr algn="l">
              <a:lnSpc>
                <a:spcPts val="5599"/>
              </a:lnSpc>
            </a:pPr>
            <a:r>
              <a:rPr lang="en-US" sz="3999" b="true">
                <a:solidFill>
                  <a:srgbClr val="12354D"/>
                </a:solidFill>
                <a:latin typeface="Glacial Indifference Bold"/>
                <a:ea typeface="Glacial Indifference Bold"/>
                <a:cs typeface="Glacial Indifference Bold"/>
                <a:sym typeface="Glacial Indifference Bold"/>
              </a:rPr>
              <a:t>Final Output</a:t>
            </a:r>
          </a:p>
        </p:txBody>
      </p:sp>
      <p:sp>
        <p:nvSpPr>
          <p:cNvPr name="TextBox 11" id="11"/>
          <p:cNvSpPr txBox="true"/>
          <p:nvPr/>
        </p:nvSpPr>
        <p:spPr>
          <a:xfrm rot="0">
            <a:off x="8534645" y="3564273"/>
            <a:ext cx="9195598" cy="3082925"/>
          </a:xfrm>
          <a:prstGeom prst="rect">
            <a:avLst/>
          </a:prstGeom>
        </p:spPr>
        <p:txBody>
          <a:bodyPr anchor="t" rtlCol="false" tIns="0" lIns="0" bIns="0" rIns="0">
            <a:spAutoFit/>
          </a:bodyPr>
          <a:lstStyle/>
          <a:p>
            <a:pPr algn="l">
              <a:lnSpc>
                <a:spcPts val="4900"/>
              </a:lnSpc>
            </a:pPr>
            <a:r>
              <a:rPr lang="en-US" sz="3500">
                <a:solidFill>
                  <a:srgbClr val="12354D"/>
                </a:solidFill>
                <a:latin typeface="Glacial Indifference"/>
                <a:ea typeface="Glacial Indifference"/>
                <a:cs typeface="Glacial Indifference"/>
                <a:sym typeface="Glacial Indifference"/>
              </a:rPr>
              <a:t>After preprocessing, the images are free from noise, background, artifacts, and the pectoral muscle. All images are standardized to the same size and are ready for feature extraction and use in AI-based models.</a:t>
            </a:r>
          </a:p>
        </p:txBody>
      </p:sp>
    </p:spTree>
  </p:cSld>
  <p:clrMapOvr>
    <a:masterClrMapping/>
  </p:clrMapOvr>
  <p:transition spd="slow">
    <p:push dir="l"/>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32285" y="-369196"/>
            <a:ext cx="19181330" cy="1397896"/>
            <a:chOff x="0" y="0"/>
            <a:chExt cx="5051873" cy="368170"/>
          </a:xfrm>
        </p:grpSpPr>
        <p:sp>
          <p:nvSpPr>
            <p:cNvPr name="Freeform 4" id="4"/>
            <p:cNvSpPr/>
            <p:nvPr/>
          </p:nvSpPr>
          <p:spPr>
            <a:xfrm flipH="false" flipV="false" rot="0">
              <a:off x="0" y="0"/>
              <a:ext cx="5051873" cy="368170"/>
            </a:xfrm>
            <a:custGeom>
              <a:avLst/>
              <a:gdLst/>
              <a:ahLst/>
              <a:cxnLst/>
              <a:rect r="r" b="b" t="t" l="l"/>
              <a:pathLst>
                <a:path h="368170" w="5051873">
                  <a:moveTo>
                    <a:pt x="0" y="0"/>
                  </a:moveTo>
                  <a:lnTo>
                    <a:pt x="5051873" y="0"/>
                  </a:lnTo>
                  <a:lnTo>
                    <a:pt x="5051873" y="368170"/>
                  </a:lnTo>
                  <a:lnTo>
                    <a:pt x="0" y="368170"/>
                  </a:lnTo>
                  <a:close/>
                </a:path>
              </a:pathLst>
            </a:custGeom>
            <a:solidFill>
              <a:srgbClr val="FFFFFF"/>
            </a:solidFill>
          </p:spPr>
        </p:sp>
        <p:sp>
          <p:nvSpPr>
            <p:cNvPr name="TextBox 5" id="5"/>
            <p:cNvSpPr txBox="true"/>
            <p:nvPr/>
          </p:nvSpPr>
          <p:spPr>
            <a:xfrm>
              <a:off x="0" y="-47625"/>
              <a:ext cx="5051873" cy="415795"/>
            </a:xfrm>
            <a:prstGeom prst="rect">
              <a:avLst/>
            </a:prstGeom>
          </p:spPr>
          <p:txBody>
            <a:bodyPr anchor="ctr" rtlCol="false" tIns="50800" lIns="50800" bIns="50800" rIns="50800"/>
            <a:lstStyle/>
            <a:p>
              <a:pPr algn="ctr">
                <a:lnSpc>
                  <a:spcPts val="3255"/>
                </a:lnSpc>
              </a:pPr>
            </a:p>
          </p:txBody>
        </p:sp>
      </p:grpSp>
      <p:sp>
        <p:nvSpPr>
          <p:cNvPr name="Freeform 6" id="6"/>
          <p:cNvSpPr/>
          <p:nvPr/>
        </p:nvSpPr>
        <p:spPr>
          <a:xfrm flipH="false" flipV="false" rot="0">
            <a:off x="118131" y="1551240"/>
            <a:ext cx="910569" cy="910569"/>
          </a:xfrm>
          <a:custGeom>
            <a:avLst/>
            <a:gdLst/>
            <a:ahLst/>
            <a:cxnLst/>
            <a:rect r="r" b="b" t="t" l="l"/>
            <a:pathLst>
              <a:path h="910569" w="910569">
                <a:moveTo>
                  <a:pt x="0" y="0"/>
                </a:moveTo>
                <a:lnTo>
                  <a:pt x="910569" y="0"/>
                </a:lnTo>
                <a:lnTo>
                  <a:pt x="910569" y="910569"/>
                </a:lnTo>
                <a:lnTo>
                  <a:pt x="0" y="9105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312875" y="1123369"/>
            <a:ext cx="8909891" cy="1585335"/>
          </a:xfrm>
          <a:prstGeom prst="rect">
            <a:avLst/>
          </a:prstGeom>
        </p:spPr>
        <p:txBody>
          <a:bodyPr anchor="t" rtlCol="false" tIns="0" lIns="0" bIns="0" rIns="0">
            <a:spAutoFit/>
          </a:bodyPr>
          <a:lstStyle/>
          <a:p>
            <a:pPr algn="l">
              <a:lnSpc>
                <a:spcPts val="13042"/>
              </a:lnSpc>
              <a:spcBef>
                <a:spcPct val="0"/>
              </a:spcBef>
            </a:pPr>
            <a:r>
              <a:rPr lang="en-US" sz="9316" b="true">
                <a:solidFill>
                  <a:srgbClr val="FFFFFF"/>
                </a:solidFill>
                <a:latin typeface="Glacial Indifference Bold"/>
                <a:ea typeface="Glacial Indifference Bold"/>
                <a:cs typeface="Glacial Indifference Bold"/>
                <a:sym typeface="Glacial Indifference Bold"/>
              </a:rPr>
              <a:t>Summary</a:t>
            </a:r>
          </a:p>
        </p:txBody>
      </p:sp>
      <p:sp>
        <p:nvSpPr>
          <p:cNvPr name="TextBox 8" id="8"/>
          <p:cNvSpPr txBox="true"/>
          <p:nvPr/>
        </p:nvSpPr>
        <p:spPr>
          <a:xfrm rot="0">
            <a:off x="758580" y="2622980"/>
            <a:ext cx="17090503" cy="7745753"/>
          </a:xfrm>
          <a:prstGeom prst="rect">
            <a:avLst/>
          </a:prstGeom>
        </p:spPr>
        <p:txBody>
          <a:bodyPr anchor="t" rtlCol="false" tIns="0" lIns="0" bIns="0" rIns="0">
            <a:spAutoFit/>
          </a:bodyPr>
          <a:lstStyle/>
          <a:p>
            <a:pPr algn="l">
              <a:lnSpc>
                <a:spcPts val="6275"/>
              </a:lnSpc>
            </a:pPr>
            <a:r>
              <a:rPr lang="en-US" sz="4482" b="true">
                <a:solidFill>
                  <a:srgbClr val="FFFFFF"/>
                </a:solidFill>
                <a:latin typeface="Glacial Indifference Bold"/>
                <a:ea typeface="Glacial Indifference Bold"/>
                <a:cs typeface="Glacial Indifference Bold"/>
                <a:sym typeface="Glacial Indifference Bold"/>
              </a:rPr>
              <a:t>What We Did</a:t>
            </a:r>
          </a:p>
          <a:p>
            <a:pPr algn="l">
              <a:lnSpc>
                <a:spcPts val="4881"/>
              </a:lnSpc>
            </a:pPr>
            <a:r>
              <a:rPr lang="en-US" sz="3486">
                <a:solidFill>
                  <a:srgbClr val="FFFFFF"/>
                </a:solidFill>
                <a:latin typeface="Glacial Indifference"/>
                <a:ea typeface="Glacial Indifference"/>
                <a:cs typeface="Glacial Indifference"/>
                <a:sym typeface="Glacial Indifference"/>
              </a:rPr>
              <a:t> We applied a structured and sequential preprocessing pipeline to mammogram images, including noise reduction, background suppression, artifact removal, and pectoral muscle elimination. The approach is guided by anatomical and radiological knowledge and follows the methodology proposed by Dr. Benshessin Nacer to ensure clinically meaningful image preparation.</a:t>
            </a:r>
          </a:p>
          <a:p>
            <a:pPr algn="l">
              <a:lnSpc>
                <a:spcPts val="6275"/>
              </a:lnSpc>
            </a:pPr>
            <a:r>
              <a:rPr lang="en-US" sz="4482" b="true">
                <a:solidFill>
                  <a:srgbClr val="FFFFFF"/>
                </a:solidFill>
                <a:latin typeface="Glacial Indifference Bold"/>
                <a:ea typeface="Glacial Indifference Bold"/>
                <a:cs typeface="Glacial Indifference Bold"/>
                <a:sym typeface="Glacial Indifference Bold"/>
              </a:rPr>
              <a:t>Main Idea</a:t>
            </a:r>
          </a:p>
          <a:p>
            <a:pPr algn="l">
              <a:lnSpc>
                <a:spcPts val="4881"/>
              </a:lnSpc>
            </a:pPr>
            <a:r>
              <a:rPr lang="en-US" sz="3486">
                <a:solidFill>
                  <a:srgbClr val="FFFFFF"/>
                </a:solidFill>
                <a:latin typeface="Glacial Indifference"/>
                <a:ea typeface="Glacial Indifference"/>
                <a:cs typeface="Glacial Indifference"/>
                <a:sym typeface="Glacial Indifference"/>
              </a:rPr>
              <a:t> The objective is to enhance the quality of mammographic data by isolating the breast region of interest (ROI) and suppressing irrelevant structures. This allows artificial intelligence models to focus exclusively on diagnostically significant breast tissue, thereby improving the reliability and accuracy of feature extraction and automated analysis.</a:t>
            </a:r>
          </a:p>
          <a:p>
            <a:pPr algn="l">
              <a:lnSpc>
                <a:spcPts val="4881"/>
              </a:lnSpc>
            </a:pPr>
          </a:p>
        </p:txBody>
      </p:sp>
    </p:spTree>
  </p:cSld>
  <p:clrMapOvr>
    <a:masterClrMapping/>
  </p:clrMapOvr>
  <p:transition spd="slow">
    <p:push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DAG9e8UXhKE</dc:identifier>
  <dcterms:modified xsi:type="dcterms:W3CDTF">2011-08-01T06:04:30Z</dcterms:modified>
  <cp:revision>1</cp:revision>
  <dc:title>Allali Mohammed Abdessettar</dc:title>
</cp:coreProperties>
</file>